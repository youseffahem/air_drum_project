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ad2f50d8694a55" /><Relationship Type="http://schemas.openxmlformats.org/officeDocument/2006/relationships/extended-properties" Target="/docProps/app.xml" Id="R2e7f0a82a92747b2" /><Relationship Type="http://schemas.openxmlformats.org/officeDocument/2006/relationships/officeDocument" Target="/ppt/presentation.xml" Id="R5e02c883ba4e42f2" /></Relationships>
</file>

<file path=ppt/presentation.xml><?xml version="1.0" encoding="utf-8"?>
<p:presentation xmlns:p="http://schemas.openxmlformats.org/presentationml/2006/main">
  <p:sldMasterIdLst>
    <p:sldMasterId xmlns:r="http://schemas.openxmlformats.org/officeDocument/2006/relationships" id="2147483648" r:id="R9cd8abe015ec4e1f"/>
  </p:sldMasterIdLst>
  <p:notesMasterIdLst>
    <p:notesMasterId xmlns:r="http://schemas.openxmlformats.org/officeDocument/2006/relationships" r:id="R9c4884e4796542cf"/>
  </p:notesMasterIdLst>
  <p:sldIdLst>
    <p:sldId xmlns:r="http://schemas.openxmlformats.org/officeDocument/2006/relationships" id="256" r:id="R5428ad1c8a9c4833"/>
    <p:sldId xmlns:r="http://schemas.openxmlformats.org/officeDocument/2006/relationships" id="257" r:id="Re5364510d67f4984"/>
    <p:sldId xmlns:r="http://schemas.openxmlformats.org/officeDocument/2006/relationships" id="258" r:id="R6648212a5112409a"/>
    <p:sldId xmlns:r="http://schemas.openxmlformats.org/officeDocument/2006/relationships" id="259" r:id="R9663e2316d614f79"/>
    <p:sldId xmlns:r="http://schemas.openxmlformats.org/officeDocument/2006/relationships" id="260" r:id="R38798a2b9ef544c8"/>
    <p:sldId xmlns:r="http://schemas.openxmlformats.org/officeDocument/2006/relationships" id="261" r:id="Rb40f59d1ac8844ed"/>
    <p:sldId xmlns:r="http://schemas.openxmlformats.org/officeDocument/2006/relationships" id="262" r:id="R68bf95502b604751"/>
    <p:sldId xmlns:r="http://schemas.openxmlformats.org/officeDocument/2006/relationships" id="263" r:id="Rda67fa5280ce485e"/>
    <p:sldId xmlns:r="http://schemas.openxmlformats.org/officeDocument/2006/relationships" id="264" r:id="R0086e9320ce64374"/>
    <p:sldId xmlns:r="http://schemas.openxmlformats.org/officeDocument/2006/relationships" id="265" r:id="R073e59dc38324d2c"/>
    <p:sldId xmlns:r="http://schemas.openxmlformats.org/officeDocument/2006/relationships" id="266" r:id="R8e92532b3d414696"/>
    <p:sldId xmlns:r="http://schemas.openxmlformats.org/officeDocument/2006/relationships" id="267" r:id="Rc5e0d9a465b541b2"/>
    <p:sldId xmlns:r="http://schemas.openxmlformats.org/officeDocument/2006/relationships" id="268" r:id="R4323eadd82344f7c"/>
    <p:sldId xmlns:r="http://schemas.openxmlformats.org/officeDocument/2006/relationships" id="269" r:id="R72af99e4b9244cb6"/>
    <p:sldId xmlns:r="http://schemas.openxmlformats.org/officeDocument/2006/relationships" id="270" r:id="Rf3cbc85e74f045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26b16ce9a243d0" /><Relationship Type="http://schemas.openxmlformats.org/officeDocument/2006/relationships/slideMaster" Target="/ppt/slideMasters/slideMaster1.xml" Id="R9cd8abe015ec4e1f" /><Relationship Type="http://schemas.openxmlformats.org/officeDocument/2006/relationships/notesMaster" Target="/ppt/notesMasters/notesMaster1.xml" Id="R9c4884e4796542cf" /><Relationship Type="http://schemas.openxmlformats.org/officeDocument/2006/relationships/presProps" Target="/ppt/presProps.xml" Id="Ra205179adcd94665" /><Relationship Type="http://schemas.openxmlformats.org/officeDocument/2006/relationships/tableStyles" Target="/ppt/tableStyles.xml" Id="R77a333bd63c845ca" /><Relationship Type="http://schemas.openxmlformats.org/officeDocument/2006/relationships/slide" Target="/ppt/slides/slide1.xml" Id="R5428ad1c8a9c4833" /><Relationship Type="http://schemas.openxmlformats.org/officeDocument/2006/relationships/slide" Target="/ppt/slides/slide2.xml" Id="Re5364510d67f4984" /><Relationship Type="http://schemas.openxmlformats.org/officeDocument/2006/relationships/slide" Target="/ppt/slides/slide3.xml" Id="R6648212a5112409a" /><Relationship Type="http://schemas.openxmlformats.org/officeDocument/2006/relationships/slide" Target="/ppt/slides/slide4.xml" Id="R9663e2316d614f79" /><Relationship Type="http://schemas.openxmlformats.org/officeDocument/2006/relationships/slide" Target="/ppt/slides/slide5.xml" Id="R38798a2b9ef544c8" /><Relationship Type="http://schemas.openxmlformats.org/officeDocument/2006/relationships/slide" Target="/ppt/slides/slide6.xml" Id="Rb40f59d1ac8844ed" /><Relationship Type="http://schemas.openxmlformats.org/officeDocument/2006/relationships/slide" Target="/ppt/slides/slide7.xml" Id="R68bf95502b604751" /><Relationship Type="http://schemas.openxmlformats.org/officeDocument/2006/relationships/slide" Target="/ppt/slides/slide8.xml" Id="Rda67fa5280ce485e" /><Relationship Type="http://schemas.openxmlformats.org/officeDocument/2006/relationships/slide" Target="/ppt/slides/slide9.xml" Id="R0086e9320ce64374" /><Relationship Type="http://schemas.openxmlformats.org/officeDocument/2006/relationships/slide" Target="/ppt/slides/slide10.xml" Id="R073e59dc38324d2c" /><Relationship Type="http://schemas.openxmlformats.org/officeDocument/2006/relationships/slide" Target="/ppt/slides/slide11.xml" Id="R8e92532b3d414696" /><Relationship Type="http://schemas.openxmlformats.org/officeDocument/2006/relationships/slide" Target="/ppt/slides/slide12.xml" Id="Rc5e0d9a465b541b2" /><Relationship Type="http://schemas.openxmlformats.org/officeDocument/2006/relationships/slide" Target="/ppt/slides/slide13.xml" Id="R4323eadd82344f7c" /><Relationship Type="http://schemas.openxmlformats.org/officeDocument/2006/relationships/slide" Target="/ppt/slides/slide14.xml" Id="R72af99e4b9244cb6" /><Relationship Type="http://schemas.openxmlformats.org/officeDocument/2006/relationships/slide" Target="/ppt/slides/slide15.xml" Id="Rf3cbc85e74f045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ddf95f842149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3402e0fd1f4f3c" /><Relationship Type="http://schemas.openxmlformats.org/officeDocument/2006/relationships/notesMaster" Target="/ppt/notesMasters/notesMaster1.xml" Id="Rc565524725f34e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414ffcacfd4ef2" /><Relationship Type="http://schemas.openxmlformats.org/officeDocument/2006/relationships/notesMaster" Target="/ppt/notesMasters/notesMaster1.xml" Id="R03e78ae252da47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51cbee091a4beb" /><Relationship Type="http://schemas.openxmlformats.org/officeDocument/2006/relationships/notesMaster" Target="/ppt/notesMasters/notesMaster1.xml" Id="R48b7984687044d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b03d244e8f4b69" /><Relationship Type="http://schemas.openxmlformats.org/officeDocument/2006/relationships/notesMaster" Target="/ppt/notesMasters/notesMaster1.xml" Id="R5a49592b7f8140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ac6c8f307c48f6" /><Relationship Type="http://schemas.openxmlformats.org/officeDocument/2006/relationships/notesMaster" Target="/ppt/notesMasters/notesMaster1.xml" Id="R7fa9aef28e9949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c75799086a4de6" /><Relationship Type="http://schemas.openxmlformats.org/officeDocument/2006/relationships/notesMaster" Target="/ppt/notesMasters/notesMaster1.xml" Id="Ra62f4de4643642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c930d2240e4a3d" /><Relationship Type="http://schemas.openxmlformats.org/officeDocument/2006/relationships/notesMaster" Target="/ppt/notesMasters/notesMaster1.xml" Id="R41210ef164ed4b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6a1aec3af747a1" /><Relationship Type="http://schemas.openxmlformats.org/officeDocument/2006/relationships/notesMaster" Target="/ppt/notesMasters/notesMaster1.xml" Id="Rd47eb45450524b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e1e7f5936f48e8" /><Relationship Type="http://schemas.openxmlformats.org/officeDocument/2006/relationships/notesMaster" Target="/ppt/notesMasters/notesMaster1.xml" Id="Rd9153a4d477343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5e148f1bd74d49" /><Relationship Type="http://schemas.openxmlformats.org/officeDocument/2006/relationships/notesMaster" Target="/ppt/notesMasters/notesMaster1.xml" Id="Rf7d5b5ed2deb40e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4cd50529d54877" /><Relationship Type="http://schemas.openxmlformats.org/officeDocument/2006/relationships/notesMaster" Target="/ppt/notesMasters/notesMaster1.xml" Id="R8e7b577a7bf94e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669582321e4cc2" /><Relationship Type="http://schemas.openxmlformats.org/officeDocument/2006/relationships/notesMaster" Target="/ppt/notesMasters/notesMaster1.xml" Id="R2947d64099d84a6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18735a3c6a64dda" /><Relationship Type="http://schemas.openxmlformats.org/officeDocument/2006/relationships/notesMaster" Target="/ppt/notesMasters/notesMaster1.xml" Id="R5baf1b1cde8c49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ef5a9a709d54c3f" /><Relationship Type="http://schemas.openxmlformats.org/officeDocument/2006/relationships/notesMaster" Target="/ppt/notesMasters/notesMaster1.xml" Id="R0bcf68d6d7c7425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e5a7c124d314783" /><Relationship Type="http://schemas.openxmlformats.org/officeDocument/2006/relationships/notesMaster" Target="/ppt/notesMasters/notesMaster1.xml" Id="R13cc1f37e8ac46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Team leader: opening, results and closing</a:t>
            </a:r>
          </a:p>
          <a:p xmlns:a="http://schemas.openxmlformats.org/drawingml/2006/main">
            <a:r>
              <a:t/>
            </a:r>
          </a:p>
          <a:p xmlns:a="http://schemas.openxmlformats.org/drawingml/2006/main">
            <a:r>
              <a:t>Assign this duty to one of the six role presenters, preferably the core-processing presenter. No additional team member is implied. Role scripts describe team responsibilities, not personal authorship. Target: opening 90 seconds; results/closing 70 seconds, plus transitions. Rehearse with a timer.</a:t>
            </a:r>
          </a:p>
          <a:p xmlns:a="http://schemas.openxmlformats.org/drawingml/2006/main">
            <a:r>
              <a:t/>
            </a:r>
          </a:p>
          <a:p xmlns:a="http://schemas.openxmlformats.org/drawingml/2006/main">
            <a:r>
              <a:t>## Opening: slides 1–5</a:t>
            </a:r>
          </a:p>
          <a:p xmlns:a="http://schemas.openxmlformats.org/drawingml/2006/main">
            <a:r>
              <a:t/>
            </a:r>
          </a:p>
          <a:p xmlns:a="http://schemas.openxmlformats.org/drawingml/2006/main">
            <a:r>
              <a:t>“Good morning. Our project is SpaceDrums, a camera-based AI virtual drumming system. We are presenting the current prototype and the evidence behind it.</a:t>
            </a:r>
          </a:p>
          <a:p xmlns:a="http://schemas.openxmlformats.org/drawingml/2006/main">
            <a:r>
              <a:t/>
            </a:r>
          </a:p>
          <a:p xmlns:a="http://schemas.openxmlformats.org/drawingml/2006/main">
            <a:r>
              <a:t>A physical drum kit needs equipment and space. Our goal is to let one person explore drumming using a camera, virtual drum zones and local sounds. We also want to investigate whether motion prediction can reduce delay. That research question is still open.</a:t>
            </a:r>
          </a:p>
          <a:p xmlns:a="http://schemas.openxmlformats.org/drawingml/2006/main">
            <a:r>
              <a:t/>
            </a:r>
          </a:p>
          <a:p xmlns:a="http://schemas.openxmlformats.org/drawingml/2006/main">
            <a:r>
              <a:t>The prototype already captures camera frames, estimates hand or stick-tip positions, identifies candidate strikes and schedules drum samples. It also provides a desktop kit display and diagnostic logs. Reliable play across lighting conditions and complete physical latency measurement still need work.</a:t>
            </a:r>
          </a:p>
          <a:p xmlns:a="http://schemas.openxmlformats.org/drawingml/2006/main">
            <a:r>
              <a:t/>
            </a:r>
          </a:p>
          <a:p xmlns:a="http://schemas.openxmlformats.org/drawingml/2006/main">
            <a:r>
              <a:t>The architecture slide shows the actual path through the code. Camera frames feed perception. Per-hand tracking and drum geometry produce strike candidates. Commit rules decide which events can reach audio. The interface displays those results.</a:t>
            </a:r>
          </a:p>
          <a:p xmlns:a="http://schemas.openxmlformats.org/drawingml/2006/main">
            <a:r>
              <a:t/>
            </a:r>
          </a:p>
          <a:p xmlns:a="http://schemas.openxmlformats.org/drawingml/2006/main">
            <a:r>
              <a:t>We organize the project into six responsibilities: computer vision, strike detection, frontend, core processing, mobile planning and audio. Mobile implementation and approved scope remain unresolved.</a:t>
            </a:r>
          </a:p>
          <a:p xmlns:a="http://schemas.openxmlformats.org/drawingml/2006/main">
            <a:r>
              <a:t/>
            </a:r>
          </a:p>
          <a:p xmlns:a="http://schemas.openxmlformats.org/drawingml/2006/main">
            <a:r>
              <a:t>Python and OpenCV connect the local system. MediaPipe supports hand detection. NumPy supports geometry, and sounddevice supports playback. PyTorch and LightGBM belong to the research tools. Our current product demo uses measured Arm A, not a validated learned prediction model.</a:t>
            </a:r>
          </a:p>
          <a:p xmlns:a="http://schemas.openxmlformats.org/drawingml/2006/main">
            <a:r>
              <a:t/>
            </a:r>
          </a:p>
          <a:p xmlns:a="http://schemas.openxmlformats.org/drawingml/2006/main">
            <a:r>
              <a:t>Our computer-vision presenter will now explain the input modes.”</a:t>
            </a:r>
          </a:p>
          <a:p xmlns:a="http://schemas.openxmlformats.org/drawingml/2006/main">
            <a:r>
              <a:t/>
            </a:r>
          </a:p>
          <a:p xmlns:a="http://schemas.openxmlformats.org/drawingml/2006/main">
            <a:r>
              <a:t>Show `assets/architecture.png` on slide 4. The same diagram is editable in the deck.</a:t>
            </a:r>
          </a:p>
          <a:p xmlns:a="http://schemas.openxmlformats.org/drawingml/2006/main">
            <a:r>
              <a:t/>
            </a:r>
          </a:p>
          <a:p xmlns:a="http://schemas.openxmlformats.org/drawingml/2006/main">
            <a:r>
              <a:t>## Results and closing: slides 12–15</a:t>
            </a:r>
          </a:p>
          <a:p xmlns:a="http://schemas.openxmlformats.org/drawingml/2006/main">
            <a:r>
              <a:t/>
            </a:r>
          </a:p>
          <a:p xmlns:a="http://schemas.openxmlformats.org/drawingml/2006/main">
            <a:r>
              <a:t>“Our results separate software tests from real recordings. The suite passed 1,997 tests, failed one and skipped one. The failed synthetic kit sequence produced tom2 where snare was expected; it failed again on its own. Seven import contracts passed, while lint found one long line. These checks do not measure real-world tracking accuracy.</a:t>
            </a:r>
          </a:p>
          <a:p xmlns:a="http://schemas.openxmlformats.org/drawingml/2006/main">
            <a:r>
              <a:t/>
            </a:r>
          </a:p>
          <a:p xmlns:a="http://schemas.openxmlformats.org/drawingml/2006/main">
            <a:r>
              <a:t>On one 572-frame recording, default red-tip tracking produced measured points in only 6.8 percent of left-slot frames and 1.6 percent of right-slot frames. Dark mode raised coverage, but this recording has no accuracy labels. We cannot call those percentages correct detections.</a:t>
            </a:r>
          </a:p>
          <a:p xmlns:a="http://schemas.openxmlformats.org/drawingml/2006/main">
            <a:r>
              <a:t/>
            </a:r>
          </a:p>
          <a:p xmlns:a="http://schemas.openxmlformats.org/drawingml/2006/main">
            <a:r>
              <a:t>The main challenges are lighting, identity during occlusion, reliable calibration, intended-zone selection and physical audio delay. Our next step is independent labeling, followed by controlled tracking and strike tests. We will then validate calibration and measure action-to-sound latency with an external reference. Mobile scope needs an explicit decision.</a:t>
            </a:r>
          </a:p>
          <a:p xmlns:a="http://schemas.openxmlformats.org/drawingml/2006/main">
            <a:r>
              <a:t/>
            </a:r>
          </a:p>
          <a:p xmlns:a="http://schemas.openxmlformats.org/drawingml/2006/main">
            <a:r>
              <a:t>SpaceDrums demonstrates a connected camera-to-sound software prototype. Its strongest next step is reliable, measurable interaction. Thank you. We welcome your questions.”</a:t>
            </a:r>
          </a:p>
          <a:p xmlns:a="http://schemas.openxmlformats.org/drawingml/2006/main">
            <a:r>
              <a:t/>
            </a:r>
          </a:p>
          <a:p xmlns:a="http://schemas.openxmlformats.org/drawingml/2006/main">
            <a:r>
              <a:t>## Likely questions</a:t>
            </a:r>
          </a:p>
          <a:p xmlns:a="http://schemas.openxmlformats.org/drawingml/2006/main">
            <a:r>
              <a:t/>
            </a:r>
          </a:p>
          <a:p xmlns:a="http://schemas.openxmlformats.org/drawingml/2006/main">
            <a:r>
              <a:t>- **Is the project finished?** The integrated prototype and research machinery exist. Independent playing validation, participant results and release acceptance remain pending.</a:t>
            </a:r>
          </a:p>
          <a:p xmlns:a="http://schemas.openxmlformats.org/drawingml/2006/main">
            <a:r>
              <a:t>- **Did each person write the code for their role?** This presentation maps responsibilities. Individual authorship has not been verified.</a:t>
            </a:r>
          </a:p>
          <a:p xmlns:a="http://schemas.openxmlformats.org/drawingml/2006/main">
            <a:r>
              <a:t>- **Why are there no names or institution on the title?** They were not provided or verified. Add the agreed details before submission.</a:t>
            </a:r>
          </a:p>
          <a:p xmlns:a="http://schemas.openxmlformats.org/drawingml/2006/main">
            <a:r>
              <a:t>- **Why show failures?** They identify the actual work remaining and prevent synthetic or software evidence from becoming unsupported user-performance claims.</a:t>
            </a:r>
          </a:p>
          <a:p xmlns:a="http://schemas.openxmlformats.org/drawingml/2006/main">
            <a:r>
              <a:t/>
            </a:r>
          </a:p>
          <a:p xmlns:a="http://schemas.openxmlformats.org/drawingml/2006/main">
            <a:r>
              <a:t>Sources: project-discovery.md; docs/presentation/project-audit.md. Names, institution and supervisor unverified and omitted.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Leader opening. State motivation without market statistics. Source: project-discovery.md; docs/requirements/rtm.md.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app/play.py:run; app/pipeline.py:DecisionPipeline; docs/reports/phase-18-final-evaluation.md. Current product uses Arm A only. Benefits and research outcomes are goals.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capture/source.py:LiveFrameSource; app/main.py:Perception; app/red_tip_perception.py:RedTipPerception; tracking/tracker.py:CausalTracker; geometry/strokes.py:MeasuredStrokeGeometry; commit/policy.py:PerHandCommitPolicy; app/audio_out.py:AudioOutput. Capture, vision, tracking, geometry and commit run under play.run / DecisionPipeline. UI/logs observe frames and results. Research alternatives are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pyproject.toml; requirements.in; evidence/environment.json; actual imports under src/spacedrums. MediaPipe is used but absent from pyproject dependency list. No mobile framework or web backend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AI and Computer Vision</a:t>
            </a:r>
          </a:p>
          <a:p xmlns:a="http://schemas.openxmlformats.org/drawingml/2006/main">
            <a:r>
              <a:t/>
            </a:r>
          </a:p>
          <a:p xmlns:a="http://schemas.openxmlformats.org/drawingml/2006/main">
            <a:r>
              <a:t>Slide 6. Target: 80–90 seconds. Purpose: explain where accepted position measurements come from. Show `assets/hand-diagnostics-window.jpg`; point to the measured fingertip and the missing second tip. The image is a current application screenshot using recorded stick footage, not a new bare-hand trial.</a:t>
            </a:r>
          </a:p>
          <a:p xmlns:a="http://schemas.openxmlformats.org/drawingml/2006/main">
            <a:r>
              <a:t/>
            </a:r>
          </a:p>
          <a:p xmlns:a="http://schemas.openxmlformats.org/drawingml/2006/main">
            <a:r>
              <a:t>## Spoken script</a:t>
            </a:r>
          </a:p>
          <a:p xmlns:a="http://schemas.openxmlformats.org/drawingml/2006/main">
            <a:r>
              <a:t/>
            </a:r>
          </a:p>
          <a:p xmlns:a="http://schemas.openxmlformats.org/drawingml/2006/main">
            <a:r>
              <a:t>“My role is to explain the computer-vision part of the system. It must give the rest of the pipeline a position supported by the current frame.</a:t>
            </a:r>
          </a:p>
          <a:p xmlns:a="http://schemas.openxmlformats.org/drawingml/2006/main">
            <a:r>
              <a:t/>
            </a:r>
          </a:p>
          <a:p xmlns:a="http://schemas.openxmlformats.org/drawingml/2006/main">
            <a:r>
              <a:t>SpaceDrums has different input paths. HAND mode uses MediaPipe hand landmarks. The fingertip estimator takes landmark eight as the index fingertip and landmark five as its origin. The diagnostic screenshot shows one accepted point and one missing tip. It was captured from recorded footage with audio disabled.</a:t>
            </a:r>
          </a:p>
          <a:p xmlns:a="http://schemas.openxmlformats.org/drawingml/2006/main">
            <a:r>
              <a:t/>
            </a:r>
          </a:p>
          <a:p xmlns:a="http://schemas.openxmlformats.org/drawingml/2006/main">
            <a:r>
              <a:t>Visible-stick mode instead searches for image support along a hand-guided stick axis. Red-tip STICK mode uses color segmentation and temporal association for painted caps. It does not run the hand model by default. Painted tips are explicitly a marker condition.</a:t>
            </a:r>
          </a:p>
          <a:p xmlns:a="http://schemas.openxmlformats.org/drawingml/2006/main">
            <a:r>
              <a:t/>
            </a:r>
          </a:p>
          <a:p xmlns:a="http://schemas.openxmlformats.org/drawingml/2006/main">
            <a:r>
              <a:t>The red-tip tracker can report observed, weak, dark, ambiguous or missing evidence. Predicted positions help association but do not become measured strike points. The confidence values are configured evidence classes, not accuracy percentages.</a:t>
            </a:r>
          </a:p>
          <a:p xmlns:a="http://schemas.openxmlformats.org/drawingml/2006/main">
            <a:r>
              <a:t/>
            </a:r>
          </a:p>
          <a:p xmlns:a="http://schemas.openxmlformats.org/drawingml/2006/main">
            <a:r>
              <a:t>The main problem is reliable detection at playing distance. Dim paint, motion blur and objects with similar colors cause losses or wrong associations. Our next work is to label both real tips on separate evaluation recordings and measure errors and identity swaps.</a:t>
            </a:r>
          </a:p>
          <a:p xmlns:a="http://schemas.openxmlformats.org/drawingml/2006/main">
            <a:r>
              <a:t/>
            </a:r>
          </a:p>
          <a:p xmlns:a="http://schemas.openxmlformats.org/drawingml/2006/main">
            <a:r>
              <a:t>The strike-detection presenter will explain how accepted points become drum events.”</a:t>
            </a:r>
          </a:p>
          <a:p xmlns:a="http://schemas.openxmlformats.org/drawingml/2006/main">
            <a:r>
              <a:t/>
            </a:r>
          </a:p>
          <a:p xmlns:a="http://schemas.openxmlformats.org/drawingml/2006/main">
            <a:r>
              <a:t>## Questions and evidence</a:t>
            </a:r>
          </a:p>
          <a:p xmlns:a="http://schemas.openxmlformats.org/drawingml/2006/main">
            <a:r>
              <a:t/>
            </a:r>
          </a:p>
          <a:p xmlns:a="http://schemas.openxmlformats.org/drawingml/2006/main">
            <a:r>
              <a:t>- **Is red-tip tracking AI?** It is conventional computer vision with color segmentation and temporal association. HAND uses a pretrained MediaPipe model; temporal neural predictors are separate research code.</a:t>
            </a:r>
          </a:p>
          <a:p xmlns:a="http://schemas.openxmlformats.org/drawingml/2006/main">
            <a:r>
              <a:t>- **Why not keep predicting through a loss?** The current product requires measured endpoint evidence for strikes, to avoid inventing hits.</a:t>
            </a:r>
          </a:p>
          <a:p xmlns:a="http://schemas.openxmlformats.org/drawingml/2006/main">
            <a:r>
              <a:t>- **Does 0.9 confidence mean 90% accuracy?** No. It is a configured evidence class.</a:t>
            </a:r>
          </a:p>
          <a:p xmlns:a="http://schemas.openxmlformats.org/drawingml/2006/main">
            <a:r>
              <a:t>- **What proves the implementation?** `app/red_tip_perception.py:RedTipPerception`, `stick/red_tip_estimator.py:_emit`, `stick/visible.py:FingertipEndpointEstimator.estimate`, and the replay logs.</a:t>
            </a:r>
          </a:p>
          <a:p xmlns:a="http://schemas.openxmlformats.org/drawingml/2006/main">
            <a:r>
              <a:t/>
            </a:r>
          </a:p>
          <a:p xmlns:a="http://schemas.openxmlformats.org/drawingml/2006/main">
            <a:r>
              <a:t>Next-step dependency: core must preserve frame identity and timestamps; strike analysis must connect each missed event to its measurement history. Acceptance needs independently labeled positions and predeclared metrics.</a:t>
            </a:r>
          </a:p>
          <a:p xmlns:a="http://schemas.openxmlformats.org/drawingml/2006/main">
            <a:r>
              <a:t/>
            </a:r>
          </a:p>
          <a:p xmlns:a="http://schemas.openxmlformats.org/drawingml/2006/main">
            <a:r>
              <a:t>Source paths: src/spacedrums/app/main.py; src/spacedrums/stick/visible.py; src/spacedrums/app/red_tip_perception.py; src/spacedrums/stick/red_tip_estimator.py. Screenshot provenance: assets/README.md.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Strike Detection and Motion Analysis</a:t>
            </a:r>
          </a:p>
          <a:p xmlns:a="http://schemas.openxmlformats.org/drawingml/2006/main">
            <a:r>
              <a:t/>
            </a:r>
          </a:p>
          <a:p xmlns:a="http://schemas.openxmlformats.org/drawingml/2006/main">
            <a:r>
              <a:t>Slide 7. Target: 80–90 seconds. Purpose: explain movement, zone selection and duplicate control. Show `assets/strike-pipeline.png`, also editable on the slide.</a:t>
            </a:r>
          </a:p>
          <a:p xmlns:a="http://schemas.openxmlformats.org/drawingml/2006/main">
            <a:r>
              <a:t/>
            </a:r>
          </a:p>
          <a:p xmlns:a="http://schemas.openxmlformats.org/drawingml/2006/main">
            <a:r>
              <a:t>## Spoken script</a:t>
            </a:r>
          </a:p>
          <a:p xmlns:a="http://schemas.openxmlformats.org/drawingml/2006/main">
            <a:r>
              <a:t/>
            </a:r>
          </a:p>
          <a:p xmlns:a="http://schemas.openxmlformats.org/drawingml/2006/main">
            <a:r>
              <a:t>“My role is to explain when motion should produce one drum event. A point being inside a pad is not enough by itself.</a:t>
            </a:r>
          </a:p>
          <a:p xmlns:a="http://schemas.openxmlformats.org/drawingml/2006/main">
            <a:r>
              <a:t/>
            </a:r>
          </a:p>
          <a:p xmlns:a="http://schemas.openxmlformats.org/drawingml/2006/main">
            <a:r>
              <a:t>The product pipeline uses MeasuredStrokeGeometry. It compares recent accepted positions and checks downward speed, direction and minimum travel. It then checks whether the movement crosses a drum's top edge. If several edges are crossed during one movement, the earliest eligible crossing wins.</a:t>
            </a:r>
          </a:p>
          <a:p xmlns:a="http://schemas.openxmlformats.org/drawingml/2006/main">
            <a:r>
              <a:t/>
            </a:r>
          </a:p>
          <a:p xmlns:a="http://schemas.openxmlformats.org/drawingml/2006/main">
            <a:r>
              <a:t>After a candidate exists, the commit policy checks tracking status, dropped frames, the current strike episode and short refractory timers. Rebound allows the next stroke. This helps prevent repeated sounds while a tip stays inside a pad.</a:t>
            </a:r>
          </a:p>
          <a:p xmlns:a="http://schemas.openxmlformats.org/drawingml/2006/main">
            <a:r>
              <a:t/>
            </a:r>
          </a:p>
          <a:p xmlns:a="http://schemas.openxmlformats.org/drawingml/2006/main">
            <a:r>
              <a:t>There is an important demo setting. The fixed-guide configuration enables thirty-three milliseconds of edge look-ahead after sustained downward motion. A stroke stopping just above an edge may therefore trigger. Normal product geometry defaults to an observed crossing.</a:t>
            </a:r>
          </a:p>
          <a:p xmlns:a="http://schemas.openxmlformats.org/drawingml/2006/main">
            <a:r>
              <a:t/>
            </a:r>
          </a:p>
          <a:p xmlns:a="http://schemas.openxmlformats.org/drawingml/2006/main">
            <a:r>
              <a:t>Target selection still needs independent validation. A movement through an upper pad before reaching a lower pad can select the upper one. Missing tips can also prevent a valid strike.</a:t>
            </a:r>
          </a:p>
          <a:p xmlns:a="http://schemas.openxmlformats.org/drawingml/2006/main">
            <a:r>
              <a:t/>
            </a:r>
          </a:p>
          <a:p xmlns:a="http://schemas.openxmlformats.org/drawingml/2006/main">
            <a:r>
              <a:t>Our next work is to compare intended, time-labeled strokes with commits, including rolls, wrong-zone events and deliberate non-strike movement. We need trustworthy points from computer vision and stable timing from the core.</a:t>
            </a:r>
          </a:p>
          <a:p xmlns:a="http://schemas.openxmlformats.org/drawingml/2006/main">
            <a:r>
              <a:t/>
            </a:r>
          </a:p>
          <a:p xmlns:a="http://schemas.openxmlformats.org/drawingml/2006/main">
            <a:r>
              <a:t>The frontend presenter will show how these events appear on screen.”</a:t>
            </a:r>
          </a:p>
          <a:p xmlns:a="http://schemas.openxmlformats.org/drawingml/2006/main">
            <a:r>
              <a:t/>
            </a:r>
          </a:p>
          <a:p xmlns:a="http://schemas.openxmlformats.org/drawingml/2006/main">
            <a:r>
              <a:t>## Likely questions</a:t>
            </a:r>
          </a:p>
          <a:p xmlns:a="http://schemas.openxmlformats.org/drawingml/2006/main">
            <a:r>
              <a:t/>
            </a:r>
          </a:p>
          <a:p xmlns:a="http://schemas.openxmlformats.org/drawingml/2006/main">
            <a:r>
              <a:t>- **Do you use force?** No. Downward motion supplies a kinematic intensity proxy for gain.</a:t>
            </a:r>
          </a:p>
          <a:p xmlns:a="http://schemas.openxmlformats.org/drawingml/2006/main">
            <a:r>
              <a:t>- **Can two hands strike together?** The pipeline keeps separate per-hand state and event IDs, and the mixer supports overlapping voices. Real simultaneous-hit accuracy still needs testing.</a:t>
            </a:r>
          </a:p>
          <a:p xmlns:a="http://schemas.openxmlformats.org/drawingml/2006/main">
            <a:r>
              <a:t>- **What failed in the fresh suite?** The synthetic full-kit ordering test produced tom2 where snare was expected. It failed again alone; we have not diagnosed or fixed the cause during this audit.</a:t>
            </a:r>
          </a:p>
          <a:p xmlns:a="http://schemas.openxmlformats.org/drawingml/2006/main">
            <a:r>
              <a:t>- **What is the measured wrong-zone rate?** No accepted independent live rate exists yet.</a:t>
            </a:r>
          </a:p>
          <a:p xmlns:a="http://schemas.openxmlformats.org/drawingml/2006/main">
            <a:r>
              <a:t>- **Why can a lower drum be missed?** The first eligible edge can consume an uninterrupted downstroke; lower pads should be approached from the row gap.</a:t>
            </a:r>
          </a:p>
          <a:p xmlns:a="http://schemas.openxmlformats.org/drawingml/2006/main">
            <a:r>
              <a:t/>
            </a:r>
          </a:p>
          <a:p xmlns:a="http://schemas.openxmlformats.org/drawingml/2006/main">
            <a:r>
              <a:t>Evidence: `geometry/strokes.py:MeasuredStrokeGeometry.observe`, `commit/policy.py:PerHandCommitPolicy.step`, `configs/product.candidate.yaml`, `configs/demo.professor.candidate.yaml`. Acceptance: publish a confusion matrix and missed/false/duplicate event counts against independent truth; do not substitute synthetic pass rates.</a:t>
            </a:r>
          </a:p>
          <a:p xmlns:a="http://schemas.openxmlformats.org/drawingml/2006/main">
            <a:r>
              <a:t/>
            </a:r>
          </a:p>
          <a:p xmlns:a="http://schemas.openxmlformats.org/drawingml/2006/main">
            <a:r>
              <a:t>Sources: geometry/strokes.py:MeasuredStrokeGeometry.observe; commit/policy.py:PerHandCommitPolicy.step; configs/product.candidate.yaml; configs/demo.professor.candidate.yaml.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Frontend and User Interface</a:t>
            </a:r>
          </a:p>
          <a:p xmlns:a="http://schemas.openxmlformats.org/drawingml/2006/main">
            <a:r>
              <a:t/>
            </a:r>
          </a:p>
          <a:p xmlns:a="http://schemas.openxmlformats.org/drawingml/2006/main">
            <a:r>
              <a:t>Slide 8. Target: 75–85 seconds. Purpose: explain the actual desktop interface. Show `assets/hand-replay-window.jpg`, a genuine screenshot of current full-kit replay.</a:t>
            </a:r>
          </a:p>
          <a:p xmlns:a="http://schemas.openxmlformats.org/drawingml/2006/main">
            <a:r>
              <a:t/>
            </a:r>
          </a:p>
          <a:p xmlns:a="http://schemas.openxmlformats.org/drawingml/2006/main">
            <a:r>
              <a:t>## Spoken script</a:t>
            </a:r>
          </a:p>
          <a:p xmlns:a="http://schemas.openxmlformats.org/drawingml/2006/main">
            <a:r>
              <a:t/>
            </a:r>
          </a:p>
          <a:p xmlns:a="http://schemas.openxmlformats.org/drawingml/2006/main">
            <a:r>
              <a:t>“My role is to explain the user interface. SpaceDrums currently uses an OpenCV desktop window.</a:t>
            </a:r>
          </a:p>
          <a:p xmlns:a="http://schemas.openxmlformats.org/drawingml/2006/main">
            <a:r>
              <a:t/>
            </a:r>
          </a:p>
          <a:p xmlns:a="http://schemas.openxmlformats.org/drawingml/2006/main">
            <a:r>
              <a:t>This screenshot shows the real seven-piece developer kit. It contains crash, ride, two toms, hi-hat, snare and floor tom. There is no kick-tracking feature. The camera preview is mirrored for the player, while the geometry keeps a consistent coordinate system.</a:t>
            </a:r>
          </a:p>
          <a:p xmlns:a="http://schemas.openxmlformats.org/drawingml/2006/main">
            <a:r>
              <a:t/>
            </a:r>
          </a:p>
          <a:p xmlns:a="http://schemas.openxmlformats.org/drawingml/2006/main">
            <a:r>
              <a:t>The full-kit view shows the pads, accepted tip trails and committed-hit feedback. Pressing D opens diagnostics with tip states and stroke reasons. The layout-preview tool can move or scale pads and save a layout file.</a:t>
            </a:r>
          </a:p>
          <a:p xmlns:a="http://schemas.openxmlformats.org/drawingml/2006/main">
            <a:r>
              <a:t/>
            </a:r>
          </a:p>
          <a:p xmlns:a="http://schemas.openxmlformats.org/drawingml/2006/main">
            <a:r>
              <a:t>The normal product has a separate standing and reach-calibration flow. The developer demo uses a fixed guide instead. We must not describe that guide as a successful calibration.</a:t>
            </a:r>
          </a:p>
          <a:p xmlns:a="http://schemas.openxmlformats.org/drawingml/2006/main">
            <a:r>
              <a:t/>
            </a:r>
          </a:p>
          <a:p xmlns:a="http://schemas.openxmlformats.org/drawingml/2006/main">
            <a:r>
              <a:t>The screenshot was captured while the application processed recorded frames. Audio was disabled. Its counters are software events, and its frame-rate display is not a new live benchmark.</a:t>
            </a:r>
          </a:p>
          <a:p xmlns:a="http://schemas.openxmlformats.org/drawingml/2006/main">
            <a:r>
              <a:t/>
            </a:r>
          </a:p>
          <a:p xmlns:a="http://schemas.openxmlformats.org/drawingml/2006/main">
            <a:r>
              <a:t>Display brightness adjustment is implemented separately from tracking input. This improves visibility without proving better detection. Our next work is clearer mode and failure messages, followed by a usability rehearsal with the team.</a:t>
            </a:r>
          </a:p>
          <a:p xmlns:a="http://schemas.openxmlformats.org/drawingml/2006/main">
            <a:r>
              <a:t/>
            </a:r>
          </a:p>
          <a:p xmlns:a="http://schemas.openxmlformats.org/drawingml/2006/main">
            <a:r>
              <a:t>The core-processing presenter will explain how the components exchange information.”</a:t>
            </a:r>
          </a:p>
          <a:p xmlns:a="http://schemas.openxmlformats.org/drawingml/2006/main">
            <a:r>
              <a:t/>
            </a:r>
          </a:p>
          <a:p xmlns:a="http://schemas.openxmlformats.org/drawingml/2006/main">
            <a:r>
              <a:t>## Likely questions</a:t>
            </a:r>
          </a:p>
          <a:p xmlns:a="http://schemas.openxmlformats.org/drawingml/2006/main">
            <a:r>
              <a:t/>
            </a:r>
          </a:p>
          <a:p xmlns:a="http://schemas.openxmlformats.org/drawingml/2006/main">
            <a:r>
              <a:t>- **Is this a website or mobile interface?** No. The current interface is Python/OpenCV on the desktop.</a:t>
            </a:r>
          </a:p>
          <a:p xmlns:a="http://schemas.openxmlformats.org/drawingml/2006/main">
            <a:r>
              <a:t>- **Does the UI create hits for the animation?** It displays pipeline results; this demo has no keyboard or timer hit generator.</a:t>
            </a:r>
          </a:p>
          <a:p xmlns:a="http://schemas.openxmlformats.org/drawingml/2006/main">
            <a:r>
              <a:t>- **Does brighter preview improve tracking?** Default preview tone affects display only. `--tracking-tone auto` is a separate opt-in hand path.</a:t>
            </a:r>
          </a:p>
          <a:p xmlns:a="http://schemas.openxmlformats.org/drawingml/2006/main">
            <a:r>
              <a:t>- **Is the seven-piece kit calibrated?** The demo uses configured fixed geometry. Reachability and independent accuracy remain pending.</a:t>
            </a:r>
          </a:p>
          <a:p xmlns:a="http://schemas.openxmlformats.org/drawingml/2006/main">
            <a:r>
              <a:t/>
            </a:r>
          </a:p>
          <a:p xmlns:a="http://schemas.openxmlformats.org/drawingml/2006/main">
            <a:r>
              <a:t>Evidence: `ui/stage.py:StageRenderer`, `ui/developer_demo.py:DemoOverlay`, `ui/layout_preview.py:LayoutPreview`, `ui/preview_tone.py:PreviewTone`. Dependencies: expose stable CV, strike, audio-health and calibration states. Acceptance: users can identify mode, readiness and failure without mistaking stream status for correctness.</a:t>
            </a:r>
          </a:p>
          <a:p xmlns:a="http://schemas.openxmlformats.org/drawingml/2006/main">
            <a:r>
              <a:t/>
            </a:r>
          </a:p>
          <a:p xmlns:a="http://schemas.openxmlformats.org/drawingml/2006/main">
            <a:r>
              <a:t>Sources: ui/stage.py:StageRenderer; ui/layout_preview.py:LayoutPreview; ui/developer_demo.py:DemoOverlay; app/play.py:main. Image is the actual HAND replay window.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Backend and Core Processing</a:t>
            </a:r>
          </a:p>
          <a:p xmlns:a="http://schemas.openxmlformats.org/drawingml/2006/main">
            <a:r>
              <a:t/>
            </a:r>
          </a:p>
          <a:p xmlns:a="http://schemas.openxmlformats.org/drawingml/2006/main">
            <a:r>
              <a:t>Slide 9. Target: 80–90 seconds. Purpose: explain local orchestration and contracts. Show `assets/core-contracts.png`, also editable in the slide.</a:t>
            </a:r>
          </a:p>
          <a:p xmlns:a="http://schemas.openxmlformats.org/drawingml/2006/main">
            <a:r>
              <a:t/>
            </a:r>
          </a:p>
          <a:p xmlns:a="http://schemas.openxmlformats.org/drawingml/2006/main">
            <a:r>
              <a:t>## Spoken script</a:t>
            </a:r>
          </a:p>
          <a:p xmlns:a="http://schemas.openxmlformats.org/drawingml/2006/main">
            <a:r>
              <a:t/>
            </a:r>
          </a:p>
          <a:p xmlns:a="http://schemas.openxmlformats.org/drawingml/2006/main">
            <a:r>
              <a:t>“My role is to explain the core processing. Here, backend means the local Python pipeline. There is no cloud server or mobile API in the current project.</a:t>
            </a:r>
          </a:p>
          <a:p xmlns:a="http://schemas.openxmlformats.org/drawingml/2006/main">
            <a:r>
              <a:t/>
            </a:r>
          </a:p>
          <a:p xmlns:a="http://schemas.openxmlformats.org/drawingml/2006/main">
            <a:r>
              <a:t>The play runner loads and validates configuration, starts capture and perception, and owns shutdown and reporting. The capture source uses a bounded queue so slow processing does not create an unlimited backlog. It records dropped frames and timing.</a:t>
            </a:r>
          </a:p>
          <a:p xmlns:a="http://schemas.openxmlformats.org/drawingml/2006/main">
            <a:r>
              <a:t/>
            </a:r>
          </a:p>
          <a:p xmlns:a="http://schemas.openxmlformats.org/drawingml/2006/main">
            <a:r>
              <a:t>Components exchange typed records. A frame has an identity and timestamps. Perception produces hand and stick observations. Tracking produces a TrackState. Geometry produces a StrikeCandidate, and the commit policy may turn it into a CommittedStrike. Audio then records an AudioEvent.</a:t>
            </a:r>
          </a:p>
          <a:p xmlns:a="http://schemas.openxmlformats.org/drawingml/2006/main">
            <a:r>
              <a:t/>
            </a:r>
          </a:p>
          <a:p xmlns:a="http://schemas.openxmlformats.org/drawingml/2006/main">
            <a:r>
              <a:t>The pipeline checks that observations belong to the current frame and hand. Each hand keeps separate state. Tracking resets also reset its strike history.</a:t>
            </a:r>
          </a:p>
          <a:p xmlns:a="http://schemas.openxmlformats.org/drawingml/2006/main">
            <a:r>
              <a:t/>
            </a:r>
          </a:p>
          <a:p xmlns:a="http://schemas.openxmlformats.org/drawingml/2006/main">
            <a:r>
              <a:t>Replay lets us process saved frames through the application without opening a camera. That is how we collected the presentation screenshots. The current playable product uses measured Arm A only. The broader research runner has rule and model alternatives, with separate validation needs.</a:t>
            </a:r>
          </a:p>
          <a:p xmlns:a="http://schemas.openxmlformats.org/drawingml/2006/main">
            <a:r>
              <a:t/>
            </a:r>
          </a:p>
          <a:p xmlns:a="http://schemas.openxmlformats.org/drawingml/2006/main">
            <a:r>
              <a:t>Our next work is repeatable integration testing and clear setup documentation. We also need to reconcile older documentation with current defaults.</a:t>
            </a:r>
          </a:p>
          <a:p xmlns:a="http://schemas.openxmlformats.org/drawingml/2006/main">
            <a:r>
              <a:t/>
            </a:r>
          </a:p>
          <a:p xmlns:a="http://schemas.openxmlformats.org/drawingml/2006/main">
            <a:r>
              <a:t>The audio presenter will now follow a committed event to its sound.”</a:t>
            </a:r>
          </a:p>
          <a:p xmlns:a="http://schemas.openxmlformats.org/drawingml/2006/main">
            <a:r>
              <a:t/>
            </a:r>
          </a:p>
          <a:p xmlns:a="http://schemas.openxmlformats.org/drawingml/2006/main">
            <a:r>
              <a:t>## Likely questions</a:t>
            </a:r>
          </a:p>
          <a:p xmlns:a="http://schemas.openxmlformats.org/drawingml/2006/main">
            <a:r>
              <a:t/>
            </a:r>
          </a:p>
          <a:p xmlns:a="http://schemas.openxmlformats.org/drawingml/2006/main">
            <a:r>
              <a:t>- **Do you process every camera frame?** No guarantee. A bounded queue can drop old frames, and drops are logged.</a:t>
            </a:r>
          </a:p>
          <a:p xmlns:a="http://schemas.openxmlformats.org/drawingml/2006/main">
            <a:r>
              <a:t>- **Is the whole program one thread?** The frame decision loop is inline, with a capture thread and an audio callback path.</a:t>
            </a:r>
          </a:p>
          <a:p xmlns:a="http://schemas.openxmlformats.org/drawingml/2006/main">
            <a:r>
              <a:t>- **Does replay prove live latency?** No. Replay verifies processing behavior under recorded input; hardware and acoustic timing differ.</a:t>
            </a:r>
          </a:p>
          <a:p xmlns:a="http://schemas.openxmlformats.org/drawingml/2006/main">
            <a:r>
              <a:t>- **What protects architecture boundaries?** Seven import-linter contracts passed; two zone-type import exceptions are explicitly configured.</a:t>
            </a:r>
          </a:p>
          <a:p xmlns:a="http://schemas.openxmlformats.org/drawingml/2006/main">
            <a:r>
              <a:t/>
            </a:r>
          </a:p>
          <a:p xmlns:a="http://schemas.openxmlformats.org/drawingml/2006/main">
            <a:r>
              <a:t>Evidence: `app/play.py:run`, `app/pipeline.py:DecisionPipeline.step`, `capture/source.py:LiveFrameSource`, `contracts/records.py`, `.importlinter`. Dependencies: all six roles need agreed contracts; mobile integration needs a new scope/interface decision. Acceptance: reproducible clean setup, current-frame causality, correct failure behavior and traceable logs.</a:t>
            </a:r>
          </a:p>
          <a:p xmlns:a="http://schemas.openxmlformats.org/drawingml/2006/main">
            <a:r>
              <a:t/>
            </a:r>
          </a:p>
          <a:p xmlns:a="http://schemas.openxmlformats.org/drawingml/2006/main">
            <a:r>
              <a:t>Sources: contracts/records.py; contracts/perception.py; app/pipeline.py:DecisionPipeline.step; capture/source.py; app/play.py. No HTTP service or mobile transport.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Audio and Music Engine</a:t>
            </a:r>
          </a:p>
          <a:p xmlns:a="http://schemas.openxmlformats.org/drawingml/2006/main">
            <a:r>
              <a:t/>
            </a:r>
          </a:p>
          <a:p xmlns:a="http://schemas.openxmlformats.org/drawingml/2006/main">
            <a:r>
              <a:t>Slide 10. Target: 80–90 seconds. Purpose: explain implemented playback and the measurement boundary. Show `assets/audio-pipeline.png`, also editable in the deck.</a:t>
            </a:r>
          </a:p>
          <a:p xmlns:a="http://schemas.openxmlformats.org/drawingml/2006/main">
            <a:r>
              <a:t/>
            </a:r>
          </a:p>
          <a:p xmlns:a="http://schemas.openxmlformats.org/drawingml/2006/main">
            <a:r>
              <a:t>## Spoken script</a:t>
            </a:r>
          </a:p>
          <a:p xmlns:a="http://schemas.openxmlformats.org/drawingml/2006/main">
            <a:r>
              <a:t/>
            </a:r>
          </a:p>
          <a:p xmlns:a="http://schemas.openxmlformats.org/drawingml/2006/main">
            <a:r>
              <a:t>“My role is to explain how a committed strike becomes a drum sound.</a:t>
            </a:r>
          </a:p>
          <a:p xmlns:a="http://schemas.openxmlformats.org/drawingml/2006/main">
            <a:r>
              <a:t/>
            </a:r>
          </a:p>
          <a:p xmlns:a="http://schemas.openxmlformats.org/drawingml/2006/main">
            <a:r>
              <a:t>Each zone maps to a sample identifier. The scheduler receives the committed event and its target time. The audio output selects a sample, applies the configured gain and places the voice in the callback mixer.</a:t>
            </a:r>
          </a:p>
          <a:p xmlns:a="http://schemas.openxmlformats.org/drawingml/2006/main">
            <a:r>
              <a:t/>
            </a:r>
          </a:p>
          <a:p xmlns:a="http://schemas.openxmlformats.org/drawingml/2006/main">
            <a:r>
              <a:t>The full developer kit uses the acoustic Salamander sample bank. Other product paths use the recorded TR-505 bank. Sample hashes are checked when loading. Grouped acoustic sounds can select soft or hard layers and rotate between takes. This selection is deterministic.</a:t>
            </a:r>
          </a:p>
          <a:p xmlns:a="http://schemas.openxmlformats.org/drawingml/2006/main">
            <a:r>
              <a:t/>
            </a:r>
          </a:p>
          <a:p xmlns:a="http://schemas.openxmlformats.org/drawingml/2006/main">
            <a:r>
              <a:t>The mixer supports overlapping sounds and starts them at the appropriate position inside an audio buffer. It also counts late events and clipping. The output layer monitors the stream and clears old voices before recovering from a device failure.</a:t>
            </a:r>
          </a:p>
          <a:p xmlns:a="http://schemas.openxmlformats.org/drawingml/2006/main">
            <a:r>
              <a:t/>
            </a:r>
          </a:p>
          <a:p xmlns:a="http://schemas.openxmlformats.org/drawingml/2006/main">
            <a:r>
              <a:t>Our configuration uses forty-eight kilohertz and a one-hundred-and-twenty-eight-frame buffer. That buffer lasts about two-point-seven milliseconds. It is not the time from a hand movement to an audible sound.</a:t>
            </a:r>
          </a:p>
          <a:p xmlns:a="http://schemas.openxmlformats.org/drawingml/2006/main">
            <a:r>
              <a:t/>
            </a:r>
          </a:p>
          <a:p xmlns:a="http://schemas.openxmlformats.org/drawingml/2006/main">
            <a:r>
              <a:t>Physical action-to-sound latency remains unmeasured. A running stream or a scheduled event cannot prove audibility or the correct sound. Our next work is a human zone-by-zone sound check and an external timing measurement with stated uncertainty.</a:t>
            </a:r>
          </a:p>
          <a:p xmlns:a="http://schemas.openxmlformats.org/drawingml/2006/main">
            <a:r>
              <a:t/>
            </a:r>
          </a:p>
          <a:p xmlns:a="http://schemas.openxmlformats.org/drawingml/2006/main">
            <a:r>
              <a:t>The mobile presenter will now explain that role's current status and proposed scope.”</a:t>
            </a:r>
          </a:p>
          <a:p xmlns:a="http://schemas.openxmlformats.org/drawingml/2006/main">
            <a:r>
              <a:t/>
            </a:r>
          </a:p>
          <a:p xmlns:a="http://schemas.openxmlformats.org/drawingml/2006/main">
            <a:r>
              <a:t>## Likely questions</a:t>
            </a:r>
          </a:p>
          <a:p xmlns:a="http://schemas.openxmlformats.org/drawingml/2006/main">
            <a:r>
              <a:t/>
            </a:r>
          </a:p>
          <a:p xmlns:a="http://schemas.openxmlformats.org/drawingml/2006/main">
            <a:r>
              <a:t>- **Do you output MIDI?** Direct local sample playback is implemented. Core MIDI is outside the documented V1 requirements.</a:t>
            </a:r>
          </a:p>
          <a:p xmlns:a="http://schemas.openxmlformats.org/drawingml/2006/main">
            <a:r>
              <a:t>- **Is gain physical force?** No. It is a mapping from a motion-derived intensity proxy.</a:t>
            </a:r>
          </a:p>
          <a:p xmlns:a="http://schemas.openxmlformats.org/drawingml/2006/main">
            <a:r>
              <a:t>- **Is output latency zero?** No. `OutputLatency.unmeasured()` uses 0.0 as a scheduling placeholder with PENDING status.</a:t>
            </a:r>
          </a:p>
          <a:p xmlns:a="http://schemas.openxmlformats.org/drawingml/2006/main">
            <a:r>
              <a:t>- **Was sound heard during the presentation capture?** No. The replay screenshots use disabled audio. Earlier logs show running streams, which is a different form of evidence.</a:t>
            </a:r>
          </a:p>
          <a:p xmlns:a="http://schemas.openxmlformats.org/drawingml/2006/main">
            <a:r>
              <a:t/>
            </a:r>
          </a:p>
          <a:p xmlns:a="http://schemas.openxmlformats.org/drawingml/2006/main">
            <a:r>
              <a:t>Evidence: `app/audio_out.py:AudioOutput`, `audio/scheduler.py:AudioScheduler`, `audio/variants.py:VariantSelector`, `audio/mixer.py:CallbackMixer`, `audio/device.py:SoundDeviceOutput`, both sample manifests. Dependencies: correct zone IDs/timestamps and an accepted external reference. Acceptance: correct audible sample for each zone, controlled overlap/dropout checks and independently measured physical delay.</a:t>
            </a:r>
          </a:p>
          <a:p xmlns:a="http://schemas.openxmlformats.org/drawingml/2006/main">
            <a:r>
              <a:t/>
            </a:r>
          </a:p>
          <a:p xmlns:a="http://schemas.openxmlformats.org/drawingml/2006/main">
            <a:r>
              <a:t>Sources: app/audio_out.py:AudioOutput.play; audio/bank.py:SampleBank.load; audio/variants.py:VariantSelector.pick; audio/scheduler.py:AudioScheduler.schedule; audio/mixer.py:CallbackMixer.mix; audio/device.py:SoundDeviceOutput.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Mobile Application Development</a:t>
            </a:r>
          </a:p>
          <a:p xmlns:a="http://schemas.openxmlformats.org/drawingml/2006/main">
            <a:r>
              <a:t/>
            </a:r>
          </a:p>
          <a:p xmlns:a="http://schemas.openxmlformats.org/drawingml/2006/main">
            <a:r>
              <a:t>Slide 11. Target: 70–85 seconds. Purpose: present missing implementation honestly and propose an approval-dependent plan. Show the slide's current-status statement and proposed sequence. There is no mobile screenshot because no app was found.</a:t>
            </a:r>
          </a:p>
          <a:p xmlns:a="http://schemas.openxmlformats.org/drawingml/2006/main">
            <a:r>
              <a:t/>
            </a:r>
          </a:p>
          <a:p xmlns:a="http://schemas.openxmlformats.org/drawingml/2006/main">
            <a:r>
              <a:t>## Spoken script</a:t>
            </a:r>
          </a:p>
          <a:p xmlns:a="http://schemas.openxmlformats.org/drawingml/2006/main">
            <a:r>
              <a:t/>
            </a:r>
          </a:p>
          <a:p xmlns:a="http://schemas.openxmlformats.org/drawingml/2006/main">
            <a:r>
              <a:t>“My assigned role is mobile application development. The verified status is that this repository does not contain a mobile application. We also did not find an approved mobile-specific requirement. A possible future phone camera is mentioned in the project documents, but that does not establish a mobile app.</a:t>
            </a:r>
          </a:p>
          <a:p xmlns:a="http://schemas.openxmlformats.org/drawingml/2006/main">
            <a:r>
              <a:t/>
            </a:r>
          </a:p>
          <a:p xmlns:a="http://schemas.openxmlformats.org/drawingml/2006/main">
            <a:r>
              <a:t>For that reason, I am presenting a proposed next step rather than a completed contribution.</a:t>
            </a:r>
          </a:p>
          <a:p xmlns:a="http://schemas.openxmlformats.org/drawingml/2006/main">
            <a:r>
              <a:t/>
            </a:r>
          </a:p>
          <a:p xmlns:a="http://schemas.openxmlformats.org/drawingml/2006/main">
            <a:r>
              <a:t>First, the team and supervisor should decide whether mobile belongs in the project and what problem it should solve. One possible starting point is a session-summary viewer that reads a manually exported file. It could show the session mode, software event counts and missing measurements. A companion controller would require a separate interface and more integration work.</a:t>
            </a:r>
          </a:p>
          <a:p xmlns:a="http://schemas.openxmlformats.org/drawingml/2006/main">
            <a:r>
              <a:t/>
            </a:r>
          </a:p>
          <a:p xmlns:a="http://schemas.openxmlformats.org/drawingml/2006/main">
            <a:r>
              <a:t>If the summary-viewer scope is approved, the core role would define a small versioned data format. The mobile role would then build an actual application that opens one exported session and handles missing or invalid data. The interface must clearly distinguish counts from accuracy.</a:t>
            </a:r>
          </a:p>
          <a:p xmlns:a="http://schemas.openxmlformats.org/drawingml/2006/main">
            <a:r>
              <a:t/>
            </a:r>
          </a:p>
          <a:p xmlns:a="http://schemas.openxmlformats.org/drawingml/2006/main">
            <a:r>
              <a:t>We should not claim camera streaming, remote sound triggering or low network delay before implementing and measuring them. Platform selection and approval remain open.</a:t>
            </a:r>
          </a:p>
          <a:p xmlns:a="http://schemas.openxmlformats.org/drawingml/2006/main">
            <a:r>
              <a:t/>
            </a:r>
          </a:p>
          <a:p xmlns:a="http://schemas.openxmlformats.org/drawingml/2006/main">
            <a:r>
              <a:t>I will now return to our team leader for the verified results and roadmap.”</a:t>
            </a:r>
          </a:p>
          <a:p xmlns:a="http://schemas.openxmlformats.org/drawingml/2006/main">
            <a:r>
              <a:t/>
            </a:r>
          </a:p>
          <a:p xmlns:a="http://schemas.openxmlformats.org/drawingml/2006/main">
            <a:r>
              <a:t>## Likely questions</a:t>
            </a:r>
          </a:p>
          <a:p xmlns:a="http://schemas.openxmlformats.org/drawingml/2006/main">
            <a:r>
              <a:t/>
            </a:r>
          </a:p>
          <a:p xmlns:a="http://schemas.openxmlformats.org/drawingml/2006/main">
            <a:r>
              <a:t>- **Why is there no app demo?** No verified implementation exists, and a mockup would misrepresent the project's status.</a:t>
            </a:r>
          </a:p>
          <a:p xmlns:a="http://schemas.openxmlformats.org/drawingml/2006/main">
            <a:r>
              <a:t>- **Which platform will you use?** Undecided. The choice should follow the approved use case and team constraints.</a:t>
            </a:r>
          </a:p>
          <a:p xmlns:a="http://schemas.openxmlformats.org/drawingml/2006/main">
            <a:r>
              <a:t>- **Can a phone replace the laptop camera?** That is a future possibility, not an implemented or validated path.</a:t>
            </a:r>
          </a:p>
          <a:p xmlns:a="http://schemas.openxmlformats.org/drawingml/2006/main">
            <a:r>
              <a:t>- **What can this role do next?** Document the scope decision, agree an export contract, then build and test the approved first use case.</a:t>
            </a:r>
          </a:p>
          <a:p xmlns:a="http://schemas.openxmlformats.org/drawingml/2006/main">
            <a:r>
              <a:t/>
            </a:r>
          </a:p>
          <a:p xmlns:a="http://schemas.openxmlformats.org/drawingml/2006/main">
            <a:r>
              <a:t>Evidence: repository/source inventory, `project-discovery.md`, `docs/requirements/out-of-scope.md`, and the absence of mobile build manifests. Dependencies: scope approval, core schema and UI semantics. Acceptance if approved: a real build loads a real exported session offline, reports invalid/stale fields correctly and passes agreed platform checks. No personal past contribution is asserted.</a:t>
            </a:r>
          </a:p>
          <a:p xmlns:a="http://schemas.openxmlformats.org/drawingml/2006/main">
            <a:r>
              <a:t/>
            </a:r>
          </a:p>
          <a:p xmlns:a="http://schemas.openxmlformats.org/drawingml/2006/main">
            <a:r>
              <a:t>Sources: project-discovery.md; docs/requirements/out-of-scope.md; evidence/source-inventory.json; repository manifest search. No verified mobile project or approved mobile requirement found.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Team leader: opening, results and closing</a:t>
            </a:r>
          </a:p>
          <a:p xmlns:a="http://schemas.openxmlformats.org/drawingml/2006/main">
            <a:r>
              <a:t/>
            </a:r>
          </a:p>
          <a:p xmlns:a="http://schemas.openxmlformats.org/drawingml/2006/main">
            <a:r>
              <a:t>Assign this duty to one of the six role presenters, preferably the core-processing presenter. No additional team member is implied. Role scripts describe team responsibilities, not personal authorship. Target: opening 90 seconds; results/closing 70 seconds, plus transitions. Rehearse with a timer.</a:t>
            </a:r>
          </a:p>
          <a:p xmlns:a="http://schemas.openxmlformats.org/drawingml/2006/main">
            <a:r>
              <a:t/>
            </a:r>
          </a:p>
          <a:p xmlns:a="http://schemas.openxmlformats.org/drawingml/2006/main">
            <a:r>
              <a:t>## Opening: slides 1–5</a:t>
            </a:r>
          </a:p>
          <a:p xmlns:a="http://schemas.openxmlformats.org/drawingml/2006/main">
            <a:r>
              <a:t/>
            </a:r>
          </a:p>
          <a:p xmlns:a="http://schemas.openxmlformats.org/drawingml/2006/main">
            <a:r>
              <a:t>“Good morning. Our project is SpaceDrums, a camera-based AI virtual drumming system. We are presenting the current prototype and the evidence behind it.</a:t>
            </a:r>
          </a:p>
          <a:p xmlns:a="http://schemas.openxmlformats.org/drawingml/2006/main">
            <a:r>
              <a:t/>
            </a:r>
          </a:p>
          <a:p xmlns:a="http://schemas.openxmlformats.org/drawingml/2006/main">
            <a:r>
              <a:t>A physical drum kit needs equipment and space. Our goal is to let one person explore drumming using a camera, virtual drum zones and local sounds. We also want to investigate whether motion prediction can reduce delay. That research question is still open.</a:t>
            </a:r>
          </a:p>
          <a:p xmlns:a="http://schemas.openxmlformats.org/drawingml/2006/main">
            <a:r>
              <a:t/>
            </a:r>
          </a:p>
          <a:p xmlns:a="http://schemas.openxmlformats.org/drawingml/2006/main">
            <a:r>
              <a:t>The prototype already captures camera frames, estimates hand or stick-tip positions, identifies candidate strikes and schedules drum samples. It also provides a desktop kit display and diagnostic logs. Reliable play across lighting conditions and complete physical latency measurement still need work.</a:t>
            </a:r>
          </a:p>
          <a:p xmlns:a="http://schemas.openxmlformats.org/drawingml/2006/main">
            <a:r>
              <a:t/>
            </a:r>
          </a:p>
          <a:p xmlns:a="http://schemas.openxmlformats.org/drawingml/2006/main">
            <a:r>
              <a:t>The architecture slide shows the actual path through the code. Camera frames feed perception. Per-hand tracking and drum geometry produce strike candidates. Commit rules decide which events can reach audio. The interface displays those results.</a:t>
            </a:r>
          </a:p>
          <a:p xmlns:a="http://schemas.openxmlformats.org/drawingml/2006/main">
            <a:r>
              <a:t/>
            </a:r>
          </a:p>
          <a:p xmlns:a="http://schemas.openxmlformats.org/drawingml/2006/main">
            <a:r>
              <a:t>We organize the project into six responsibilities: computer vision, strike detection, frontend, core processing, mobile planning and audio. Mobile implementation and approved scope remain unresolved.</a:t>
            </a:r>
          </a:p>
          <a:p xmlns:a="http://schemas.openxmlformats.org/drawingml/2006/main">
            <a:r>
              <a:t/>
            </a:r>
          </a:p>
          <a:p xmlns:a="http://schemas.openxmlformats.org/drawingml/2006/main">
            <a:r>
              <a:t>Python and OpenCV connect the local system. MediaPipe supports hand detection. NumPy supports geometry, and sounddevice supports playback. PyTorch and LightGBM belong to the research tools. Our current product demo uses measured Arm A, not a validated learned prediction model.</a:t>
            </a:r>
          </a:p>
          <a:p xmlns:a="http://schemas.openxmlformats.org/drawingml/2006/main">
            <a:r>
              <a:t/>
            </a:r>
          </a:p>
          <a:p xmlns:a="http://schemas.openxmlformats.org/drawingml/2006/main">
            <a:r>
              <a:t>Our computer-vision presenter will now explain the input modes.”</a:t>
            </a:r>
          </a:p>
          <a:p xmlns:a="http://schemas.openxmlformats.org/drawingml/2006/main">
            <a:r>
              <a:t/>
            </a:r>
          </a:p>
          <a:p xmlns:a="http://schemas.openxmlformats.org/drawingml/2006/main">
            <a:r>
              <a:t>Show `assets/architecture.png` on slide 4. The same diagram is editable in the deck.</a:t>
            </a:r>
          </a:p>
          <a:p xmlns:a="http://schemas.openxmlformats.org/drawingml/2006/main">
            <a:r>
              <a:t/>
            </a:r>
          </a:p>
          <a:p xmlns:a="http://schemas.openxmlformats.org/drawingml/2006/main">
            <a:r>
              <a:t>## Results and closing: slides 12–15</a:t>
            </a:r>
          </a:p>
          <a:p xmlns:a="http://schemas.openxmlformats.org/drawingml/2006/main">
            <a:r>
              <a:t/>
            </a:r>
          </a:p>
          <a:p xmlns:a="http://schemas.openxmlformats.org/drawingml/2006/main">
            <a:r>
              <a:t>“Our results separate software tests from real recordings. The suite passed 1,997 tests, failed one and skipped one. The failed synthetic kit sequence produced tom2 where snare was expected; it failed again on its own. Seven import contracts passed, while lint found one long line. These checks do not measure real-world tracking accuracy.</a:t>
            </a:r>
          </a:p>
          <a:p xmlns:a="http://schemas.openxmlformats.org/drawingml/2006/main">
            <a:r>
              <a:t/>
            </a:r>
          </a:p>
          <a:p xmlns:a="http://schemas.openxmlformats.org/drawingml/2006/main">
            <a:r>
              <a:t>On one 572-frame recording, default red-tip tracking produced measured points in only 6.8 percent of left-slot frames and 1.6 percent of right-slot frames. Dark mode raised coverage, but this recording has no accuracy labels. We cannot call those percentages correct detections.</a:t>
            </a:r>
          </a:p>
          <a:p xmlns:a="http://schemas.openxmlformats.org/drawingml/2006/main">
            <a:r>
              <a:t/>
            </a:r>
          </a:p>
          <a:p xmlns:a="http://schemas.openxmlformats.org/drawingml/2006/main">
            <a:r>
              <a:t>The main challenges are lighting, identity during occlusion, reliable calibration, intended-zone selection and physical audio delay. Our next step is independent labeling, followed by controlled tracking and strike tests. We will then validate calibration and measure action-to-sound latency with an external reference. Mobile scope needs an explicit decision.</a:t>
            </a:r>
          </a:p>
          <a:p xmlns:a="http://schemas.openxmlformats.org/drawingml/2006/main">
            <a:r>
              <a:t/>
            </a:r>
          </a:p>
          <a:p xmlns:a="http://schemas.openxmlformats.org/drawingml/2006/main">
            <a:r>
              <a:t>SpaceDrums demonstrates a connected camera-to-sound software prototype. Its strongest next step is reliable, measurable interaction. Thank you. We welcome your questions.”</a:t>
            </a:r>
          </a:p>
          <a:p xmlns:a="http://schemas.openxmlformats.org/drawingml/2006/main">
            <a:r>
              <a:t/>
            </a:r>
          </a:p>
          <a:p xmlns:a="http://schemas.openxmlformats.org/drawingml/2006/main">
            <a:r>
              <a:t>## Likely questions</a:t>
            </a:r>
          </a:p>
          <a:p xmlns:a="http://schemas.openxmlformats.org/drawingml/2006/main">
            <a:r>
              <a:t/>
            </a:r>
          </a:p>
          <a:p xmlns:a="http://schemas.openxmlformats.org/drawingml/2006/main">
            <a:r>
              <a:t>- **Is the project finished?** The integrated prototype and research machinery exist. Independent playing validation, participant results and release acceptance remain pending.</a:t>
            </a:r>
          </a:p>
          <a:p xmlns:a="http://schemas.openxmlformats.org/drawingml/2006/main">
            <a:r>
              <a:t>- **Did each person write the code for their role?** This presentation maps responsibilities. Individual authorship has not been verified.</a:t>
            </a:r>
          </a:p>
          <a:p xmlns:a="http://schemas.openxmlformats.org/drawingml/2006/main">
            <a:r>
              <a:t>- **Why are there no names or institution on the title?** They were not provided or verified. Add the agreed details before submission.</a:t>
            </a:r>
          </a:p>
          <a:p xmlns:a="http://schemas.openxmlformats.org/drawingml/2006/main">
            <a:r>
              <a:t>- **Why show failures?** They identify the actual work remaining and prevent synthetic or software evidence from becoming unsupported user-performance claims.</a:t>
            </a:r>
          </a:p>
          <a:p xmlns:a="http://schemas.openxmlformats.org/drawingml/2006/main">
            <a:r>
              <a:t/>
            </a:r>
          </a:p>
          <a:p xmlns:a="http://schemas.openxmlformats.org/drawingml/2006/main">
            <a:r>
              <a:t>Fresh full-suite result: 1 failed, 1997 passed, 1 skipped, 139 warnings in 1020.06s (0:17:00)</a:t>
            </a:r>
          </a:p>
          <a:p xmlns:a="http://schemas.openxmlformats.org/drawingml/2006/main">
            <a:r>
              <a:t>Sources: docs/presentation/evidence/pytest-full.txt; ruff.txt; import-linter.txt; experiments/red-tip-lit/summary.json; experiments/red-tip-dark/summary.json. Both analyses use the same 572-frame session and have accuracy_vs_labels=null. Measured share is slot coverage, not detection accuracy. See validation-results.md for failure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experiments/red-tip-lit/summary.json; experiments/red-tip-dark/summary.json; app/play.py report fields; geometry/strokes.py; calib/automatic.py. Actual red-tip replay screenshot shows missing/weak-limit points and rejected stroke evidence. No hidden successful replacement.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docs/presentation/team-contributions-and-roadmap.md; docs/reports/phase-18-final-evaluation.md. Proposed dependency order, not completed work or a promised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Team leader: opening, results and closing</a:t>
            </a:r>
          </a:p>
          <a:p xmlns:a="http://schemas.openxmlformats.org/drawingml/2006/main">
            <a:r>
              <a:t/>
            </a:r>
          </a:p>
          <a:p xmlns:a="http://schemas.openxmlformats.org/drawingml/2006/main">
            <a:r>
              <a:t>Assign this duty to one of the six role presenters, preferably the core-processing presenter. No additional team member is implied. Role scripts describe team responsibilities, not personal authorship. Target: opening 90 seconds; results/closing 70 seconds, plus transitions. Rehearse with a timer.</a:t>
            </a:r>
          </a:p>
          <a:p xmlns:a="http://schemas.openxmlformats.org/drawingml/2006/main">
            <a:r>
              <a:t/>
            </a:r>
          </a:p>
          <a:p xmlns:a="http://schemas.openxmlformats.org/drawingml/2006/main">
            <a:r>
              <a:t>## Opening: slides 1–5</a:t>
            </a:r>
          </a:p>
          <a:p xmlns:a="http://schemas.openxmlformats.org/drawingml/2006/main">
            <a:r>
              <a:t/>
            </a:r>
          </a:p>
          <a:p xmlns:a="http://schemas.openxmlformats.org/drawingml/2006/main">
            <a:r>
              <a:t>“Good morning. Our project is SpaceDrums, a camera-based AI virtual drumming system. We are presenting the current prototype and the evidence behind it.</a:t>
            </a:r>
          </a:p>
          <a:p xmlns:a="http://schemas.openxmlformats.org/drawingml/2006/main">
            <a:r>
              <a:t/>
            </a:r>
          </a:p>
          <a:p xmlns:a="http://schemas.openxmlformats.org/drawingml/2006/main">
            <a:r>
              <a:t>A physical drum kit needs equipment and space. Our goal is to let one person explore drumming using a camera, virtual drum zones and local sounds. We also want to investigate whether motion prediction can reduce delay. That research question is still open.</a:t>
            </a:r>
          </a:p>
          <a:p xmlns:a="http://schemas.openxmlformats.org/drawingml/2006/main">
            <a:r>
              <a:t/>
            </a:r>
          </a:p>
          <a:p xmlns:a="http://schemas.openxmlformats.org/drawingml/2006/main">
            <a:r>
              <a:t>The prototype already captures camera frames, estimates hand or stick-tip positions, identifies candidate strikes and schedules drum samples. It also provides a desktop kit display and diagnostic logs. Reliable play across lighting conditions and complete physical latency measurement still need work.</a:t>
            </a:r>
          </a:p>
          <a:p xmlns:a="http://schemas.openxmlformats.org/drawingml/2006/main">
            <a:r>
              <a:t/>
            </a:r>
          </a:p>
          <a:p xmlns:a="http://schemas.openxmlformats.org/drawingml/2006/main">
            <a:r>
              <a:t>The architecture slide shows the actual path through the code. Camera frames feed perception. Per-hand tracking and drum geometry produce strike candidates. Commit rules decide which events can reach audio. The interface displays those results.</a:t>
            </a:r>
          </a:p>
          <a:p xmlns:a="http://schemas.openxmlformats.org/drawingml/2006/main">
            <a:r>
              <a:t/>
            </a:r>
          </a:p>
          <a:p xmlns:a="http://schemas.openxmlformats.org/drawingml/2006/main">
            <a:r>
              <a:t>We organize the project into six responsibilities: computer vision, strike detection, frontend, core processing, mobile planning and audio. Mobile implementation and approved scope remain unresolved.</a:t>
            </a:r>
          </a:p>
          <a:p xmlns:a="http://schemas.openxmlformats.org/drawingml/2006/main">
            <a:r>
              <a:t/>
            </a:r>
          </a:p>
          <a:p xmlns:a="http://schemas.openxmlformats.org/drawingml/2006/main">
            <a:r>
              <a:t>Python and OpenCV connect the local system. MediaPipe supports hand detection. NumPy supports geometry, and sounddevice supports playback. PyTorch and LightGBM belong to the research tools. Our current product demo uses measured Arm A, not a validated learned prediction model.</a:t>
            </a:r>
          </a:p>
          <a:p xmlns:a="http://schemas.openxmlformats.org/drawingml/2006/main">
            <a:r>
              <a:t/>
            </a:r>
          </a:p>
          <a:p xmlns:a="http://schemas.openxmlformats.org/drawingml/2006/main">
            <a:r>
              <a:t>Our computer-vision presenter will now explain the input modes.”</a:t>
            </a:r>
          </a:p>
          <a:p xmlns:a="http://schemas.openxmlformats.org/drawingml/2006/main">
            <a:r>
              <a:t/>
            </a:r>
          </a:p>
          <a:p xmlns:a="http://schemas.openxmlformats.org/drawingml/2006/main">
            <a:r>
              <a:t>Show `assets/architecture.png` on slide 4. The same diagram is editable in the deck.</a:t>
            </a:r>
          </a:p>
          <a:p xmlns:a="http://schemas.openxmlformats.org/drawingml/2006/main">
            <a:r>
              <a:t/>
            </a:r>
          </a:p>
          <a:p xmlns:a="http://schemas.openxmlformats.org/drawingml/2006/main">
            <a:r>
              <a:t>## Results and closing: slides 12–15</a:t>
            </a:r>
          </a:p>
          <a:p xmlns:a="http://schemas.openxmlformats.org/drawingml/2006/main">
            <a:r>
              <a:t/>
            </a:r>
          </a:p>
          <a:p xmlns:a="http://schemas.openxmlformats.org/drawingml/2006/main">
            <a:r>
              <a:t>“Our results separate software tests from real recordings. The suite passed 1,997 tests, failed one and skipped one. The failed synthetic kit sequence produced tom2 where snare was expected; it failed again on its own. Seven import contracts passed, while lint found one long line. These checks do not measure real-world tracking accuracy.</a:t>
            </a:r>
          </a:p>
          <a:p xmlns:a="http://schemas.openxmlformats.org/drawingml/2006/main">
            <a:r>
              <a:t/>
            </a:r>
          </a:p>
          <a:p xmlns:a="http://schemas.openxmlformats.org/drawingml/2006/main">
            <a:r>
              <a:t>On one 572-frame recording, default red-tip tracking produced measured points in only 6.8 percent of left-slot frames and 1.6 percent of right-slot frames. Dark mode raised coverage, but this recording has no accuracy labels. We cannot call those percentages correct detections.</a:t>
            </a:r>
          </a:p>
          <a:p xmlns:a="http://schemas.openxmlformats.org/drawingml/2006/main">
            <a:r>
              <a:t/>
            </a:r>
          </a:p>
          <a:p xmlns:a="http://schemas.openxmlformats.org/drawingml/2006/main">
            <a:r>
              <a:t>The main challenges are lighting, identity during occlusion, reliable calibration, intended-zone selection and physical audio delay. Our next step is independent labeling, followed by controlled tracking and strike tests. We will then validate calibration and measure action-to-sound latency with an external reference. Mobile scope needs an explicit decision.</a:t>
            </a:r>
          </a:p>
          <a:p xmlns:a="http://schemas.openxmlformats.org/drawingml/2006/main">
            <a:r>
              <a:t/>
            </a:r>
          </a:p>
          <a:p xmlns:a="http://schemas.openxmlformats.org/drawingml/2006/main">
            <a:r>
              <a:t>SpaceDrums demonstrates a connected camera-to-sound software prototype. Its strongest next step is reliable, measurable interaction. Thank you. We welcome your questions.”</a:t>
            </a:r>
          </a:p>
          <a:p xmlns:a="http://schemas.openxmlformats.org/drawingml/2006/main">
            <a:r>
              <a:t/>
            </a:r>
          </a:p>
          <a:p xmlns:a="http://schemas.openxmlformats.org/drawingml/2006/main">
            <a:r>
              <a:t>## Likely questions</a:t>
            </a:r>
          </a:p>
          <a:p xmlns:a="http://schemas.openxmlformats.org/drawingml/2006/main">
            <a:r>
              <a:t/>
            </a:r>
          </a:p>
          <a:p xmlns:a="http://schemas.openxmlformats.org/drawingml/2006/main">
            <a:r>
              <a:t>- **Is the project finished?** The integrated prototype and research machinery exist. Independent playing validation, participant results and release acceptance remain pending.</a:t>
            </a:r>
          </a:p>
          <a:p xmlns:a="http://schemas.openxmlformats.org/drawingml/2006/main">
            <a:r>
              <a:t>- **Did each person write the code for their role?** This presentation maps responsibilities. Individual authorship has not been verified.</a:t>
            </a:r>
          </a:p>
          <a:p xmlns:a="http://schemas.openxmlformats.org/drawingml/2006/main">
            <a:r>
              <a:t>- **Why are there no names or institution on the title?** They were not provided or verified. Add the agreed details before submission.</a:t>
            </a:r>
          </a:p>
          <a:p xmlns:a="http://schemas.openxmlformats.org/drawingml/2006/main">
            <a:r>
              <a:t>- **Why show failures?** They identify the actual work remaining and prevent synthetic or software evidence from becoming unsupported user-performance claims.</a:t>
            </a:r>
          </a:p>
          <a:p xmlns:a="http://schemas.openxmlformats.org/drawingml/2006/main">
            <a:r>
              <a:t/>
            </a:r>
          </a:p>
          <a:p xmlns:a="http://schemas.openxmlformats.org/drawingml/2006/main">
            <a:r>
              <a:t>Closing claim boundary: integrated software prototype exists; reliability, independent validation and physical timing remain unfinished. Source: docs/presentation/project-audit.md.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a1ac488a5f42c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a99518d7b224bb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849b3e042749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edcce1c9126483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28d29ce8a247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76c9f7e019949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70FC17-5C24-49EE-BB00-E2510305948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3626A02-C997-414A-9DBC-82DB041114D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2626E37-4F2E-4BEF-B924-255EEE77455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CD2585-6952-4172-BCBC-0867562306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0F9584F-0073-46DC-973E-E7B2A368FC2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C72B3B7-C04D-4EBF-A75D-2B01963BEB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D0DCEE6-E93D-46C4-BEA0-7D9E8B8E30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F832E91-4DDF-4370-9792-DF5B9EC4C04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DA6BFC-3F64-4EAD-95F3-28683518F5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9149F10-5CCE-480F-BE4A-0B913261E7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d9b71f36294232" /><Relationship Type="http://schemas.openxmlformats.org/officeDocument/2006/relationships/slideLayout" Target="/ppt/slideLayouts/slideLayout1.xml" Id="Rfcda056be5934f21" /><Relationship Type="http://schemas.openxmlformats.org/officeDocument/2006/relationships/slideLayout" Target="/ppt/slideLayouts/slideLayout2.xml" Id="Read635d8d5f14e92" /><Relationship Type="http://schemas.openxmlformats.org/officeDocument/2006/relationships/slideLayout" Target="/ppt/slideLayouts/slideLayout3.xml" Id="Ra678f97f86e3489d" /><Relationship Type="http://schemas.openxmlformats.org/officeDocument/2006/relationships/slideLayout" Target="/ppt/slideLayouts/slideLayout4.xml" Id="R9e7992bde7e747f6" /><Relationship Type="http://schemas.openxmlformats.org/officeDocument/2006/relationships/slideLayout" Target="/ppt/slideLayouts/slideLayout5.xml" Id="Rf1f7b4a21f274b0c" /><Relationship Type="http://schemas.openxmlformats.org/officeDocument/2006/relationships/slideLayout" Target="/ppt/slideLayouts/slideLayout6.xml" Id="R45f7b58f202440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da056be5934f21"/>
    <p:sldLayoutId xmlns:r="http://schemas.openxmlformats.org/officeDocument/2006/relationships" id="2147483650" r:id="Read635d8d5f14e92"/>
    <p:sldLayoutId xmlns:r="http://schemas.openxmlformats.org/officeDocument/2006/relationships" id="2147483651" r:id="Ra678f97f86e3489d"/>
    <p:sldLayoutId xmlns:r="http://schemas.openxmlformats.org/officeDocument/2006/relationships" id="2147483652" r:id="R9e7992bde7e747f6"/>
    <p:sldLayoutId xmlns:r="http://schemas.openxmlformats.org/officeDocument/2006/relationships" id="2147483653" r:id="Rf1f7b4a21f274b0c"/>
    <p:sldLayoutId xmlns:r="http://schemas.openxmlformats.org/officeDocument/2006/relationships" id="2147483654" r:id="R45f7b58f202440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fe372bbf1df4019" /><Relationship Type="http://schemas.openxmlformats.org/officeDocument/2006/relationships/notesSlide" Target="/ppt/notesSlides/notesSlide1.xml" Id="R3cf3867b734047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a223029416d413c" /><Relationship Type="http://schemas.openxmlformats.org/officeDocument/2006/relationships/notesSlide" Target="/ppt/notesSlides/notesSlide2.xml" Id="Rfcd737d9ccc147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22079787e964409" /><Relationship Type="http://schemas.openxmlformats.org/officeDocument/2006/relationships/notesSlide" Target="/ppt/notesSlides/notesSlide3.xml" Id="R37bde6c5057143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704cde070d74ec4" /><Relationship Type="http://schemas.openxmlformats.org/officeDocument/2006/relationships/notesSlide" Target="/ppt/notesSlides/notesSlide4.xml" Id="R7475f41721584a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b19c548750c47fc" /><Relationship Type="http://schemas.openxmlformats.org/officeDocument/2006/relationships/notesSlide" Target="/ppt/notesSlides/notesSlide5.xml" Id="R37dccbdbe68545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fa90e32ad9e48b0" /><Relationship Type="http://schemas.openxmlformats.org/officeDocument/2006/relationships/image" Target="/ppt/media/image.jpeg" Id="Rc68efe6c862d47ab" /><Relationship Type="http://schemas.openxmlformats.org/officeDocument/2006/relationships/notesSlide" Target="/ppt/notesSlides/notesSlide6.xml" Id="R4b4395431db144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8a174204fd44f3e" /><Relationship Type="http://schemas.openxmlformats.org/officeDocument/2006/relationships/notesSlide" Target="/ppt/notesSlides/notesSlide7.xml" Id="R10651adca40140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2e279271e52454b" /><Relationship Type="http://schemas.openxmlformats.org/officeDocument/2006/relationships/image" Target="/ppt/media/image2.jpeg" Id="R04752a131f614a5c" /><Relationship Type="http://schemas.openxmlformats.org/officeDocument/2006/relationships/notesSlide" Target="/ppt/notesSlides/notesSlide8.xml" Id="Ra4d443bbd50747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9d3422368634541" /><Relationship Type="http://schemas.openxmlformats.org/officeDocument/2006/relationships/notesSlide" Target="/ppt/notesSlides/notesSlide9.xml" Id="R76a6bd60c16b4b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bddef1cf83d4c43" /><Relationship Type="http://schemas.openxmlformats.org/officeDocument/2006/relationships/notesSlide" Target="/ppt/notesSlides/notesSlide10.xml" Id="R868503c82b834e1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23bacb9471548f4" /><Relationship Type="http://schemas.openxmlformats.org/officeDocument/2006/relationships/notesSlide" Target="/ppt/notesSlides/notesSlide11.xml" Id="Rcdb2b8e6663249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74b461bfe3643b9" /><Relationship Type="http://schemas.openxmlformats.org/officeDocument/2006/relationships/notesSlide" Target="/ppt/notesSlides/notesSlide12.xml" Id="Rfc4068c2c93f4d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7d1364e13b84116" /><Relationship Type="http://schemas.openxmlformats.org/officeDocument/2006/relationships/image" Target="/ppt/media/image3.jpeg" Id="Rea744c6fbbaa4012" /><Relationship Type="http://schemas.openxmlformats.org/officeDocument/2006/relationships/notesSlide" Target="/ppt/notesSlides/notesSlide13.xml" Id="Rbe537a2c6e2347a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3c56a5e98394444" /><Relationship Type="http://schemas.openxmlformats.org/officeDocument/2006/relationships/notesSlide" Target="/ppt/notesSlides/notesSlide14.xml" Id="Rf45a756b148f41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c84540c5b364ddb" /><Relationship Type="http://schemas.openxmlformats.org/officeDocument/2006/relationships/notesSlide" Target="/ppt/notesSlides/notesSlide15.xml" Id="R1e59ae69ba2b424a" /></Relationships>
</file>

<file path=ppt/slides/slide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AC962A-4581-4FF9-8F5E-B9E78C77E12A}"/>
              </a:ext>
            </a:extLst>
          </p:cNvPr>
          <p:cNvSpPr>
            <a:spLocks xmlns:a="http://schemas.openxmlformats.org/drawingml/2006/main" noGrp="1"/>
          </p:cNvSpPr>
          <p:nvPr/>
        </p:nvSpPr>
        <p:spPr>
          <a:xfrm xmlns:a="http://schemas.openxmlformats.org/drawingml/2006/main">
            <a:off x="609600" y="18478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1">
                <a:solidFill>
                  <a:srgbClr val="F3F6FA"/>
                </a:solidFill>
                <a:latin typeface="Arial"/>
                <a:ea typeface="Arial"/>
                <a:cs typeface="Arial"/>
              </a:defRPr>
            </a:defPPr>
          </a:lstStyle>
          <a:p xmlns:a="http://schemas.openxmlformats.org/drawingml/2006/main">
            <a:pPr algn="l">
              <a:defRPr sz="7050" b="1">
                <a:solidFill>
                  <a:srgbClr val="F3F6FA"/>
                </a:solidFill>
                <a:latin typeface="Arial"/>
                <a:ea typeface="Arial"/>
                <a:cs typeface="Arial"/>
              </a:defRPr>
            </a:pPr>
            <a:r>
              <a:rPr sz="7050" b="1">
                <a:solidFill>
                  <a:srgbClr val="F3F6FA"/>
                </a:solidFill>
                <a:latin typeface="Arial"/>
                <a:ea typeface="Arial"/>
                <a:cs typeface="Arial"/>
              </a:rPr>
              <a:t>SpaceDrums</a:t>
            </a:r>
          </a:p>
        </p:txBody>
      </p:sp>
      <p:sp>
        <p:nvSpPr>
          <p:cNvPr id="2" name="">
            <a:extLst xmlns:a="http://schemas.openxmlformats.org/drawingml/2006/main">
              <a:ext uri="{FF2B5EF4-FFF2-40B4-BE49-F238E27FC236}">
                <a16:creationId xmlns:a16="http://schemas.microsoft.com/office/drawing/2014/main" id="{7314709E-8564-4E57-B7C3-C4B59D70DB7D}"/>
              </a:ext>
            </a:extLst>
          </p:cNvPr>
          <p:cNvSpPr>
            <a:spLocks xmlns:a="http://schemas.openxmlformats.org/drawingml/2006/main" noGrp="1"/>
          </p:cNvSpPr>
          <p:nvPr/>
        </p:nvSpPr>
        <p:spPr>
          <a:xfrm xmlns:a="http://schemas.openxmlformats.org/drawingml/2006/main">
            <a:off x="666750" y="32004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49DDEB"/>
                </a:solidFill>
                <a:latin typeface="Arial"/>
                <a:ea typeface="Arial"/>
                <a:cs typeface="Arial"/>
              </a:defRPr>
            </a:defPPr>
          </a:lstStyle>
          <a:p xmlns:a="http://schemas.openxmlformats.org/drawingml/2006/main">
            <a:pPr algn="l">
              <a:defRPr sz="2625" b="0">
                <a:solidFill>
                  <a:srgbClr val="49DDEB"/>
                </a:solidFill>
                <a:latin typeface="Arial"/>
                <a:ea typeface="Arial"/>
                <a:cs typeface="Arial"/>
              </a:defRPr>
            </a:pPr>
            <a:r>
              <a:rPr sz="2625" b="0">
                <a:solidFill>
                  <a:srgbClr val="49DDEB"/>
                </a:solidFill>
                <a:latin typeface="Arial"/>
                <a:ea typeface="Arial"/>
                <a:cs typeface="Arial"/>
              </a:rPr>
              <a:t>Camera-Based AI Virtual Drumming System</a:t>
            </a:r>
          </a:p>
        </p:txBody>
      </p:sp>
      <p:sp>
        <p:nvSpPr>
          <p:cNvPr id="3" name="">
            <a:extLst xmlns:a="http://schemas.openxmlformats.org/drawingml/2006/main">
              <a:ext uri="{FF2B5EF4-FFF2-40B4-BE49-F238E27FC236}">
                <a16:creationId xmlns:a16="http://schemas.microsoft.com/office/drawing/2014/main" id="{8774B174-7BFC-4AE4-A3BF-744060E18A30}"/>
              </a:ext>
            </a:extLst>
          </p:cNvPr>
          <p:cNvSpPr>
            <a:spLocks xmlns:a="http://schemas.openxmlformats.org/drawingml/2006/main" noGrp="1"/>
          </p:cNvSpPr>
          <p:nvPr/>
        </p:nvSpPr>
        <p:spPr>
          <a:xfrm xmlns:a="http://schemas.openxmlformats.org/drawingml/2006/main">
            <a:off x="666750" y="41719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B6C5D8"/>
                </a:solidFill>
                <a:latin typeface="Arial"/>
                <a:ea typeface="Arial"/>
                <a:cs typeface="Arial"/>
              </a:defRPr>
            </a:defPPr>
          </a:lstStyle>
          <a:p xmlns:a="http://schemas.openxmlformats.org/drawingml/2006/main">
            <a:pPr algn="l">
              <a:defRPr sz="2175" b="0">
                <a:solidFill>
                  <a:srgbClr val="B6C5D8"/>
                </a:solidFill>
                <a:latin typeface="Arial"/>
                <a:ea typeface="Arial"/>
                <a:cs typeface="Arial"/>
              </a:defRPr>
            </a:pPr>
            <a:r>
              <a:rPr sz="2175" b="0">
                <a:solidFill>
                  <a:srgbClr val="B6C5D8"/>
                </a:solidFill>
                <a:latin typeface="Arial"/>
                <a:ea typeface="Arial"/>
                <a:cs typeface="Arial"/>
              </a:rPr>
              <a:t>Current prototype and verified evidence</a:t>
            </a:r>
          </a:p>
        </p:txBody>
      </p:sp>
      <p:sp>
        <p:nvSpPr>
          <p:cNvPr id="4" name="">
            <a:extLst xmlns:a="http://schemas.openxmlformats.org/drawingml/2006/main">
              <a:ext uri="{FF2B5EF4-FFF2-40B4-BE49-F238E27FC236}">
                <a16:creationId xmlns:a16="http://schemas.microsoft.com/office/drawing/2014/main" id="{60DB8571-522F-4577-B5FD-7AA67118C9AF}"/>
              </a:ext>
            </a:extLst>
          </p:cNvPr>
          <p:cNvSpPr>
            <a:spLocks xmlns:a="http://schemas.openxmlformats.org/drawingml/2006/main" noGrp="1"/>
          </p:cNvSpPr>
          <p:nvPr/>
        </p:nvSpPr>
        <p:spPr>
          <a:xfrm xmlns:a="http://schemas.openxmlformats.org/drawingml/2006/main">
            <a:off x="666750" y="53721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3F6FA"/>
                </a:solidFill>
                <a:latin typeface="Arial"/>
                <a:ea typeface="Arial"/>
                <a:cs typeface="Arial"/>
              </a:defRPr>
            </a:defPPr>
          </a:lstStyle>
          <a:p xmlns:a="http://schemas.openxmlformats.org/drawingml/2006/main">
            <a:pPr algn="l">
              <a:defRPr sz="1800" b="0">
                <a:solidFill>
                  <a:srgbClr val="F3F6FA"/>
                </a:solidFill>
                <a:latin typeface="Arial"/>
                <a:ea typeface="Arial"/>
                <a:cs typeface="Arial"/>
              </a:defRPr>
            </a:pPr>
            <a:r>
              <a:rPr sz="1800" b="0">
                <a:solidFill>
                  <a:srgbClr val="F3F6FA"/>
                </a:solidFill>
                <a:latin typeface="Arial"/>
                <a:ea typeface="Arial"/>
                <a:cs typeface="Arial"/>
              </a:rPr>
              <a:t>Six team roles</a:t>
            </a:r>
          </a:p>
        </p:txBody>
      </p:sp>
      <p:sp>
        <p:nvSpPr>
          <p:cNvPr id="5" name="">
            <a:extLst xmlns:a="http://schemas.openxmlformats.org/drawingml/2006/main">
              <a:ext uri="{FF2B5EF4-FFF2-40B4-BE49-F238E27FC236}">
                <a16:creationId xmlns:a16="http://schemas.microsoft.com/office/drawing/2014/main" id="{F0683585-9B53-48A7-9F0F-10DDFF0AFEC3}"/>
              </a:ext>
            </a:extLst>
          </p:cNvPr>
          <p:cNvSpPr>
            <a:spLocks xmlns:a="http://schemas.openxmlformats.org/drawingml/2006/main" noGrp="1"/>
          </p:cNvSpPr>
          <p:nvPr/>
        </p:nvSpPr>
        <p:spPr>
          <a:xfrm xmlns:a="http://schemas.openxmlformats.org/drawingml/2006/main">
            <a:off x="666750" y="5819775"/>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6C5D8"/>
                </a:solidFill>
                <a:latin typeface="Arial"/>
                <a:ea typeface="Arial"/>
                <a:cs typeface="Arial"/>
              </a:defRPr>
            </a:defPPr>
          </a:lstStyle>
          <a:p xmlns:a="http://schemas.openxmlformats.org/drawingml/2006/main">
            <a:pPr algn="l">
              <a:defRPr sz="1650" b="0">
                <a:solidFill>
                  <a:srgbClr val="B6C5D8"/>
                </a:solidFill>
                <a:latin typeface="Arial"/>
                <a:ea typeface="Arial"/>
                <a:cs typeface="Arial"/>
              </a:defRPr>
            </a:pPr>
            <a:r>
              <a:rPr sz="1650" b="0">
                <a:solidFill>
                  <a:srgbClr val="B6C5D8"/>
                </a:solidFill>
                <a:latin typeface="Arial"/>
                <a:ea typeface="Arial"/>
                <a:cs typeface="Arial"/>
              </a:rPr>
              <a:t>17 October 2026</a:t>
            </a:r>
          </a:p>
        </p:txBody>
      </p:sp>
    </p:spTree>
    <p:extLst>
      <p:ext uri="{BB962C8B-B14F-4D97-AF65-F5344CB8AC3E}">
        <p14:creationId xmlns:p14="http://schemas.microsoft.com/office/powerpoint/2010/main" val="1829980072"/>
      </p:ext>
    </p:extLst>
  </p:cSld>
</p:sld>
</file>

<file path=ppt/slides/slide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4DE9C2-4E8A-4509-A502-937C23F2C2CA}"/>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6FA"/>
                </a:solidFill>
                <a:latin typeface="Arial"/>
                <a:ea typeface="Arial"/>
                <a:cs typeface="Arial"/>
              </a:defRPr>
            </a:defPPr>
          </a:lstStyle>
          <a:p xmlns:a="http://schemas.openxmlformats.org/drawingml/2006/main">
            <a:pPr algn="l">
              <a:defRPr sz="3450" b="1">
                <a:solidFill>
                  <a:srgbClr val="F3F6FA"/>
                </a:solidFill>
                <a:latin typeface="Arial"/>
                <a:ea typeface="Arial"/>
                <a:cs typeface="Arial"/>
              </a:defRPr>
            </a:pPr>
            <a:r>
              <a:rPr sz="3450" b="1">
                <a:solidFill>
                  <a:srgbClr val="F3F6FA"/>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FBD590F6-B1DE-485B-B2E4-E77B8FE08205}"/>
              </a:ext>
            </a:extLst>
          </p:cNvPr>
          <p:cNvSpPr>
            <a:spLocks xmlns:a="http://schemas.openxmlformats.org/drawingml/2006/main" noGrp="1"/>
          </p:cNvSpPr>
          <p:nvPr/>
        </p:nvSpPr>
        <p:spPr>
          <a:xfrm xmlns:a="http://schemas.openxmlformats.org/drawingml/2006/main">
            <a:off x="1116330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B6C5D8"/>
                </a:solidFill>
                <a:latin typeface="Arial"/>
                <a:ea typeface="Arial"/>
                <a:cs typeface="Arial"/>
              </a:defRPr>
            </a:defPPr>
          </a:lstStyle>
          <a:p xmlns:a="http://schemas.openxmlformats.org/drawingml/2006/main">
            <a:pPr algn="r">
              <a:defRPr sz="1425" b="0">
                <a:solidFill>
                  <a:srgbClr val="B6C5D8"/>
                </a:solidFill>
                <a:latin typeface="Arial"/>
                <a:ea typeface="Arial"/>
                <a:cs typeface="Arial"/>
              </a:defRPr>
            </a:pPr>
            <a:r>
              <a:rPr sz="1425" b="0">
                <a:solidFill>
                  <a:srgbClr val="B6C5D8"/>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CD5875E6-2E3E-42FD-B62E-794E56B91CB8}"/>
              </a:ext>
            </a:extLst>
          </p:cNvPr>
          <p:cNvSpPr>
            <a:spLocks xmlns:a="http://schemas.openxmlformats.org/drawingml/2006/main" noGrp="1"/>
          </p:cNvSpPr>
          <p:nvPr/>
        </p:nvSpPr>
        <p:spPr>
          <a:xfrm xmlns:a="http://schemas.openxmlformats.org/drawingml/2006/main">
            <a:off x="609600" y="1581150"/>
            <a:ext cx="10810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3F6FA"/>
                </a:solidFill>
                <a:latin typeface="Arial"/>
                <a:ea typeface="Arial"/>
                <a:cs typeface="Arial"/>
              </a:defRPr>
            </a:defPPr>
          </a:lstStyle>
          <a:p xmlns:a="http://schemas.openxmlformats.org/drawingml/2006/main">
            <a:pPr algn="l">
              <a:defRPr sz="3225" b="1">
                <a:solidFill>
                  <a:srgbClr val="F3F6FA"/>
                </a:solidFill>
                <a:latin typeface="Arial"/>
                <a:ea typeface="Arial"/>
                <a:cs typeface="Arial"/>
              </a:defRPr>
            </a:pPr>
            <a:r>
              <a:rPr sz="3225" b="1">
                <a:solidFill>
                  <a:srgbClr val="F3F6FA"/>
                </a:solidFill>
                <a:latin typeface="Arial"/>
                <a:ea typeface="Arial"/>
                <a:cs typeface="Arial"/>
              </a:rPr>
              <a:t>Drumming usually needs a physical kit</a:t>
            </a:r>
          </a:p>
          <a:p xmlns:a="http://schemas.openxmlformats.org/drawingml/2006/main">
            <a:pPr algn="l">
              <a:defRPr sz="3225" b="1">
                <a:solidFill>
                  <a:srgbClr val="F3F6FA"/>
                </a:solidFill>
                <a:latin typeface="Arial"/>
                <a:ea typeface="Arial"/>
                <a:cs typeface="Arial"/>
              </a:defRPr>
            </a:pPr>
            <a:r>
              <a:rPr sz="3225" b="1">
                <a:solidFill>
                  <a:srgbClr val="F3F6FA"/>
                </a:solidFill>
                <a:latin typeface="Arial"/>
                <a:ea typeface="Arial"/>
                <a:cs typeface="Arial"/>
              </a:rPr>
              <a:t>and room to use it.</a:t>
            </a:r>
          </a:p>
        </p:txBody>
      </p:sp>
      <p:sp>
        <p:nvSpPr>
          <p:cNvPr id="4" name="">
            <a:extLst xmlns:a="http://schemas.openxmlformats.org/drawingml/2006/main">
              <a:ext uri="{FF2B5EF4-FFF2-40B4-BE49-F238E27FC236}">
                <a16:creationId xmlns:a16="http://schemas.microsoft.com/office/drawing/2014/main" id="{E452B967-8147-45B6-9B9B-93967CE073DC}"/>
              </a:ext>
            </a:extLst>
          </p:cNvPr>
          <p:cNvSpPr>
            <a:spLocks xmlns:a="http://schemas.openxmlformats.org/drawingml/2006/main" noGrp="1"/>
          </p:cNvSpPr>
          <p:nvPr/>
        </p:nvSpPr>
        <p:spPr>
          <a:xfrm xmlns:a="http://schemas.openxmlformats.org/drawingml/2006/main">
            <a:off x="609600" y="333375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A more accessible starting point</a:t>
            </a:r>
          </a:p>
        </p:txBody>
      </p:sp>
      <p:sp>
        <p:nvSpPr>
          <p:cNvPr id="5" name="">
            <a:extLst xmlns:a="http://schemas.openxmlformats.org/drawingml/2006/main">
              <a:ext uri="{FF2B5EF4-FFF2-40B4-BE49-F238E27FC236}">
                <a16:creationId xmlns:a16="http://schemas.microsoft.com/office/drawing/2014/main" id="{A8937B77-9763-4975-B473-C98E93571D8D}"/>
              </a:ext>
            </a:extLst>
          </p:cNvPr>
          <p:cNvSpPr>
            <a:spLocks xmlns:a="http://schemas.openxmlformats.org/drawingml/2006/main" noGrp="1"/>
          </p:cNvSpPr>
          <p:nvPr/>
        </p:nvSpPr>
        <p:spPr>
          <a:xfrm xmlns:a="http://schemas.openxmlformats.org/drawingml/2006/main">
            <a:off x="609600" y="3790950"/>
            <a:ext cx="4857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3F6FA"/>
                </a:solidFill>
                <a:latin typeface="Arial"/>
                <a:ea typeface="Arial"/>
                <a:cs typeface="Arial"/>
              </a:defRPr>
            </a:defPPr>
          </a:lstStyle>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Explore drum gestures using a</a:t>
            </a:r>
          </a:p>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camera and local sounds.</a:t>
            </a:r>
          </a:p>
        </p:txBody>
      </p:sp>
      <p:sp>
        <p:nvSpPr>
          <p:cNvPr id="6" name="">
            <a:extLst xmlns:a="http://schemas.openxmlformats.org/drawingml/2006/main">
              <a:ext uri="{FF2B5EF4-FFF2-40B4-BE49-F238E27FC236}">
                <a16:creationId xmlns:a16="http://schemas.microsoft.com/office/drawing/2014/main" id="{A261721D-927A-4521-8D6B-DE13A7B05D7A}"/>
              </a:ext>
            </a:extLst>
          </p:cNvPr>
          <p:cNvSpPr>
            <a:spLocks xmlns:a="http://schemas.openxmlformats.org/drawingml/2006/main" noGrp="1"/>
          </p:cNvSpPr>
          <p:nvPr/>
        </p:nvSpPr>
        <p:spPr>
          <a:xfrm xmlns:a="http://schemas.openxmlformats.org/drawingml/2006/main">
            <a:off x="6400800" y="333375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The engineering problem</a:t>
            </a:r>
          </a:p>
        </p:txBody>
      </p:sp>
      <p:sp>
        <p:nvSpPr>
          <p:cNvPr id="7" name="">
            <a:extLst xmlns:a="http://schemas.openxmlformats.org/drawingml/2006/main">
              <a:ext uri="{FF2B5EF4-FFF2-40B4-BE49-F238E27FC236}">
                <a16:creationId xmlns:a16="http://schemas.microsoft.com/office/drawing/2014/main" id="{0FBFD9F8-4D44-42CB-AA4F-12E6DA0254D1}"/>
              </a:ext>
            </a:extLst>
          </p:cNvPr>
          <p:cNvSpPr>
            <a:spLocks xmlns:a="http://schemas.openxmlformats.org/drawingml/2006/main" noGrp="1"/>
          </p:cNvSpPr>
          <p:nvPr/>
        </p:nvSpPr>
        <p:spPr>
          <a:xfrm xmlns:a="http://schemas.openxmlformats.org/drawingml/2006/main">
            <a:off x="6400800" y="3790950"/>
            <a:ext cx="4857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3F6FA"/>
                </a:solidFill>
                <a:latin typeface="Arial"/>
                <a:ea typeface="Arial"/>
                <a:cs typeface="Arial"/>
              </a:defRPr>
            </a:defPPr>
          </a:lstStyle>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Recognize intended strikes.</a:t>
            </a:r>
          </a:p>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Understand the delay a player hears.</a:t>
            </a:r>
          </a:p>
        </p:txBody>
      </p:sp>
      <p:sp>
        <p:nvSpPr>
          <p:cNvPr id="8" name="">
            <a:extLst xmlns:a="http://schemas.openxmlformats.org/drawingml/2006/main">
              <a:ext uri="{FF2B5EF4-FFF2-40B4-BE49-F238E27FC236}">
                <a16:creationId xmlns:a16="http://schemas.microsoft.com/office/drawing/2014/main" id="{3122EDD5-2DB9-4EF8-BD26-2FA7E9EA372D}"/>
              </a:ext>
            </a:extLst>
          </p:cNvPr>
          <p:cNvSpPr>
            <a:spLocks xmlns:a="http://schemas.openxmlformats.org/drawingml/2006/main" noGrp="1"/>
          </p:cNvSpPr>
          <p:nvPr/>
        </p:nvSpPr>
        <p:spPr>
          <a:xfrm xmlns:a="http://schemas.openxmlformats.org/drawingml/2006/main">
            <a:off x="609600" y="5353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B69AFF"/>
                </a:solidFill>
                <a:latin typeface="Arial"/>
                <a:ea typeface="Arial"/>
                <a:cs typeface="Arial"/>
              </a:defRPr>
            </a:defPPr>
          </a:lstStyle>
          <a:p xmlns:a="http://schemas.openxmlformats.org/drawingml/2006/main">
            <a:pPr algn="l">
              <a:defRPr sz="2100" b="0">
                <a:solidFill>
                  <a:srgbClr val="B69AFF"/>
                </a:solidFill>
                <a:latin typeface="Arial"/>
                <a:ea typeface="Arial"/>
                <a:cs typeface="Arial"/>
              </a:defRPr>
            </a:pPr>
            <a:r>
              <a:rPr sz="2100" b="0">
                <a:solidFill>
                  <a:srgbClr val="B69AFF"/>
                </a:solidFill>
                <a:latin typeface="Arial"/>
                <a:ea typeface="Arial"/>
                <a:cs typeface="Arial"/>
              </a:rPr>
              <a:t>Research question: can causal motion prediction improve timing?</a:t>
            </a:r>
          </a:p>
        </p:txBody>
      </p:sp>
    </p:spTree>
    <p:extLst>
      <p:ext uri="{BB962C8B-B14F-4D97-AF65-F5344CB8AC3E}">
        <p14:creationId xmlns:p14="http://schemas.microsoft.com/office/powerpoint/2010/main" val="628629196"/>
      </p:ext>
    </p:extLst>
  </p:cSld>
</p:sld>
</file>

<file path=ppt/slides/slide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A9B245-345D-496A-AD60-0639409C4FFD}"/>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6FA"/>
                </a:solidFill>
                <a:latin typeface="Arial"/>
                <a:ea typeface="Arial"/>
                <a:cs typeface="Arial"/>
              </a:defRPr>
            </a:defPPr>
          </a:lstStyle>
          <a:p xmlns:a="http://schemas.openxmlformats.org/drawingml/2006/main">
            <a:pPr algn="l">
              <a:defRPr sz="3450" b="1">
                <a:solidFill>
                  <a:srgbClr val="F3F6FA"/>
                </a:solidFill>
                <a:latin typeface="Arial"/>
                <a:ea typeface="Arial"/>
                <a:cs typeface="Arial"/>
              </a:defRPr>
            </a:pPr>
            <a:r>
              <a:rPr sz="3450" b="1">
                <a:solidFill>
                  <a:srgbClr val="F3F6FA"/>
                </a:solidFill>
                <a:latin typeface="Arial"/>
                <a:ea typeface="Arial"/>
                <a:cs typeface="Arial"/>
              </a:rPr>
              <a:t>Proposed solution and current scope</a:t>
            </a:r>
          </a:p>
        </p:txBody>
      </p:sp>
      <p:sp>
        <p:nvSpPr>
          <p:cNvPr id="2" name="">
            <a:extLst xmlns:a="http://schemas.openxmlformats.org/drawingml/2006/main">
              <a:ext uri="{FF2B5EF4-FFF2-40B4-BE49-F238E27FC236}">
                <a16:creationId xmlns:a16="http://schemas.microsoft.com/office/drawing/2014/main" id="{85D520A3-4521-4BDC-B2EF-868A287535A4}"/>
              </a:ext>
            </a:extLst>
          </p:cNvPr>
          <p:cNvSpPr>
            <a:spLocks xmlns:a="http://schemas.openxmlformats.org/drawingml/2006/main" noGrp="1"/>
          </p:cNvSpPr>
          <p:nvPr/>
        </p:nvSpPr>
        <p:spPr>
          <a:xfrm xmlns:a="http://schemas.openxmlformats.org/drawingml/2006/main">
            <a:off x="1116330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B6C5D8"/>
                </a:solidFill>
                <a:latin typeface="Arial"/>
                <a:ea typeface="Arial"/>
                <a:cs typeface="Arial"/>
              </a:defRPr>
            </a:defPPr>
          </a:lstStyle>
          <a:p xmlns:a="http://schemas.openxmlformats.org/drawingml/2006/main">
            <a:pPr algn="r">
              <a:defRPr sz="1425" b="0">
                <a:solidFill>
                  <a:srgbClr val="B6C5D8"/>
                </a:solidFill>
                <a:latin typeface="Arial"/>
                <a:ea typeface="Arial"/>
                <a:cs typeface="Arial"/>
              </a:defRPr>
            </a:pPr>
            <a:r>
              <a:rPr sz="1425" b="0">
                <a:solidFill>
                  <a:srgbClr val="B6C5D8"/>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6898BC20-2B72-4EA1-BA21-C8D4B150C6EC}"/>
              </a:ext>
            </a:extLst>
          </p:cNvPr>
          <p:cNvSpPr>
            <a:spLocks xmlns:a="http://schemas.openxmlformats.org/drawingml/2006/main" noGrp="1"/>
          </p:cNvSpPr>
          <p:nvPr/>
        </p:nvSpPr>
        <p:spPr>
          <a:xfrm xmlns:a="http://schemas.openxmlformats.org/drawingml/2006/main">
            <a:off x="609600" y="15240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49DDEB"/>
                </a:solidFill>
                <a:latin typeface="Arial"/>
                <a:ea typeface="Arial"/>
                <a:cs typeface="Arial"/>
              </a:defRPr>
            </a:defPPr>
          </a:lstStyle>
          <a:p xmlns:a="http://schemas.openxmlformats.org/drawingml/2006/main">
            <a:pPr algn="l">
              <a:defRPr sz="2400" b="1">
                <a:solidFill>
                  <a:srgbClr val="49DDEB"/>
                </a:solidFill>
                <a:latin typeface="Arial"/>
                <a:ea typeface="Arial"/>
                <a:cs typeface="Arial"/>
              </a:defRPr>
            </a:pPr>
            <a:r>
              <a:rPr sz="2400" b="1">
                <a:solidFill>
                  <a:srgbClr val="49DDEB"/>
                </a:solidFill>
                <a:latin typeface="Arial"/>
                <a:ea typeface="Arial"/>
                <a:cs typeface="Arial"/>
              </a:rPr>
              <a:t>Implemented prototype</a:t>
            </a:r>
          </a:p>
        </p:txBody>
      </p:sp>
      <p:sp>
        <p:nvSpPr>
          <p:cNvPr id="4" name="">
            <a:extLst xmlns:a="http://schemas.openxmlformats.org/drawingml/2006/main">
              <a:ext uri="{FF2B5EF4-FFF2-40B4-BE49-F238E27FC236}">
                <a16:creationId xmlns:a16="http://schemas.microsoft.com/office/drawing/2014/main" id="{09F12CC4-1153-4269-AA4D-829666312F8B}"/>
              </a:ext>
            </a:extLst>
          </p:cNvPr>
          <p:cNvSpPr>
            <a:spLocks xmlns:a="http://schemas.openxmlformats.org/drawingml/2006/main" noGrp="1"/>
          </p:cNvSpPr>
          <p:nvPr/>
        </p:nvSpPr>
        <p:spPr>
          <a:xfrm xmlns:a="http://schemas.openxmlformats.org/drawingml/2006/main">
            <a:off x="609600" y="2181225"/>
            <a:ext cx="519112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3F6FA"/>
                </a:solidFill>
                <a:latin typeface="Arial"/>
                <a:ea typeface="Arial"/>
                <a:cs typeface="Arial"/>
              </a:defRPr>
            </a:defPPr>
          </a:lstStyle>
          <a:p xmlns:a="http://schemas.openxmlformats.org/drawingml/2006/main">
            <a:pPr algn="l">
              <a:defRPr sz="2175" b="0">
                <a:solidFill>
                  <a:srgbClr val="F3F6FA"/>
                </a:solidFill>
                <a:latin typeface="Arial"/>
                <a:ea typeface="Arial"/>
                <a:cs typeface="Arial"/>
              </a:defRPr>
            </a:pPr>
            <a:r>
              <a:rPr sz="2175" b="0">
                <a:solidFill>
                  <a:srgbClr val="F3F6FA"/>
                </a:solidFill>
                <a:latin typeface="Arial"/>
                <a:ea typeface="Arial"/>
                <a:cs typeface="Arial"/>
              </a:rPr>
              <a:t>Camera and recorded-frame input</a:t>
            </a:r>
          </a:p>
          <a:p xmlns:a="http://schemas.openxmlformats.org/drawingml/2006/main">
            <a:pPr algn="l">
              <a:defRPr sz="2175" b="0">
                <a:solidFill>
                  <a:srgbClr val="F3F6FA"/>
                </a:solidFill>
                <a:latin typeface="Arial"/>
                <a:ea typeface="Arial"/>
                <a:cs typeface="Arial"/>
              </a:defRPr>
            </a:pPr>
            <a:r>
              <a:rPr sz="2175" b="0">
                <a:solidFill>
                  <a:srgbClr val="F3F6FA"/>
                </a:solidFill>
                <a:latin typeface="Arial"/>
                <a:ea typeface="Arial"/>
                <a:cs typeface="Arial"/>
              </a:rPr>
              <a:t>Hand or stick-tip measurements</a:t>
            </a:r>
          </a:p>
          <a:p xmlns:a="http://schemas.openxmlformats.org/drawingml/2006/main">
            <a:pPr algn="l">
              <a:defRPr sz="2175" b="0">
                <a:solidFill>
                  <a:srgbClr val="F3F6FA"/>
                </a:solidFill>
                <a:latin typeface="Arial"/>
                <a:ea typeface="Arial"/>
                <a:cs typeface="Arial"/>
              </a:defRPr>
            </a:pPr>
            <a:r>
              <a:rPr sz="2175" b="0">
                <a:solidFill>
                  <a:srgbClr val="F3F6FA"/>
                </a:solidFill>
                <a:latin typeface="Arial"/>
                <a:ea typeface="Arial"/>
                <a:cs typeface="Arial"/>
              </a:rPr>
              <a:t>Virtual zones and strike gates</a:t>
            </a:r>
          </a:p>
          <a:p xmlns:a="http://schemas.openxmlformats.org/drawingml/2006/main">
            <a:pPr algn="l">
              <a:defRPr sz="2175" b="0">
                <a:solidFill>
                  <a:srgbClr val="F3F6FA"/>
                </a:solidFill>
                <a:latin typeface="Arial"/>
                <a:ea typeface="Arial"/>
                <a:cs typeface="Arial"/>
              </a:defRPr>
            </a:pPr>
            <a:r>
              <a:rPr sz="2175" b="0">
                <a:solidFill>
                  <a:srgbClr val="F3F6FA"/>
                </a:solidFill>
                <a:latin typeface="Arial"/>
                <a:ea typeface="Arial"/>
                <a:cs typeface="Arial"/>
              </a:rPr>
              <a:t>Local sounds and desktop feedback</a:t>
            </a:r>
          </a:p>
        </p:txBody>
      </p:sp>
      <p:sp>
        <p:nvSpPr>
          <p:cNvPr id="5" name="">
            <a:extLst xmlns:a="http://schemas.openxmlformats.org/drawingml/2006/main">
              <a:ext uri="{FF2B5EF4-FFF2-40B4-BE49-F238E27FC236}">
                <a16:creationId xmlns:a16="http://schemas.microsoft.com/office/drawing/2014/main" id="{71F299B1-C1A0-431D-AC43-49BDD6E7B8F0}"/>
              </a:ext>
            </a:extLst>
          </p:cNvPr>
          <p:cNvSpPr>
            <a:spLocks xmlns:a="http://schemas.openxmlformats.org/drawingml/2006/main" noGrp="1"/>
          </p:cNvSpPr>
          <p:nvPr/>
        </p:nvSpPr>
        <p:spPr>
          <a:xfrm xmlns:a="http://schemas.openxmlformats.org/drawingml/2006/main">
            <a:off x="6477000" y="15240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B69AFF"/>
                </a:solidFill>
                <a:latin typeface="Arial"/>
                <a:ea typeface="Arial"/>
                <a:cs typeface="Arial"/>
              </a:defRPr>
            </a:defPPr>
          </a:lstStyle>
          <a:p xmlns:a="http://schemas.openxmlformats.org/drawingml/2006/main">
            <a:pPr algn="l">
              <a:defRPr sz="2400" b="1">
                <a:solidFill>
                  <a:srgbClr val="B69AFF"/>
                </a:solidFill>
                <a:latin typeface="Arial"/>
                <a:ea typeface="Arial"/>
                <a:cs typeface="Arial"/>
              </a:defRPr>
            </a:pPr>
            <a:r>
              <a:rPr sz="2400" b="1">
                <a:solidFill>
                  <a:srgbClr val="B69AFF"/>
                </a:solidFill>
                <a:latin typeface="Arial"/>
                <a:ea typeface="Arial"/>
                <a:cs typeface="Arial"/>
              </a:rPr>
              <a:t>Still needs validation</a:t>
            </a:r>
          </a:p>
        </p:txBody>
      </p:sp>
      <p:sp>
        <p:nvSpPr>
          <p:cNvPr id="6" name="">
            <a:extLst xmlns:a="http://schemas.openxmlformats.org/drawingml/2006/main">
              <a:ext uri="{FF2B5EF4-FFF2-40B4-BE49-F238E27FC236}">
                <a16:creationId xmlns:a16="http://schemas.microsoft.com/office/drawing/2014/main" id="{22FE45FB-C594-4E0C-9863-7DA15D7C6C39}"/>
              </a:ext>
            </a:extLst>
          </p:cNvPr>
          <p:cNvSpPr>
            <a:spLocks xmlns:a="http://schemas.openxmlformats.org/drawingml/2006/main" noGrp="1"/>
          </p:cNvSpPr>
          <p:nvPr/>
        </p:nvSpPr>
        <p:spPr>
          <a:xfrm xmlns:a="http://schemas.openxmlformats.org/drawingml/2006/main">
            <a:off x="6477000" y="2181225"/>
            <a:ext cx="509587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3F6FA"/>
                </a:solidFill>
                <a:latin typeface="Arial"/>
                <a:ea typeface="Arial"/>
                <a:cs typeface="Arial"/>
              </a:defRPr>
            </a:defPPr>
          </a:lstStyle>
          <a:p xmlns:a="http://schemas.openxmlformats.org/drawingml/2006/main">
            <a:pPr algn="l">
              <a:defRPr sz="2175" b="0">
                <a:solidFill>
                  <a:srgbClr val="F3F6FA"/>
                </a:solidFill>
                <a:latin typeface="Arial"/>
                <a:ea typeface="Arial"/>
                <a:cs typeface="Arial"/>
              </a:defRPr>
            </a:pPr>
            <a:r>
              <a:rPr sz="2175" b="0">
                <a:solidFill>
                  <a:srgbClr val="F3F6FA"/>
                </a:solidFill>
                <a:latin typeface="Arial"/>
                <a:ea typeface="Arial"/>
                <a:cs typeface="Arial"/>
              </a:rPr>
              <a:t>Reliable play across lighting</a:t>
            </a:r>
          </a:p>
          <a:p xmlns:a="http://schemas.openxmlformats.org/drawingml/2006/main">
            <a:pPr algn="l">
              <a:defRPr sz="2175" b="0">
                <a:solidFill>
                  <a:srgbClr val="F3F6FA"/>
                </a:solidFill>
                <a:latin typeface="Arial"/>
                <a:ea typeface="Arial"/>
                <a:cs typeface="Arial"/>
              </a:defRPr>
            </a:pPr>
            <a:r>
              <a:rPr sz="2175" b="0">
                <a:solidFill>
                  <a:srgbClr val="F3F6FA"/>
                </a:solidFill>
                <a:latin typeface="Arial"/>
                <a:ea typeface="Arial"/>
                <a:cs typeface="Arial"/>
              </a:rPr>
              <a:t>Independent calibration checks</a:t>
            </a:r>
          </a:p>
          <a:p xmlns:a="http://schemas.openxmlformats.org/drawingml/2006/main">
            <a:pPr algn="l">
              <a:defRPr sz="2175" b="0">
                <a:solidFill>
                  <a:srgbClr val="F3F6FA"/>
                </a:solidFill>
                <a:latin typeface="Arial"/>
                <a:ea typeface="Arial"/>
                <a:cs typeface="Arial"/>
              </a:defRPr>
            </a:pPr>
            <a:r>
              <a:rPr sz="2175" b="0">
                <a:solidFill>
                  <a:srgbClr val="F3F6FA"/>
                </a:solidFill>
                <a:latin typeface="Arial"/>
                <a:ea typeface="Arial"/>
                <a:cs typeface="Arial"/>
              </a:rPr>
              <a:t>Intended drum and hit accuracy</a:t>
            </a:r>
          </a:p>
          <a:p xmlns:a="http://schemas.openxmlformats.org/drawingml/2006/main">
            <a:pPr algn="l">
              <a:defRPr sz="2175" b="0">
                <a:solidFill>
                  <a:srgbClr val="F3F6FA"/>
                </a:solidFill>
                <a:latin typeface="Arial"/>
                <a:ea typeface="Arial"/>
                <a:cs typeface="Arial"/>
              </a:defRPr>
            </a:pPr>
            <a:r>
              <a:rPr sz="2175" b="0">
                <a:solidFill>
                  <a:srgbClr val="F3F6FA"/>
                </a:solidFill>
                <a:latin typeface="Arial"/>
                <a:ea typeface="Arial"/>
                <a:cs typeface="Arial"/>
              </a:rPr>
              <a:t>Physical action-to-sound latency</a:t>
            </a:r>
          </a:p>
        </p:txBody>
      </p:sp>
      <p:sp>
        <p:nvSpPr>
          <p:cNvPr id="7" name="">
            <a:extLst xmlns:a="http://schemas.openxmlformats.org/drawingml/2006/main">
              <a:ext uri="{FF2B5EF4-FFF2-40B4-BE49-F238E27FC236}">
                <a16:creationId xmlns:a16="http://schemas.microsoft.com/office/drawing/2014/main" id="{E6AA154F-9B5F-4156-8213-C58F3D8B5553}"/>
              </a:ext>
            </a:extLst>
          </p:cNvPr>
          <p:cNvSpPr>
            <a:spLocks xmlns:a="http://schemas.openxmlformats.org/drawingml/2006/main" noGrp="1"/>
          </p:cNvSpPr>
          <p:nvPr/>
        </p:nvSpPr>
        <p:spPr>
          <a:xfrm xmlns:a="http://schemas.openxmlformats.org/drawingml/2006/main">
            <a:off x="609600" y="53149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FD27A"/>
                </a:solidFill>
                <a:latin typeface="Arial"/>
                <a:ea typeface="Arial"/>
                <a:cs typeface="Arial"/>
              </a:defRPr>
            </a:defPPr>
          </a:lstStyle>
          <a:p xmlns:a="http://schemas.openxmlformats.org/drawingml/2006/main">
            <a:pPr algn="l">
              <a:defRPr sz="2100" b="0">
                <a:solidFill>
                  <a:srgbClr val="FFD27A"/>
                </a:solidFill>
                <a:latin typeface="Arial"/>
                <a:ea typeface="Arial"/>
                <a:cs typeface="Arial"/>
              </a:defRPr>
            </a:pPr>
            <a:r>
              <a:rPr sz="2100" b="0">
                <a:solidFill>
                  <a:srgbClr val="FFD27A"/>
                </a:solidFill>
                <a:latin typeface="Arial"/>
                <a:ea typeface="Arial"/>
                <a:cs typeface="Arial"/>
              </a:rPr>
              <a:t>Mobile implementation and approved scope remain unresolved.</a:t>
            </a:r>
          </a:p>
        </p:txBody>
      </p:sp>
    </p:spTree>
    <p:extLst>
      <p:ext uri="{BB962C8B-B14F-4D97-AF65-F5344CB8AC3E}">
        <p14:creationId xmlns:p14="http://schemas.microsoft.com/office/powerpoint/2010/main" val="799179727"/>
      </p:ext>
    </p:extLst>
  </p:cSld>
</p:sld>
</file>

<file path=ppt/slides/slide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CBC698A8-5D1D-4FA7-BADC-D31651DFBEEB}"/>
              </a:ext>
            </a:extLst>
          </p:cNvPr>
          <p:cNvCxnSpPr>
            <a:stCxn xmlns:a="http://schemas.openxmlformats.org/drawingml/2006/main" id="16" idx="1"/>
            <a:endCxn xmlns:a="http://schemas.openxmlformats.org/drawingml/2006/main" id="19" idx="3"/>
          </p:cNvCxnSpPr>
          <p:nvPr/>
        </p:nvCxnSpPr>
        <p:spPr>
          <a:xfrm xmlns:a="http://schemas.openxmlformats.org/drawingml/2006/main" flipH="1">
            <a:off x="3562350" y="4333875"/>
            <a:ext cx="1047750" cy="0"/>
          </a:xfrm>
          <a:prstGeom xmlns:a="http://schemas.openxmlformats.org/drawingml/2006/main" prst="straightConnector1">
            <a:avLst/>
          </a:prstGeom>
          <a:ln xmlns:a="http://schemas.openxmlformats.org/drawingml/2006/main" w="28575">
            <a:solidFill>
              <a:srgbClr val="49DDEB"/>
            </a:solidFill>
            <a:tailEnd type="triangle" w="med" len="med"/>
          </a:ln>
        </p:spPr>
      </p:cxnSp>
      <p:cxnSp>
        <p:nvCxnSpPr>
          <p:cNvPr id="25" name="">
            <a:extLst xmlns:a="http://schemas.openxmlformats.org/drawingml/2006/main">
              <a:ext uri="{FF2B5EF4-FFF2-40B4-BE49-F238E27FC236}">
                <a16:creationId xmlns:a16="http://schemas.microsoft.com/office/drawing/2014/main" id="{0938C94B-EE4C-485F-A234-86FA9F7833FF}"/>
              </a:ext>
            </a:extLst>
          </p:cNvPr>
          <p:cNvCxnSpPr>
            <a:stCxn xmlns:a="http://schemas.openxmlformats.org/drawingml/2006/main" id="13" idx="1"/>
            <a:endCxn xmlns:a="http://schemas.openxmlformats.org/drawingml/2006/main" id="16" idx="3"/>
          </p:cNvCxnSpPr>
          <p:nvPr/>
        </p:nvCxnSpPr>
        <p:spPr>
          <a:xfrm xmlns:a="http://schemas.openxmlformats.org/drawingml/2006/main" flipH="1">
            <a:off x="7562850" y="4333875"/>
            <a:ext cx="1047750" cy="0"/>
          </a:xfrm>
          <a:prstGeom xmlns:a="http://schemas.openxmlformats.org/drawingml/2006/main" prst="straightConnector1">
            <a:avLst/>
          </a:prstGeom>
          <a:ln xmlns:a="http://schemas.openxmlformats.org/drawingml/2006/main" w="28575">
            <a:solidFill>
              <a:srgbClr val="49DDEB"/>
            </a:solidFill>
            <a:tailEnd type="triangle" w="med" len="med"/>
          </a:ln>
        </p:spPr>
      </p:cxnSp>
      <p:cxnSp>
        <p:nvCxnSpPr>
          <p:cNvPr id="24" name="">
            <a:extLst xmlns:a="http://schemas.openxmlformats.org/drawingml/2006/main">
              <a:ext uri="{FF2B5EF4-FFF2-40B4-BE49-F238E27FC236}">
                <a16:creationId xmlns:a16="http://schemas.microsoft.com/office/drawing/2014/main" id="{A7B27408-9999-47A4-BD4B-B988935EE5AB}"/>
              </a:ext>
            </a:extLst>
          </p:cNvPr>
          <p:cNvCxnSpPr>
            <a:stCxn xmlns:a="http://schemas.openxmlformats.org/drawingml/2006/main" id="10" idx="2"/>
            <a:endCxn xmlns:a="http://schemas.openxmlformats.org/drawingml/2006/main" id="13" idx="0"/>
          </p:cNvCxnSpPr>
          <p:nvPr/>
        </p:nvCxnSpPr>
        <p:spPr>
          <a:xfrm xmlns:a="http://schemas.openxmlformats.org/drawingml/2006/main">
            <a:off x="10086975" y="2952750"/>
            <a:ext cx="0" cy="762000"/>
          </a:xfrm>
          <a:prstGeom xmlns:a="http://schemas.openxmlformats.org/drawingml/2006/main" prst="straightConnector1">
            <a:avLst/>
          </a:prstGeom>
          <a:ln xmlns:a="http://schemas.openxmlformats.org/drawingml/2006/main" w="28575">
            <a:solidFill>
              <a:srgbClr val="49DDEB"/>
            </a:solidFill>
            <a:tailEnd type="triangle" w="med" len="med"/>
          </a:ln>
        </p:spPr>
      </p:cxnSp>
      <p:cxnSp>
        <p:nvCxnSpPr>
          <p:cNvPr id="23" name="">
            <a:extLst xmlns:a="http://schemas.openxmlformats.org/drawingml/2006/main">
              <a:ext uri="{FF2B5EF4-FFF2-40B4-BE49-F238E27FC236}">
                <a16:creationId xmlns:a16="http://schemas.microsoft.com/office/drawing/2014/main" id="{E1362871-CAFB-4EBC-909B-EA7FC1A8F16F}"/>
              </a:ext>
            </a:extLst>
          </p:cNvPr>
          <p:cNvCxnSpPr>
            <a:stCxn xmlns:a="http://schemas.openxmlformats.org/drawingml/2006/main" id="7" idx="3"/>
            <a:endCxn xmlns:a="http://schemas.openxmlformats.org/drawingml/2006/main" id="10" idx="1"/>
          </p:cNvCxnSpPr>
          <p:nvPr/>
        </p:nvCxnSpPr>
        <p:spPr>
          <a:xfrm xmlns:a="http://schemas.openxmlformats.org/drawingml/2006/main">
            <a:off x="7562850" y="2333625"/>
            <a:ext cx="1047750" cy="0"/>
          </a:xfrm>
          <a:prstGeom xmlns:a="http://schemas.openxmlformats.org/drawingml/2006/main" prst="straightConnector1">
            <a:avLst/>
          </a:prstGeom>
          <a:ln xmlns:a="http://schemas.openxmlformats.org/drawingml/2006/main" w="28575">
            <a:solidFill>
              <a:srgbClr val="49DDEB"/>
            </a:solidFill>
            <a:tailEnd type="triangle" w="med" len="med"/>
          </a:ln>
        </p:spPr>
      </p:cxnSp>
      <p:cxnSp>
        <p:nvCxnSpPr>
          <p:cNvPr id="22" name="">
            <a:extLst xmlns:a="http://schemas.openxmlformats.org/drawingml/2006/main">
              <a:ext uri="{FF2B5EF4-FFF2-40B4-BE49-F238E27FC236}">
                <a16:creationId xmlns:a16="http://schemas.microsoft.com/office/drawing/2014/main" id="{A6744EF4-2285-44D8-B9B9-7B162C5EDABA}"/>
              </a:ext>
            </a:extLst>
          </p:cNvPr>
          <p:cNvCxnSpPr>
            <a:stCxn xmlns:a="http://schemas.openxmlformats.org/drawingml/2006/main" id="4" idx="3"/>
            <a:endCxn xmlns:a="http://schemas.openxmlformats.org/drawingml/2006/main" id="7" idx="1"/>
          </p:cNvCxnSpPr>
          <p:nvPr/>
        </p:nvCxnSpPr>
        <p:spPr>
          <a:xfrm xmlns:a="http://schemas.openxmlformats.org/drawingml/2006/main">
            <a:off x="3562350" y="2333625"/>
            <a:ext cx="1047750" cy="0"/>
          </a:xfrm>
          <a:prstGeom xmlns:a="http://schemas.openxmlformats.org/drawingml/2006/main" prst="straightConnector1">
            <a:avLst/>
          </a:prstGeom>
          <a:ln xmlns:a="http://schemas.openxmlformats.org/drawingml/2006/main" w="28575">
            <a:solidFill>
              <a:srgbClr val="49DDEB"/>
            </a:solidFill>
            <a:tailEnd type="triangle" w="med" len="med"/>
          </a:ln>
        </p:spPr>
      </p:cxnSp>
      <p:sp>
        <p:nvSpPr>
          <p:cNvPr id="28" name="">
            <a:extLst xmlns:a="http://schemas.openxmlformats.org/drawingml/2006/main">
              <a:ext uri="{FF2B5EF4-FFF2-40B4-BE49-F238E27FC236}">
                <a16:creationId xmlns:a16="http://schemas.microsoft.com/office/drawing/2014/main" id="{7ACA5EE2-4ABC-49AC-B72D-DFFD6CFB6C9E}"/>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6FA"/>
                </a:solidFill>
                <a:latin typeface="Arial"/>
                <a:ea typeface="Arial"/>
                <a:cs typeface="Arial"/>
              </a:defRPr>
            </a:defPPr>
          </a:lstStyle>
          <a:p xmlns:a="http://schemas.openxmlformats.org/drawingml/2006/main">
            <a:pPr algn="l">
              <a:defRPr sz="3450" b="1">
                <a:solidFill>
                  <a:srgbClr val="F3F6FA"/>
                </a:solidFill>
                <a:latin typeface="Arial"/>
                <a:ea typeface="Arial"/>
                <a:cs typeface="Arial"/>
              </a:defRPr>
            </a:pPr>
            <a:r>
              <a:rPr sz="3450" b="1">
                <a:solidFill>
                  <a:srgbClr val="F3F6FA"/>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A8EEE23D-41A3-4BB4-B702-8E52BAB35EDE}"/>
              </a:ext>
            </a:extLst>
          </p:cNvPr>
          <p:cNvSpPr>
            <a:spLocks xmlns:a="http://schemas.openxmlformats.org/drawingml/2006/main" noGrp="1"/>
          </p:cNvSpPr>
          <p:nvPr/>
        </p:nvSpPr>
        <p:spPr>
          <a:xfrm xmlns:a="http://schemas.openxmlformats.org/drawingml/2006/main">
            <a:off x="1116330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B6C5D8"/>
                </a:solidFill>
                <a:latin typeface="Arial"/>
                <a:ea typeface="Arial"/>
                <a:cs typeface="Arial"/>
              </a:defRPr>
            </a:defPPr>
          </a:lstStyle>
          <a:p xmlns:a="http://schemas.openxmlformats.org/drawingml/2006/main">
            <a:pPr algn="r">
              <a:defRPr sz="1425" b="0">
                <a:solidFill>
                  <a:srgbClr val="B6C5D8"/>
                </a:solidFill>
                <a:latin typeface="Arial"/>
                <a:ea typeface="Arial"/>
                <a:cs typeface="Arial"/>
              </a:defRPr>
            </a:pPr>
            <a:r>
              <a:rPr sz="1425" b="0">
                <a:solidFill>
                  <a:srgbClr val="B6C5D8"/>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8AEEEEAF-B97B-43EC-836F-2D599CFD08D0}"/>
              </a:ext>
            </a:extLst>
          </p:cNvPr>
          <p:cNvSpPr>
            <a:spLocks xmlns:a="http://schemas.openxmlformats.org/drawingml/2006/main" noGrp="1"/>
          </p:cNvSpPr>
          <p:nvPr/>
        </p:nvSpPr>
        <p:spPr>
          <a:xfrm xmlns:a="http://schemas.openxmlformats.org/drawingml/2006/main">
            <a:off x="609600" y="6229350"/>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6C5D8"/>
                </a:solidFill>
                <a:latin typeface="Arial"/>
                <a:ea typeface="Arial"/>
                <a:cs typeface="Arial"/>
              </a:defRPr>
            </a:defPPr>
          </a:lstStyle>
          <a:p xmlns:a="http://schemas.openxmlformats.org/drawingml/2006/main">
            <a:pPr algn="l">
              <a:defRPr sz="1275" b="0">
                <a:solidFill>
                  <a:srgbClr val="B6C5D8"/>
                </a:solidFill>
                <a:latin typeface="Arial"/>
                <a:ea typeface="Arial"/>
                <a:cs typeface="Arial"/>
              </a:defRPr>
            </a:pPr>
            <a:r>
              <a:rPr sz="1275" b="0">
                <a:solidFill>
                  <a:srgbClr val="B6C5D8"/>
                </a:solidFill>
                <a:latin typeface="Arial"/>
                <a:ea typeface="Arial"/>
                <a:cs typeface="Arial"/>
              </a:rPr>
              <a:t>Current product path: local processing, measured Arm A</a:t>
            </a:r>
          </a:p>
        </p:txBody>
      </p:sp>
      <p:sp>
        <p:nvSpPr>
          <p:cNvPr id="4" name="">
            <a:extLst xmlns:a="http://schemas.openxmlformats.org/drawingml/2006/main">
              <a:ext uri="{FF2B5EF4-FFF2-40B4-BE49-F238E27FC236}">
                <a16:creationId xmlns:a16="http://schemas.microsoft.com/office/drawing/2014/main" id="{71C40828-BC9A-420F-9341-F54F45A3EBF5}"/>
              </a:ext>
            </a:extLst>
          </p:cNvPr>
          <p:cNvSpPr>
            <a:spLocks xmlns:a="http://schemas.openxmlformats.org/drawingml/2006/main" noGrp="1"/>
          </p:cNvSpPr>
          <p:nvPr/>
        </p:nvSpPr>
        <p:spPr>
          <a:xfrm xmlns:a="http://schemas.openxmlformats.org/drawingml/2006/main">
            <a:off x="609600" y="1714500"/>
            <a:ext cx="2952750" cy="1238250"/>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5" name="">
            <a:extLst xmlns:a="http://schemas.openxmlformats.org/drawingml/2006/main">
              <a:ext uri="{FF2B5EF4-FFF2-40B4-BE49-F238E27FC236}">
                <a16:creationId xmlns:a16="http://schemas.microsoft.com/office/drawing/2014/main" id="{CDF1E775-DAE1-428C-92AA-68507FCE4F35}"/>
              </a:ext>
            </a:extLst>
          </p:cNvPr>
          <p:cNvSpPr>
            <a:spLocks xmlns:a="http://schemas.openxmlformats.org/drawingml/2006/main" noGrp="1"/>
          </p:cNvSpPr>
          <p:nvPr/>
        </p:nvSpPr>
        <p:spPr>
          <a:xfrm xmlns:a="http://schemas.openxmlformats.org/drawingml/2006/main">
            <a:off x="781050" y="1876425"/>
            <a:ext cx="2609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Camera / replay</a:t>
            </a:r>
          </a:p>
        </p:txBody>
      </p:sp>
      <p:sp>
        <p:nvSpPr>
          <p:cNvPr id="6" name="">
            <a:extLst xmlns:a="http://schemas.openxmlformats.org/drawingml/2006/main">
              <a:ext uri="{FF2B5EF4-FFF2-40B4-BE49-F238E27FC236}">
                <a16:creationId xmlns:a16="http://schemas.microsoft.com/office/drawing/2014/main" id="{AD47C336-0251-40B4-9DE6-C48446A6435F}"/>
              </a:ext>
            </a:extLst>
          </p:cNvPr>
          <p:cNvSpPr>
            <a:spLocks xmlns:a="http://schemas.openxmlformats.org/drawingml/2006/main" noGrp="1"/>
          </p:cNvSpPr>
          <p:nvPr/>
        </p:nvSpPr>
        <p:spPr>
          <a:xfrm xmlns:a="http://schemas.openxmlformats.org/drawingml/2006/main">
            <a:off x="781050" y="2305050"/>
            <a:ext cx="260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Frame pixels + timestamps</a:t>
            </a:r>
          </a:p>
        </p:txBody>
      </p:sp>
      <p:sp>
        <p:nvSpPr>
          <p:cNvPr id="7" name="">
            <a:extLst xmlns:a="http://schemas.openxmlformats.org/drawingml/2006/main">
              <a:ext uri="{FF2B5EF4-FFF2-40B4-BE49-F238E27FC236}">
                <a16:creationId xmlns:a16="http://schemas.microsoft.com/office/drawing/2014/main" id="{295BFCE3-61A7-4862-8B4F-CBDC868E6A45}"/>
              </a:ext>
            </a:extLst>
          </p:cNvPr>
          <p:cNvSpPr>
            <a:spLocks xmlns:a="http://schemas.openxmlformats.org/drawingml/2006/main" noGrp="1"/>
          </p:cNvSpPr>
          <p:nvPr/>
        </p:nvSpPr>
        <p:spPr>
          <a:xfrm xmlns:a="http://schemas.openxmlformats.org/drawingml/2006/main">
            <a:off x="4610100" y="1714500"/>
            <a:ext cx="2952750" cy="1238250"/>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8" name="">
            <a:extLst xmlns:a="http://schemas.openxmlformats.org/drawingml/2006/main">
              <a:ext uri="{FF2B5EF4-FFF2-40B4-BE49-F238E27FC236}">
                <a16:creationId xmlns:a16="http://schemas.microsoft.com/office/drawing/2014/main" id="{FB0A5B56-153C-4AC3-9151-B60FDF0E8DAA}"/>
              </a:ext>
            </a:extLst>
          </p:cNvPr>
          <p:cNvSpPr>
            <a:spLocks xmlns:a="http://schemas.openxmlformats.org/drawingml/2006/main" noGrp="1"/>
          </p:cNvSpPr>
          <p:nvPr/>
        </p:nvSpPr>
        <p:spPr>
          <a:xfrm xmlns:a="http://schemas.openxmlformats.org/drawingml/2006/main">
            <a:off x="4781550" y="1876425"/>
            <a:ext cx="2609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Vision</a:t>
            </a:r>
          </a:p>
        </p:txBody>
      </p:sp>
      <p:sp>
        <p:nvSpPr>
          <p:cNvPr id="9" name="">
            <a:extLst xmlns:a="http://schemas.openxmlformats.org/drawingml/2006/main">
              <a:ext uri="{FF2B5EF4-FFF2-40B4-BE49-F238E27FC236}">
                <a16:creationId xmlns:a16="http://schemas.microsoft.com/office/drawing/2014/main" id="{375DB7F1-91E0-4268-B739-B1B58BBE3673}"/>
              </a:ext>
            </a:extLst>
          </p:cNvPr>
          <p:cNvSpPr>
            <a:spLocks xmlns:a="http://schemas.openxmlformats.org/drawingml/2006/main" noGrp="1"/>
          </p:cNvSpPr>
          <p:nvPr/>
        </p:nvSpPr>
        <p:spPr>
          <a:xfrm xmlns:a="http://schemas.openxmlformats.org/drawingml/2006/main">
            <a:off x="4781550" y="2305050"/>
            <a:ext cx="260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HAND / visible stick / red tip</a:t>
            </a:r>
          </a:p>
        </p:txBody>
      </p:sp>
      <p:sp>
        <p:nvSpPr>
          <p:cNvPr id="10" name="">
            <a:extLst xmlns:a="http://schemas.openxmlformats.org/drawingml/2006/main">
              <a:ext uri="{FF2B5EF4-FFF2-40B4-BE49-F238E27FC236}">
                <a16:creationId xmlns:a16="http://schemas.microsoft.com/office/drawing/2014/main" id="{CC5FD87C-2CE4-4494-B84E-E5F11880E7DA}"/>
              </a:ext>
            </a:extLst>
          </p:cNvPr>
          <p:cNvSpPr>
            <a:spLocks xmlns:a="http://schemas.openxmlformats.org/drawingml/2006/main" noGrp="1"/>
          </p:cNvSpPr>
          <p:nvPr/>
        </p:nvSpPr>
        <p:spPr>
          <a:xfrm xmlns:a="http://schemas.openxmlformats.org/drawingml/2006/main">
            <a:off x="8610600" y="1714500"/>
            <a:ext cx="2952750" cy="1238250"/>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11" name="">
            <a:extLst xmlns:a="http://schemas.openxmlformats.org/drawingml/2006/main">
              <a:ext uri="{FF2B5EF4-FFF2-40B4-BE49-F238E27FC236}">
                <a16:creationId xmlns:a16="http://schemas.microsoft.com/office/drawing/2014/main" id="{DF5A709B-3A1C-40BE-99CD-B16587FF6D16}"/>
              </a:ext>
            </a:extLst>
          </p:cNvPr>
          <p:cNvSpPr>
            <a:spLocks xmlns:a="http://schemas.openxmlformats.org/drawingml/2006/main" noGrp="1"/>
          </p:cNvSpPr>
          <p:nvPr/>
        </p:nvSpPr>
        <p:spPr>
          <a:xfrm xmlns:a="http://schemas.openxmlformats.org/drawingml/2006/main">
            <a:off x="8782050" y="1876425"/>
            <a:ext cx="2609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Per-hand tracking</a:t>
            </a:r>
          </a:p>
        </p:txBody>
      </p:sp>
      <p:sp>
        <p:nvSpPr>
          <p:cNvPr id="12" name="">
            <a:extLst xmlns:a="http://schemas.openxmlformats.org/drawingml/2006/main">
              <a:ext uri="{FF2B5EF4-FFF2-40B4-BE49-F238E27FC236}">
                <a16:creationId xmlns:a16="http://schemas.microsoft.com/office/drawing/2014/main" id="{F4AF3206-9514-4D9B-9C1E-E7027A2102EB}"/>
              </a:ext>
            </a:extLst>
          </p:cNvPr>
          <p:cNvSpPr>
            <a:spLocks xmlns:a="http://schemas.openxmlformats.org/drawingml/2006/main" noGrp="1"/>
          </p:cNvSpPr>
          <p:nvPr/>
        </p:nvSpPr>
        <p:spPr>
          <a:xfrm xmlns:a="http://schemas.openxmlformats.org/drawingml/2006/main">
            <a:off x="8782050" y="2305050"/>
            <a:ext cx="260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Current accepted measurements</a:t>
            </a:r>
          </a:p>
        </p:txBody>
      </p:sp>
      <p:sp>
        <p:nvSpPr>
          <p:cNvPr id="13" name="">
            <a:extLst xmlns:a="http://schemas.openxmlformats.org/drawingml/2006/main">
              <a:ext uri="{FF2B5EF4-FFF2-40B4-BE49-F238E27FC236}">
                <a16:creationId xmlns:a16="http://schemas.microsoft.com/office/drawing/2014/main" id="{40317ECB-99DE-43F1-9CDA-85E5E306FA0B}"/>
              </a:ext>
            </a:extLst>
          </p:cNvPr>
          <p:cNvSpPr>
            <a:spLocks xmlns:a="http://schemas.openxmlformats.org/drawingml/2006/main" noGrp="1"/>
          </p:cNvSpPr>
          <p:nvPr/>
        </p:nvSpPr>
        <p:spPr>
          <a:xfrm xmlns:a="http://schemas.openxmlformats.org/drawingml/2006/main">
            <a:off x="8610600" y="3714750"/>
            <a:ext cx="2952750" cy="1238250"/>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14" name="">
            <a:extLst xmlns:a="http://schemas.openxmlformats.org/drawingml/2006/main">
              <a:ext uri="{FF2B5EF4-FFF2-40B4-BE49-F238E27FC236}">
                <a16:creationId xmlns:a16="http://schemas.microsoft.com/office/drawing/2014/main" id="{62706F25-457B-4642-A365-EE857A4A947D}"/>
              </a:ext>
            </a:extLst>
          </p:cNvPr>
          <p:cNvSpPr>
            <a:spLocks xmlns:a="http://schemas.openxmlformats.org/drawingml/2006/main" noGrp="1"/>
          </p:cNvSpPr>
          <p:nvPr/>
        </p:nvSpPr>
        <p:spPr>
          <a:xfrm xmlns:a="http://schemas.openxmlformats.org/drawingml/2006/main">
            <a:off x="8782050" y="3876675"/>
            <a:ext cx="2609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Drum geometry</a:t>
            </a:r>
          </a:p>
        </p:txBody>
      </p:sp>
      <p:sp>
        <p:nvSpPr>
          <p:cNvPr id="15" name="">
            <a:extLst xmlns:a="http://schemas.openxmlformats.org/drawingml/2006/main">
              <a:ext uri="{FF2B5EF4-FFF2-40B4-BE49-F238E27FC236}">
                <a16:creationId xmlns:a16="http://schemas.microsoft.com/office/drawing/2014/main" id="{BDEFC759-7080-4CA5-BA09-9C97C1F114F9}"/>
              </a:ext>
            </a:extLst>
          </p:cNvPr>
          <p:cNvSpPr>
            <a:spLocks xmlns:a="http://schemas.openxmlformats.org/drawingml/2006/main" noGrp="1"/>
          </p:cNvSpPr>
          <p:nvPr/>
        </p:nvSpPr>
        <p:spPr>
          <a:xfrm xmlns:a="http://schemas.openxmlformats.org/drawingml/2006/main">
            <a:off x="8782050" y="4305300"/>
            <a:ext cx="260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Motion + top-edge intersection</a:t>
            </a:r>
          </a:p>
        </p:txBody>
      </p:sp>
      <p:sp>
        <p:nvSpPr>
          <p:cNvPr id="16" name="">
            <a:extLst xmlns:a="http://schemas.openxmlformats.org/drawingml/2006/main">
              <a:ext uri="{FF2B5EF4-FFF2-40B4-BE49-F238E27FC236}">
                <a16:creationId xmlns:a16="http://schemas.microsoft.com/office/drawing/2014/main" id="{77E70AA1-9327-4F18-BF6E-73B2CE510FA7}"/>
              </a:ext>
            </a:extLst>
          </p:cNvPr>
          <p:cNvSpPr>
            <a:spLocks xmlns:a="http://schemas.openxmlformats.org/drawingml/2006/main" noGrp="1"/>
          </p:cNvSpPr>
          <p:nvPr/>
        </p:nvSpPr>
        <p:spPr>
          <a:xfrm xmlns:a="http://schemas.openxmlformats.org/drawingml/2006/main">
            <a:off x="4610100" y="3714750"/>
            <a:ext cx="2952750" cy="1238250"/>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17" name="">
            <a:extLst xmlns:a="http://schemas.openxmlformats.org/drawingml/2006/main">
              <a:ext uri="{FF2B5EF4-FFF2-40B4-BE49-F238E27FC236}">
                <a16:creationId xmlns:a16="http://schemas.microsoft.com/office/drawing/2014/main" id="{7A4173C6-EE65-4FE9-ADBF-51CA63ED25AA}"/>
              </a:ext>
            </a:extLst>
          </p:cNvPr>
          <p:cNvSpPr>
            <a:spLocks xmlns:a="http://schemas.openxmlformats.org/drawingml/2006/main" noGrp="1"/>
          </p:cNvSpPr>
          <p:nvPr/>
        </p:nvSpPr>
        <p:spPr>
          <a:xfrm xmlns:a="http://schemas.openxmlformats.org/drawingml/2006/main">
            <a:off x="4781550" y="3876675"/>
            <a:ext cx="2609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Commit policy</a:t>
            </a:r>
          </a:p>
        </p:txBody>
      </p:sp>
      <p:sp>
        <p:nvSpPr>
          <p:cNvPr id="18" name="">
            <a:extLst xmlns:a="http://schemas.openxmlformats.org/drawingml/2006/main">
              <a:ext uri="{FF2B5EF4-FFF2-40B4-BE49-F238E27FC236}">
                <a16:creationId xmlns:a16="http://schemas.microsoft.com/office/drawing/2014/main" id="{CB1DE466-5983-4E15-A77C-2DA1601896DF}"/>
              </a:ext>
            </a:extLst>
          </p:cNvPr>
          <p:cNvSpPr>
            <a:spLocks xmlns:a="http://schemas.openxmlformats.org/drawingml/2006/main" noGrp="1"/>
          </p:cNvSpPr>
          <p:nvPr/>
        </p:nvSpPr>
        <p:spPr>
          <a:xfrm xmlns:a="http://schemas.openxmlformats.org/drawingml/2006/main">
            <a:off x="4781550" y="4305300"/>
            <a:ext cx="260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Status, gaps, repeat suppression</a:t>
            </a:r>
          </a:p>
        </p:txBody>
      </p:sp>
      <p:sp>
        <p:nvSpPr>
          <p:cNvPr id="19" name="">
            <a:extLst xmlns:a="http://schemas.openxmlformats.org/drawingml/2006/main">
              <a:ext uri="{FF2B5EF4-FFF2-40B4-BE49-F238E27FC236}">
                <a16:creationId xmlns:a16="http://schemas.microsoft.com/office/drawing/2014/main" id="{A7D340F7-E104-4445-9DBA-E20B0A2676E0}"/>
              </a:ext>
            </a:extLst>
          </p:cNvPr>
          <p:cNvSpPr>
            <a:spLocks xmlns:a="http://schemas.openxmlformats.org/drawingml/2006/main" noGrp="1"/>
          </p:cNvSpPr>
          <p:nvPr/>
        </p:nvSpPr>
        <p:spPr>
          <a:xfrm xmlns:a="http://schemas.openxmlformats.org/drawingml/2006/main">
            <a:off x="609600" y="3714750"/>
            <a:ext cx="2952750" cy="1238250"/>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20" name="">
            <a:extLst xmlns:a="http://schemas.openxmlformats.org/drawingml/2006/main">
              <a:ext uri="{FF2B5EF4-FFF2-40B4-BE49-F238E27FC236}">
                <a16:creationId xmlns:a16="http://schemas.microsoft.com/office/drawing/2014/main" id="{18FAF9F1-2208-4066-AE67-14125C917DA4}"/>
              </a:ext>
            </a:extLst>
          </p:cNvPr>
          <p:cNvSpPr>
            <a:spLocks xmlns:a="http://schemas.openxmlformats.org/drawingml/2006/main" noGrp="1"/>
          </p:cNvSpPr>
          <p:nvPr/>
        </p:nvSpPr>
        <p:spPr>
          <a:xfrm xmlns:a="http://schemas.openxmlformats.org/drawingml/2006/main">
            <a:off x="781050" y="3876675"/>
            <a:ext cx="2609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Audio output</a:t>
            </a:r>
          </a:p>
        </p:txBody>
      </p:sp>
      <p:sp>
        <p:nvSpPr>
          <p:cNvPr id="21" name="">
            <a:extLst xmlns:a="http://schemas.openxmlformats.org/drawingml/2006/main">
              <a:ext uri="{FF2B5EF4-FFF2-40B4-BE49-F238E27FC236}">
                <a16:creationId xmlns:a16="http://schemas.microsoft.com/office/drawing/2014/main" id="{0C4A3F60-5094-4FD4-8869-BE6CB64EAE46}"/>
              </a:ext>
            </a:extLst>
          </p:cNvPr>
          <p:cNvSpPr>
            <a:spLocks xmlns:a="http://schemas.openxmlformats.org/drawingml/2006/main" noGrp="1"/>
          </p:cNvSpPr>
          <p:nvPr/>
        </p:nvSpPr>
        <p:spPr>
          <a:xfrm xmlns:a="http://schemas.openxmlformats.org/drawingml/2006/main">
            <a:off x="781050" y="4305300"/>
            <a:ext cx="2609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Samples, scheduler, mixer</a:t>
            </a:r>
          </a:p>
        </p:txBody>
      </p:sp>
      <p:sp>
        <p:nvSpPr>
          <p:cNvPr id="27" name="">
            <a:extLst xmlns:a="http://schemas.openxmlformats.org/drawingml/2006/main">
              <a:ext uri="{FF2B5EF4-FFF2-40B4-BE49-F238E27FC236}">
                <a16:creationId xmlns:a16="http://schemas.microsoft.com/office/drawing/2014/main" id="{36EC119B-FBFC-43D9-A1B6-A6472198FC14}"/>
              </a:ext>
            </a:extLst>
          </p:cNvPr>
          <p:cNvSpPr>
            <a:spLocks xmlns:a="http://schemas.openxmlformats.org/drawingml/2006/main" noGrp="1"/>
          </p:cNvSpPr>
          <p:nvPr/>
        </p:nvSpPr>
        <p:spPr>
          <a:xfrm xmlns:a="http://schemas.openxmlformats.org/drawingml/2006/main">
            <a:off x="609600" y="5438775"/>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B69AFF"/>
                </a:solidFill>
                <a:latin typeface="Arial"/>
                <a:ea typeface="Arial"/>
                <a:cs typeface="Arial"/>
              </a:defRPr>
            </a:defPPr>
          </a:lstStyle>
          <a:p xmlns:a="http://schemas.openxmlformats.org/drawingml/2006/main">
            <a:pPr algn="l">
              <a:defRPr sz="2100" b="0">
                <a:solidFill>
                  <a:srgbClr val="B69AFF"/>
                </a:solidFill>
                <a:latin typeface="Arial"/>
                <a:ea typeface="Arial"/>
                <a:cs typeface="Arial"/>
              </a:defRPr>
            </a:pPr>
            <a:r>
              <a:rPr sz="2100" b="0">
                <a:solidFill>
                  <a:srgbClr val="B69AFF"/>
                </a:solidFill>
                <a:latin typeface="Arial"/>
                <a:ea typeface="Arial"/>
                <a:cs typeface="Arial"/>
              </a:rPr>
              <a:t>Core runner owns lifecycle. UI and logs observe frames and decisions.</a:t>
            </a:r>
          </a:p>
        </p:txBody>
      </p:sp>
    </p:spTree>
    <p:extLst>
      <p:ext uri="{BB962C8B-B14F-4D97-AF65-F5344CB8AC3E}">
        <p14:creationId xmlns:p14="http://schemas.microsoft.com/office/powerpoint/2010/main" val="314324272"/>
      </p:ext>
    </p:extLst>
  </p:cSld>
</p:sld>
</file>

<file path=ppt/slides/slide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3149407-7E5E-471A-BB68-1B033504100C}"/>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6FA"/>
                </a:solidFill>
                <a:latin typeface="Arial"/>
                <a:ea typeface="Arial"/>
                <a:cs typeface="Arial"/>
              </a:defRPr>
            </a:defPPr>
          </a:lstStyle>
          <a:p xmlns:a="http://schemas.openxmlformats.org/drawingml/2006/main">
            <a:pPr algn="l">
              <a:defRPr sz="3450" b="1">
                <a:solidFill>
                  <a:srgbClr val="F3F6FA"/>
                </a:solidFill>
                <a:latin typeface="Arial"/>
                <a:ea typeface="Arial"/>
                <a:cs typeface="Arial"/>
              </a:defRPr>
            </a:pPr>
            <a:r>
              <a:rPr sz="3450" b="1">
                <a:solidFill>
                  <a:srgbClr val="F3F6FA"/>
                </a:solidFill>
                <a:latin typeface="Arial"/>
                <a:ea typeface="Arial"/>
                <a:cs typeface="Arial"/>
              </a:rPr>
              <a:t>Technology stack</a:t>
            </a:r>
          </a:p>
        </p:txBody>
      </p:sp>
      <p:sp>
        <p:nvSpPr>
          <p:cNvPr id="2" name="">
            <a:extLst xmlns:a="http://schemas.openxmlformats.org/drawingml/2006/main">
              <a:ext uri="{FF2B5EF4-FFF2-40B4-BE49-F238E27FC236}">
                <a16:creationId xmlns:a16="http://schemas.microsoft.com/office/drawing/2014/main" id="{FC95DA5D-E274-431E-9F31-6F66B12B3605}"/>
              </a:ext>
            </a:extLst>
          </p:cNvPr>
          <p:cNvSpPr>
            <a:spLocks xmlns:a="http://schemas.openxmlformats.org/drawingml/2006/main" noGrp="1"/>
          </p:cNvSpPr>
          <p:nvPr/>
        </p:nvSpPr>
        <p:spPr>
          <a:xfrm xmlns:a="http://schemas.openxmlformats.org/drawingml/2006/main">
            <a:off x="1116330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B6C5D8"/>
                </a:solidFill>
                <a:latin typeface="Arial"/>
                <a:ea typeface="Arial"/>
                <a:cs typeface="Arial"/>
              </a:defRPr>
            </a:defPPr>
          </a:lstStyle>
          <a:p xmlns:a="http://schemas.openxmlformats.org/drawingml/2006/main">
            <a:pPr algn="r">
              <a:defRPr sz="1425" b="0">
                <a:solidFill>
                  <a:srgbClr val="B6C5D8"/>
                </a:solidFill>
                <a:latin typeface="Arial"/>
                <a:ea typeface="Arial"/>
                <a:cs typeface="Arial"/>
              </a:defRPr>
            </a:pPr>
            <a:r>
              <a:rPr sz="1425" b="0">
                <a:solidFill>
                  <a:srgbClr val="B6C5D8"/>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FB7D30F2-614F-4AE7-82D5-5A9D01AB37DA}"/>
              </a:ext>
            </a:extLst>
          </p:cNvPr>
          <p:cNvSpPr>
            <a:spLocks xmlns:a="http://schemas.openxmlformats.org/drawingml/2006/main" noGrp="1"/>
          </p:cNvSpPr>
          <p:nvPr/>
        </p:nvSpPr>
        <p:spPr>
          <a:xfrm xmlns:a="http://schemas.openxmlformats.org/drawingml/2006/main">
            <a:off x="609600" y="6229350"/>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6C5D8"/>
                </a:solidFill>
                <a:latin typeface="Arial"/>
                <a:ea typeface="Arial"/>
                <a:cs typeface="Arial"/>
              </a:defRPr>
            </a:defPPr>
          </a:lstStyle>
          <a:p xmlns:a="http://schemas.openxmlformats.org/drawingml/2006/main">
            <a:pPr algn="l">
              <a:defRPr sz="1275" b="0">
                <a:solidFill>
                  <a:srgbClr val="B6C5D8"/>
                </a:solidFill>
                <a:latin typeface="Arial"/>
                <a:ea typeface="Arial"/>
                <a:cs typeface="Arial"/>
              </a:defRPr>
            </a:pPr>
            <a:r>
              <a:rPr sz="1275" b="0">
                <a:solidFill>
                  <a:srgbClr val="B6C5D8"/>
                </a:solidFill>
                <a:latin typeface="Arial"/>
                <a:ea typeface="Arial"/>
                <a:cs typeface="Arial"/>
              </a:rPr>
              <a:t>Versions and setup caveats are recorded in the audit</a:t>
            </a:r>
          </a:p>
        </p:txBody>
      </p:sp>
      <p:graphicFrame>
        <p:nvGraphicFramePr>
          <p:cNvPr id="4" name="">
            <a:extLst xmlns:a="http://schemas.openxmlformats.org/drawingml/2006/main">
              <a:ext uri="{FF2B5EF4-FFF2-40B4-BE49-F238E27FC236}">
                <a16:creationId xmlns:a16="http://schemas.microsoft.com/office/drawing/2014/main" id="{BBA561EA-BD6C-4EDC-A805-C47606A649FE}"/>
              </a:ext>
            </a:extLst>
          </p:cNvPr>
          <p:cNvGraphicFramePr/>
          <p:nvPr/>
        </p:nvGraphicFramePr>
        <p:xfrm>
          <a:off xmlns:a="http://schemas.openxmlformats.org/drawingml/2006/main" x="609600" y="1504950"/>
          <a:ext xmlns:a="http://schemas.openxmlformats.org/drawingml/2006/main" cx="10972800" cy="4210050"/>
        </p:xfrm>
        <a:graphic xmlns:a="http://schemas.openxmlformats.org/drawingml/2006/main">
          <a:graphicData uri="http://schemas.openxmlformats.org/drawingml/2006/table">
            <a:tbl>
              <a:tblPr/>
              <a:tblGrid>
                <a:gridCol w="4191000"/>
                <a:gridCol w="6781800"/>
              </a:tblGrid>
              <a:tr h="601436">
                <a:tc>
                  <a:txBody>
                    <a:bodyPr lIns="114300" tIns="114300" rIns="114300" bIns="114300"/>
                    <a:lstStyle/>
                    <a:p>
                      <a:r>
                        <a:rPr sz="1800" b="1">
                          <a:solidFill>
                            <a:srgbClr val="49DDEB"/>
                          </a:solidFill>
                          <a:latin typeface="Arial"/>
                          <a:ea typeface="Arial"/>
                          <a:cs typeface="Arial"/>
                        </a:rPr>
                        <a:t>Technology</a:t>
                      </a:r>
                    </a:p>
                  </a:txBody>
                  <a:tcPr marL="91440" marR="91440" marT="45720" marB="45720" anchor="ctr">
                    <a:lnL w="9525">
                      <a:solidFill>
                        <a:srgbClr val="33485F"/>
                      </a:solidFill>
                      <a:prstDash val="solid"/>
                    </a:lnL>
                    <a:lnR w="9525">
                      <a:solidFill>
                        <a:srgbClr val="33485F"/>
                      </a:solidFill>
                      <a:prstDash val="solid"/>
                    </a:lnR>
                    <a:lnT w="9525">
                      <a:solidFill>
                        <a:srgbClr val="33485F"/>
                      </a:solidFill>
                      <a:prstDash val="solid"/>
                    </a:lnT>
                    <a:lnB w="9525">
                      <a:solidFill>
                        <a:srgbClr val="33485F"/>
                      </a:solidFill>
                      <a:prstDash val="solid"/>
                    </a:lnB>
                    <a:solidFill>
                      <a:srgbClr val="132337"/>
                    </a:solidFill>
                  </a:tcPr>
                </a:tc>
                <a:tc>
                  <a:txBody>
                    <a:bodyPr lIns="114300" tIns="114300" rIns="114300" bIns="114300"/>
                    <a:lstStyle/>
                    <a:p>
                      <a:r>
                        <a:rPr sz="1800" b="1">
                          <a:solidFill>
                            <a:srgbClr val="49DDEB"/>
                          </a:solidFill>
                          <a:latin typeface="Arial"/>
                          <a:ea typeface="Arial"/>
                          <a:cs typeface="Arial"/>
                        </a:rPr>
                        <a:t>Verified purpose</a:t>
                      </a:r>
                    </a:p>
                  </a:txBody>
                  <a:tcPr marL="91440" marR="91440" marT="45720" marB="45720" anchor="ctr">
                    <a:lnR w="9525">
                      <a:solidFill>
                        <a:srgbClr val="33485F"/>
                      </a:solidFill>
                      <a:prstDash val="solid"/>
                    </a:lnR>
                    <a:lnT w="9525">
                      <a:solidFill>
                        <a:srgbClr val="33485F"/>
                      </a:solidFill>
                      <a:prstDash val="solid"/>
                    </a:lnT>
                    <a:lnB w="9525">
                      <a:solidFill>
                        <a:srgbClr val="33485F"/>
                      </a:solidFill>
                      <a:prstDash val="solid"/>
                    </a:lnB>
                    <a:solidFill>
                      <a:srgbClr val="132337"/>
                    </a:solidFill>
                  </a:tcPr>
                </a:tc>
              </a:tr>
              <a:tr h="601436">
                <a:tc>
                  <a:txBody>
                    <a:bodyPr lIns="114300" tIns="114300" rIns="114300" bIns="114300"/>
                    <a:lstStyle/>
                    <a:p>
                      <a:r>
                        <a:rPr sz="1800" b="0">
                          <a:solidFill>
                            <a:srgbClr val="F3F6FA"/>
                          </a:solidFill>
                          <a:latin typeface="Arial"/>
                          <a:ea typeface="Arial"/>
                          <a:cs typeface="Arial"/>
                        </a:rPr>
                        <a:t>Python 3.11 + NumPy</a:t>
                      </a:r>
                    </a:p>
                  </a:txBody>
                  <a:tcPr marL="91440" marR="91440" marT="45720" marB="45720" anchor="ctr">
                    <a:lnL w="9525">
                      <a:solidFill>
                        <a:srgbClr val="33485F"/>
                      </a:solidFill>
                      <a:prstDash val="solid"/>
                    </a:lnL>
                    <a:lnR w="9525">
                      <a:solidFill>
                        <a:srgbClr val="33485F"/>
                      </a:solidFill>
                      <a:prstDash val="solid"/>
                    </a:lnR>
                    <a:lnB w="9525">
                      <a:solidFill>
                        <a:srgbClr val="33485F"/>
                      </a:solidFill>
                      <a:prstDash val="solid"/>
                    </a:lnB>
                    <a:solidFill>
                      <a:srgbClr val="0B1220"/>
                    </a:solidFill>
                  </a:tcPr>
                </a:tc>
                <a:tc>
                  <a:txBody>
                    <a:bodyPr lIns="114300" tIns="114300" rIns="114300" bIns="114300"/>
                    <a:lstStyle/>
                    <a:p>
                      <a:r>
                        <a:rPr sz="1800" b="0">
                          <a:solidFill>
                            <a:srgbClr val="F3F6FA"/>
                          </a:solidFill>
                          <a:latin typeface="Arial"/>
                          <a:ea typeface="Arial"/>
                          <a:cs typeface="Arial"/>
                        </a:rPr>
                        <a:t>Local orchestration, motion and geometry</a:t>
                      </a:r>
                    </a:p>
                  </a:txBody>
                  <a:tcPr marL="91440" marR="91440" marT="45720" marB="45720" anchor="ctr">
                    <a:lnR w="9525">
                      <a:solidFill>
                        <a:srgbClr val="33485F"/>
                      </a:solidFill>
                      <a:prstDash val="solid"/>
                    </a:lnR>
                    <a:lnB w="9525">
                      <a:solidFill>
                        <a:srgbClr val="33485F"/>
                      </a:solidFill>
                      <a:prstDash val="solid"/>
                    </a:lnB>
                    <a:solidFill>
                      <a:srgbClr val="0B1220"/>
                    </a:solidFill>
                  </a:tcPr>
                </a:tc>
              </a:tr>
              <a:tr h="601436">
                <a:tc>
                  <a:txBody>
                    <a:bodyPr lIns="114300" tIns="114300" rIns="114300" bIns="114300"/>
                    <a:lstStyle/>
                    <a:p>
                      <a:r>
                        <a:rPr sz="1800" b="0">
                          <a:solidFill>
                            <a:srgbClr val="F3F6FA"/>
                          </a:solidFill>
                          <a:latin typeface="Arial"/>
                          <a:ea typeface="Arial"/>
                          <a:cs typeface="Arial"/>
                        </a:rPr>
                        <a:t>OpenCV + MediaPipe</a:t>
                      </a:r>
                    </a:p>
                  </a:txBody>
                  <a:tcPr marL="91440" marR="91440" marT="45720" marB="45720" anchor="ctr">
                    <a:lnL w="9525">
                      <a:solidFill>
                        <a:srgbClr val="33485F"/>
                      </a:solidFill>
                      <a:prstDash val="solid"/>
                    </a:lnL>
                    <a:lnR w="9525">
                      <a:solidFill>
                        <a:srgbClr val="33485F"/>
                      </a:solidFill>
                      <a:prstDash val="solid"/>
                    </a:lnR>
                    <a:lnB w="9525">
                      <a:solidFill>
                        <a:srgbClr val="33485F"/>
                      </a:solidFill>
                      <a:prstDash val="solid"/>
                    </a:lnB>
                    <a:solidFill>
                      <a:srgbClr val="0B1220"/>
                    </a:solidFill>
                  </a:tcPr>
                </a:tc>
                <a:tc>
                  <a:txBody>
                    <a:bodyPr lIns="114300" tIns="114300" rIns="114300" bIns="114300"/>
                    <a:lstStyle/>
                    <a:p>
                      <a:r>
                        <a:rPr sz="1800" b="0">
                          <a:solidFill>
                            <a:srgbClr val="F3F6FA"/>
                          </a:solidFill>
                          <a:latin typeface="Arial"/>
                          <a:ea typeface="Arial"/>
                          <a:cs typeface="Arial"/>
                        </a:rPr>
                        <a:t>Capture, desktop rendering and hand landmarks</a:t>
                      </a:r>
                    </a:p>
                  </a:txBody>
                  <a:tcPr marL="91440" marR="91440" marT="45720" marB="45720" anchor="ctr">
                    <a:lnR w="9525">
                      <a:solidFill>
                        <a:srgbClr val="33485F"/>
                      </a:solidFill>
                      <a:prstDash val="solid"/>
                    </a:lnR>
                    <a:lnB w="9525">
                      <a:solidFill>
                        <a:srgbClr val="33485F"/>
                      </a:solidFill>
                      <a:prstDash val="solid"/>
                    </a:lnB>
                    <a:solidFill>
                      <a:srgbClr val="0B1220"/>
                    </a:solidFill>
                  </a:tcPr>
                </a:tc>
              </a:tr>
              <a:tr h="601436">
                <a:tc>
                  <a:txBody>
                    <a:bodyPr lIns="114300" tIns="114300" rIns="114300" bIns="114300"/>
                    <a:lstStyle/>
                    <a:p>
                      <a:r>
                        <a:rPr sz="1800" b="0">
                          <a:solidFill>
                            <a:srgbClr val="F3F6FA"/>
                          </a:solidFill>
                          <a:latin typeface="Arial"/>
                          <a:ea typeface="Arial"/>
                          <a:cs typeface="Arial"/>
                        </a:rPr>
                        <a:t>sounddevice + soundfile</a:t>
                      </a:r>
                    </a:p>
                  </a:txBody>
                  <a:tcPr marL="91440" marR="91440" marT="45720" marB="45720" anchor="ctr">
                    <a:lnL w="9525">
                      <a:solidFill>
                        <a:srgbClr val="33485F"/>
                      </a:solidFill>
                      <a:prstDash val="solid"/>
                    </a:lnL>
                    <a:lnR w="9525">
                      <a:solidFill>
                        <a:srgbClr val="33485F"/>
                      </a:solidFill>
                      <a:prstDash val="solid"/>
                    </a:lnR>
                    <a:lnB w="9525">
                      <a:solidFill>
                        <a:srgbClr val="33485F"/>
                      </a:solidFill>
                      <a:prstDash val="solid"/>
                    </a:lnB>
                    <a:solidFill>
                      <a:srgbClr val="0B1220"/>
                    </a:solidFill>
                  </a:tcPr>
                </a:tc>
                <a:tc>
                  <a:txBody>
                    <a:bodyPr lIns="114300" tIns="114300" rIns="114300" bIns="114300"/>
                    <a:lstStyle/>
                    <a:p>
                      <a:r>
                        <a:rPr sz="1800" b="0">
                          <a:solidFill>
                            <a:srgbClr val="F3F6FA"/>
                          </a:solidFill>
                          <a:latin typeface="Arial"/>
                          <a:ea typeface="Arial"/>
                          <a:cs typeface="Arial"/>
                        </a:rPr>
                        <a:t>Audio output and sample loading</a:t>
                      </a:r>
                    </a:p>
                  </a:txBody>
                  <a:tcPr marL="91440" marR="91440" marT="45720" marB="45720" anchor="ctr">
                    <a:lnR w="9525">
                      <a:solidFill>
                        <a:srgbClr val="33485F"/>
                      </a:solidFill>
                      <a:prstDash val="solid"/>
                    </a:lnR>
                    <a:lnB w="9525">
                      <a:solidFill>
                        <a:srgbClr val="33485F"/>
                      </a:solidFill>
                      <a:prstDash val="solid"/>
                    </a:lnB>
                    <a:solidFill>
                      <a:srgbClr val="0B1220"/>
                    </a:solidFill>
                  </a:tcPr>
                </a:tc>
              </a:tr>
              <a:tr h="601436">
                <a:tc>
                  <a:txBody>
                    <a:bodyPr lIns="114300" tIns="114300" rIns="114300" bIns="114300"/>
                    <a:lstStyle/>
                    <a:p>
                      <a:r>
                        <a:rPr sz="1800" b="0">
                          <a:solidFill>
                            <a:srgbClr val="F3F6FA"/>
                          </a:solidFill>
                          <a:latin typeface="Arial"/>
                          <a:ea typeface="Arial"/>
                          <a:cs typeface="Arial"/>
                        </a:rPr>
                        <a:t>YAML + JSON Schema</a:t>
                      </a:r>
                    </a:p>
                  </a:txBody>
                  <a:tcPr marL="91440" marR="91440" marT="45720" marB="45720" anchor="ctr">
                    <a:lnL w="9525">
                      <a:solidFill>
                        <a:srgbClr val="33485F"/>
                      </a:solidFill>
                      <a:prstDash val="solid"/>
                    </a:lnL>
                    <a:lnR w="9525">
                      <a:solidFill>
                        <a:srgbClr val="33485F"/>
                      </a:solidFill>
                      <a:prstDash val="solid"/>
                    </a:lnR>
                    <a:lnB w="9525">
                      <a:solidFill>
                        <a:srgbClr val="33485F"/>
                      </a:solidFill>
                      <a:prstDash val="solid"/>
                    </a:lnB>
                    <a:solidFill>
                      <a:srgbClr val="0B1220"/>
                    </a:solidFill>
                  </a:tcPr>
                </a:tc>
                <a:tc>
                  <a:txBody>
                    <a:bodyPr lIns="114300" tIns="114300" rIns="114300" bIns="114300"/>
                    <a:lstStyle/>
                    <a:p>
                      <a:r>
                        <a:rPr sz="1800" b="0">
                          <a:solidFill>
                            <a:srgbClr val="F3F6FA"/>
                          </a:solidFill>
                          <a:latin typeface="Arial"/>
                          <a:ea typeface="Arial"/>
                          <a:cs typeface="Arial"/>
                        </a:rPr>
                        <a:t>Validated configuration and record contracts</a:t>
                      </a:r>
                    </a:p>
                  </a:txBody>
                  <a:tcPr marL="91440" marR="91440" marT="45720" marB="45720" anchor="ctr">
                    <a:lnR w="9525">
                      <a:solidFill>
                        <a:srgbClr val="33485F"/>
                      </a:solidFill>
                      <a:prstDash val="solid"/>
                    </a:lnR>
                    <a:lnB w="9525">
                      <a:solidFill>
                        <a:srgbClr val="33485F"/>
                      </a:solidFill>
                      <a:prstDash val="solid"/>
                    </a:lnB>
                    <a:solidFill>
                      <a:srgbClr val="0B1220"/>
                    </a:solidFill>
                  </a:tcPr>
                </a:tc>
              </a:tr>
              <a:tr h="601436">
                <a:tc>
                  <a:txBody>
                    <a:bodyPr lIns="114300" tIns="114300" rIns="114300" bIns="114300"/>
                    <a:lstStyle/>
                    <a:p>
                      <a:r>
                        <a:rPr sz="1800" b="0">
                          <a:solidFill>
                            <a:srgbClr val="F3F6FA"/>
                          </a:solidFill>
                          <a:latin typeface="Arial"/>
                          <a:ea typeface="Arial"/>
                          <a:cs typeface="Arial"/>
                        </a:rPr>
                        <a:t>PyTorch + LightGBM</a:t>
                      </a:r>
                    </a:p>
                  </a:txBody>
                  <a:tcPr marL="91440" marR="91440" marT="45720" marB="45720" anchor="ctr">
                    <a:lnL w="9525">
                      <a:solidFill>
                        <a:srgbClr val="33485F"/>
                      </a:solidFill>
                      <a:prstDash val="solid"/>
                    </a:lnL>
                    <a:lnR w="9525">
                      <a:solidFill>
                        <a:srgbClr val="33485F"/>
                      </a:solidFill>
                      <a:prstDash val="solid"/>
                    </a:lnR>
                    <a:lnB w="9525">
                      <a:solidFill>
                        <a:srgbClr val="33485F"/>
                      </a:solidFill>
                      <a:prstDash val="solid"/>
                    </a:lnB>
                    <a:solidFill>
                      <a:srgbClr val="0B1220"/>
                    </a:solidFill>
                  </a:tcPr>
                </a:tc>
                <a:tc>
                  <a:txBody>
                    <a:bodyPr lIns="114300" tIns="114300" rIns="114300" bIns="114300"/>
                    <a:lstStyle/>
                    <a:p>
                      <a:r>
                        <a:rPr sz="1800" b="0">
                          <a:solidFill>
                            <a:srgbClr val="F3F6FA"/>
                          </a:solidFill>
                          <a:latin typeface="Arial"/>
                          <a:ea typeface="Arial"/>
                          <a:cs typeface="Arial"/>
                        </a:rPr>
                        <a:t>Research models and training tools</a:t>
                      </a:r>
                    </a:p>
                  </a:txBody>
                  <a:tcPr marL="91440" marR="91440" marT="45720" marB="45720" anchor="ctr">
                    <a:lnR w="9525">
                      <a:solidFill>
                        <a:srgbClr val="33485F"/>
                      </a:solidFill>
                      <a:prstDash val="solid"/>
                    </a:lnR>
                    <a:lnB w="9525">
                      <a:solidFill>
                        <a:srgbClr val="33485F"/>
                      </a:solidFill>
                      <a:prstDash val="solid"/>
                    </a:lnB>
                    <a:solidFill>
                      <a:srgbClr val="0B1220"/>
                    </a:solidFill>
                  </a:tcPr>
                </a:tc>
              </a:tr>
              <a:tr h="601436">
                <a:tc>
                  <a:txBody>
                    <a:bodyPr lIns="114300" tIns="114300" rIns="114300" bIns="114300"/>
                    <a:lstStyle/>
                    <a:p>
                      <a:r>
                        <a:rPr sz="1800" b="0">
                          <a:solidFill>
                            <a:srgbClr val="F3F6FA"/>
                          </a:solidFill>
                          <a:latin typeface="Arial"/>
                          <a:ea typeface="Arial"/>
                          <a:cs typeface="Arial"/>
                        </a:rPr>
                        <a:t>pytest + Ruff + import-linter</a:t>
                      </a:r>
                    </a:p>
                  </a:txBody>
                  <a:tcPr marL="91440" marR="91440" marT="45720" marB="45720" anchor="ctr">
                    <a:lnL w="9525">
                      <a:solidFill>
                        <a:srgbClr val="33485F"/>
                      </a:solidFill>
                      <a:prstDash val="solid"/>
                    </a:lnL>
                    <a:lnR w="9525">
                      <a:solidFill>
                        <a:srgbClr val="33485F"/>
                      </a:solidFill>
                      <a:prstDash val="solid"/>
                    </a:lnR>
                    <a:lnB w="9525">
                      <a:solidFill>
                        <a:srgbClr val="33485F"/>
                      </a:solidFill>
                      <a:prstDash val="solid"/>
                    </a:lnB>
                    <a:solidFill>
                      <a:srgbClr val="0B1220"/>
                    </a:solidFill>
                  </a:tcPr>
                </a:tc>
                <a:tc>
                  <a:txBody>
                    <a:bodyPr lIns="114300" tIns="114300" rIns="114300" bIns="114300"/>
                    <a:lstStyle/>
                    <a:p>
                      <a:r>
                        <a:rPr sz="1800" b="0">
                          <a:solidFill>
                            <a:srgbClr val="F3F6FA"/>
                          </a:solidFill>
                          <a:latin typeface="Arial"/>
                          <a:ea typeface="Arial"/>
                          <a:cs typeface="Arial"/>
                        </a:rPr>
                        <a:t>Software, style and architecture checks</a:t>
                      </a:r>
                    </a:p>
                  </a:txBody>
                  <a:tcPr marL="91440" marR="91440" marT="45720" marB="45720" anchor="ctr">
                    <a:lnR w="9525">
                      <a:solidFill>
                        <a:srgbClr val="33485F"/>
                      </a:solidFill>
                      <a:prstDash val="solid"/>
                    </a:lnR>
                    <a:lnB w="9525">
                      <a:solidFill>
                        <a:srgbClr val="33485F"/>
                      </a:solidFill>
                      <a:prstDash val="solid"/>
                    </a:lnB>
                    <a:solidFill>
                      <a:srgbClr val="0B1220"/>
                    </a:solidFill>
                  </a:tcPr>
                </a:tc>
              </a:tr>
            </a:tbl>
          </a:graphicData>
        </a:graphic>
      </p:graphicFrame>
    </p:spTree>
    <p:extLst>
      <p:ext uri="{BB962C8B-B14F-4D97-AF65-F5344CB8AC3E}">
        <p14:creationId xmlns:p14="http://schemas.microsoft.com/office/powerpoint/2010/main" val="560431160"/>
      </p:ext>
    </p:extLst>
  </p:cSld>
</p:sld>
</file>

<file path=ppt/slides/slide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0841626-6FCD-4C63-8E8B-72A3EDD1FB21}"/>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6FA"/>
                </a:solidFill>
                <a:latin typeface="Arial"/>
                <a:ea typeface="Arial"/>
                <a:cs typeface="Arial"/>
              </a:defRPr>
            </a:defPPr>
          </a:lstStyle>
          <a:p xmlns:a="http://schemas.openxmlformats.org/drawingml/2006/main">
            <a:pPr algn="l">
              <a:defRPr sz="3450" b="1">
                <a:solidFill>
                  <a:srgbClr val="F3F6FA"/>
                </a:solidFill>
                <a:latin typeface="Arial"/>
                <a:ea typeface="Arial"/>
                <a:cs typeface="Arial"/>
              </a:defRPr>
            </a:pPr>
            <a:r>
              <a:rPr sz="3450" b="1">
                <a:solidFill>
                  <a:srgbClr val="F3F6FA"/>
                </a:solidFill>
                <a:latin typeface="Arial"/>
                <a:ea typeface="Arial"/>
                <a:cs typeface="Arial"/>
              </a:rPr>
              <a:t>AI and Computer Vision</a:t>
            </a:r>
          </a:p>
        </p:txBody>
      </p:sp>
      <p:sp>
        <p:nvSpPr>
          <p:cNvPr id="2" name="">
            <a:extLst xmlns:a="http://schemas.openxmlformats.org/drawingml/2006/main">
              <a:ext uri="{FF2B5EF4-FFF2-40B4-BE49-F238E27FC236}">
                <a16:creationId xmlns:a16="http://schemas.microsoft.com/office/drawing/2014/main" id="{F4EA5215-B270-4085-BDEA-95D1497C8AF6}"/>
              </a:ext>
            </a:extLst>
          </p:cNvPr>
          <p:cNvSpPr>
            <a:spLocks xmlns:a="http://schemas.openxmlformats.org/drawingml/2006/main" noGrp="1"/>
          </p:cNvSpPr>
          <p:nvPr/>
        </p:nvSpPr>
        <p:spPr>
          <a:xfrm xmlns:a="http://schemas.openxmlformats.org/drawingml/2006/main">
            <a:off x="1116330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B6C5D8"/>
                </a:solidFill>
                <a:latin typeface="Arial"/>
                <a:ea typeface="Arial"/>
                <a:cs typeface="Arial"/>
              </a:defRPr>
            </a:defPPr>
          </a:lstStyle>
          <a:p xmlns:a="http://schemas.openxmlformats.org/drawingml/2006/main">
            <a:pPr algn="r">
              <a:defRPr sz="1425" b="0">
                <a:solidFill>
                  <a:srgbClr val="B6C5D8"/>
                </a:solidFill>
                <a:latin typeface="Arial"/>
                <a:ea typeface="Arial"/>
                <a:cs typeface="Arial"/>
              </a:defRPr>
            </a:pPr>
            <a:r>
              <a:rPr sz="1425" b="0">
                <a:solidFill>
                  <a:srgbClr val="B6C5D8"/>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4ADCF72F-8C1A-4E6A-BB95-2145826C8925}"/>
              </a:ext>
            </a:extLst>
          </p:cNvPr>
          <p:cNvSpPr>
            <a:spLocks xmlns:a="http://schemas.openxmlformats.org/drawingml/2006/main" noGrp="1"/>
          </p:cNvSpPr>
          <p:nvPr/>
        </p:nvSpPr>
        <p:spPr>
          <a:xfrm xmlns:a="http://schemas.openxmlformats.org/drawingml/2006/main">
            <a:off x="609600" y="6229350"/>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6C5D8"/>
                </a:solidFill>
                <a:latin typeface="Arial"/>
                <a:ea typeface="Arial"/>
                <a:cs typeface="Arial"/>
              </a:defRPr>
            </a:defPPr>
          </a:lstStyle>
          <a:p xmlns:a="http://schemas.openxmlformats.org/drawingml/2006/main">
            <a:pPr algn="l">
              <a:defRPr sz="1275" b="0">
                <a:solidFill>
                  <a:srgbClr val="B6C5D8"/>
                </a:solidFill>
                <a:latin typeface="Arial"/>
                <a:ea typeface="Arial"/>
                <a:cs typeface="Arial"/>
              </a:defRPr>
            </a:pPr>
            <a:r>
              <a:rPr sz="1275" b="0">
                <a:solidFill>
                  <a:srgbClr val="B6C5D8"/>
                </a:solidFill>
                <a:latin typeface="Arial"/>
                <a:ea typeface="Arial"/>
                <a:cs typeface="Arial"/>
              </a:rPr>
              <a:t>Recorded-frame replay, audio disabled; screenshot is not an accuracy result</a:t>
            </a:r>
          </a:p>
        </p:txBody>
      </p:sp>
      <p:pic>
        <p:nvPicPr>
          <p:cNvPr id="4" name="">
            <a:extLst xmlns:a="http://schemas.openxmlformats.org/drawingml/2006/main">
              <a:ext uri="{FF2B5EF4-FFF2-40B4-BE49-F238E27FC236}">
                <a16:creationId xmlns:a16="http://schemas.microsoft.com/office/drawing/2014/main" id="{D9BA7503-7C9D-46C2-8B2E-9CAED0E08E9F}"/>
              </a:ext>
            </a:extLst>
          </p:cNvPr>
          <p:cNvPicPr>
            <a:picLocks xmlns:a="http://schemas.openxmlformats.org/drawingml/2006/main" noChangeAspect="1"/>
          </p:cNvPicPr>
          <p:nvPr/>
        </p:nvPicPr>
        <p:blipFill>
          <a:blip xmlns:r="http://schemas.openxmlformats.org/officeDocument/2006/relationships" xmlns:a="http://schemas.openxmlformats.org/drawingml/2006/main" r:embed="Rc68efe6c862d47ab"/>
          <a:stretch xmlns:a="http://schemas.openxmlformats.org/drawingml/2006/main"/>
        </p:blipFill>
        <p:spPr>
          <a:xfrm xmlns:a="http://schemas.openxmlformats.org/drawingml/2006/main">
            <a:off x="936338" y="1514475"/>
            <a:ext cx="5785424" cy="4524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EA5A68B-09A2-4356-A08D-C6E8C9318873}"/>
              </a:ext>
            </a:extLst>
          </p:cNvPr>
          <p:cNvSpPr>
            <a:spLocks xmlns:a="http://schemas.openxmlformats.org/drawingml/2006/main" noGrp="1"/>
          </p:cNvSpPr>
          <p:nvPr/>
        </p:nvSpPr>
        <p:spPr>
          <a:xfrm xmlns:a="http://schemas.openxmlformats.org/drawingml/2006/main">
            <a:off x="7467600" y="1543050"/>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49DDEB"/>
                </a:solidFill>
                <a:latin typeface="Arial"/>
                <a:ea typeface="Arial"/>
                <a:cs typeface="Arial"/>
              </a:defRPr>
            </a:defPPr>
          </a:lstStyle>
          <a:p xmlns:a="http://schemas.openxmlformats.org/drawingml/2006/main">
            <a:pPr algn="l">
              <a:defRPr sz="2250" b="1">
                <a:solidFill>
                  <a:srgbClr val="49DDEB"/>
                </a:solidFill>
                <a:latin typeface="Arial"/>
                <a:ea typeface="Arial"/>
                <a:cs typeface="Arial"/>
              </a:defRPr>
            </a:pPr>
            <a:r>
              <a:rPr sz="2250" b="1">
                <a:solidFill>
                  <a:srgbClr val="49DDEB"/>
                </a:solidFill>
                <a:latin typeface="Arial"/>
                <a:ea typeface="Arial"/>
                <a:cs typeface="Arial"/>
              </a:rPr>
              <a:t>HAND</a:t>
            </a:r>
          </a:p>
        </p:txBody>
      </p:sp>
      <p:sp>
        <p:nvSpPr>
          <p:cNvPr id="6" name="">
            <a:extLst xmlns:a="http://schemas.openxmlformats.org/drawingml/2006/main">
              <a:ext uri="{FF2B5EF4-FFF2-40B4-BE49-F238E27FC236}">
                <a16:creationId xmlns:a16="http://schemas.microsoft.com/office/drawing/2014/main" id="{72CB6404-CA69-455E-B428-CA2AD6D45A2B}"/>
              </a:ext>
            </a:extLst>
          </p:cNvPr>
          <p:cNvSpPr>
            <a:spLocks xmlns:a="http://schemas.openxmlformats.org/drawingml/2006/main" noGrp="1"/>
          </p:cNvSpPr>
          <p:nvPr/>
        </p:nvSpPr>
        <p:spPr>
          <a:xfrm xmlns:a="http://schemas.openxmlformats.org/drawingml/2006/main">
            <a:off x="7467600" y="2009775"/>
            <a:ext cx="4095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6FA"/>
                </a:solidFill>
                <a:latin typeface="Arial"/>
                <a:ea typeface="Arial"/>
                <a:cs typeface="Arial"/>
              </a:defRPr>
            </a:defPPr>
          </a:lstStyle>
          <a:p xmlns:a="http://schemas.openxmlformats.org/drawingml/2006/main">
            <a:pPr algn="l">
              <a:defRPr sz="2025" b="0">
                <a:solidFill>
                  <a:srgbClr val="F3F6FA"/>
                </a:solidFill>
                <a:latin typeface="Arial"/>
                <a:ea typeface="Arial"/>
                <a:cs typeface="Arial"/>
              </a:defRPr>
            </a:pPr>
            <a:r>
              <a:rPr sz="2025" b="0">
                <a:solidFill>
                  <a:srgbClr val="F3F6FA"/>
                </a:solidFill>
                <a:latin typeface="Arial"/>
                <a:ea typeface="Arial"/>
                <a:cs typeface="Arial"/>
              </a:rPr>
              <a:t>MediaPipe landmarks</a:t>
            </a:r>
          </a:p>
          <a:p xmlns:a="http://schemas.openxmlformats.org/drawingml/2006/main">
            <a:pPr algn="l">
              <a:defRPr sz="2025" b="0">
                <a:solidFill>
                  <a:srgbClr val="F3F6FA"/>
                </a:solidFill>
                <a:latin typeface="Arial"/>
                <a:ea typeface="Arial"/>
                <a:cs typeface="Arial"/>
              </a:defRPr>
            </a:pPr>
            <a:r>
              <a:rPr sz="2025" b="0">
                <a:solidFill>
                  <a:srgbClr val="F3F6FA"/>
                </a:solidFill>
                <a:latin typeface="Arial"/>
                <a:ea typeface="Arial"/>
                <a:cs typeface="Arial"/>
              </a:rPr>
              <a:t>Index fingertip = landmark 8</a:t>
            </a:r>
          </a:p>
        </p:txBody>
      </p:sp>
      <p:sp>
        <p:nvSpPr>
          <p:cNvPr id="7" name="">
            <a:extLst xmlns:a="http://schemas.openxmlformats.org/drawingml/2006/main">
              <a:ext uri="{FF2B5EF4-FFF2-40B4-BE49-F238E27FC236}">
                <a16:creationId xmlns:a16="http://schemas.microsoft.com/office/drawing/2014/main" id="{5D73878E-EC68-4D97-B591-72B4C0E9E6DE}"/>
              </a:ext>
            </a:extLst>
          </p:cNvPr>
          <p:cNvSpPr>
            <a:spLocks xmlns:a="http://schemas.openxmlformats.org/drawingml/2006/main" noGrp="1"/>
          </p:cNvSpPr>
          <p:nvPr/>
        </p:nvSpPr>
        <p:spPr>
          <a:xfrm xmlns:a="http://schemas.openxmlformats.org/drawingml/2006/main">
            <a:off x="7467600" y="30956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B69AFF"/>
                </a:solidFill>
                <a:latin typeface="Arial"/>
                <a:ea typeface="Arial"/>
                <a:cs typeface="Arial"/>
              </a:defRPr>
            </a:defPPr>
          </a:lstStyle>
          <a:p xmlns:a="http://schemas.openxmlformats.org/drawingml/2006/main">
            <a:pPr algn="l">
              <a:defRPr sz="2250" b="1">
                <a:solidFill>
                  <a:srgbClr val="B69AFF"/>
                </a:solidFill>
                <a:latin typeface="Arial"/>
                <a:ea typeface="Arial"/>
                <a:cs typeface="Arial"/>
              </a:defRPr>
            </a:pPr>
            <a:r>
              <a:rPr sz="2250" b="1">
                <a:solidFill>
                  <a:srgbClr val="B69AFF"/>
                </a:solidFill>
                <a:latin typeface="Arial"/>
                <a:ea typeface="Arial"/>
                <a:cs typeface="Arial"/>
              </a:rPr>
              <a:t>Red-tip STICK</a:t>
            </a:r>
          </a:p>
        </p:txBody>
      </p:sp>
      <p:sp>
        <p:nvSpPr>
          <p:cNvPr id="8" name="">
            <a:extLst xmlns:a="http://schemas.openxmlformats.org/drawingml/2006/main">
              <a:ext uri="{FF2B5EF4-FFF2-40B4-BE49-F238E27FC236}">
                <a16:creationId xmlns:a16="http://schemas.microsoft.com/office/drawing/2014/main" id="{F9C3CE0D-F931-4E46-BED4-7C7C4086D155}"/>
              </a:ext>
            </a:extLst>
          </p:cNvPr>
          <p:cNvSpPr>
            <a:spLocks xmlns:a="http://schemas.openxmlformats.org/drawingml/2006/main" noGrp="1"/>
          </p:cNvSpPr>
          <p:nvPr/>
        </p:nvSpPr>
        <p:spPr>
          <a:xfrm xmlns:a="http://schemas.openxmlformats.org/drawingml/2006/main">
            <a:off x="7467600" y="3562350"/>
            <a:ext cx="4095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6FA"/>
                </a:solidFill>
                <a:latin typeface="Arial"/>
                <a:ea typeface="Arial"/>
                <a:cs typeface="Arial"/>
              </a:defRPr>
            </a:defPPr>
          </a:lstStyle>
          <a:p xmlns:a="http://schemas.openxmlformats.org/drawingml/2006/main">
            <a:pPr algn="l">
              <a:defRPr sz="2025" b="0">
                <a:solidFill>
                  <a:srgbClr val="F3F6FA"/>
                </a:solidFill>
                <a:latin typeface="Arial"/>
                <a:ea typeface="Arial"/>
                <a:cs typeface="Arial"/>
              </a:defRPr>
            </a:pPr>
            <a:r>
              <a:rPr sz="2025" b="0">
                <a:solidFill>
                  <a:srgbClr val="F3F6FA"/>
                </a:solidFill>
                <a:latin typeface="Arial"/>
                <a:ea typeface="Arial"/>
                <a:cs typeface="Arial"/>
              </a:rPr>
              <a:t>Color segmentation +</a:t>
            </a:r>
          </a:p>
          <a:p xmlns:a="http://schemas.openxmlformats.org/drawingml/2006/main">
            <a:pPr algn="l">
              <a:defRPr sz="2025" b="0">
                <a:solidFill>
                  <a:srgbClr val="F3F6FA"/>
                </a:solidFill>
                <a:latin typeface="Arial"/>
                <a:ea typeface="Arial"/>
                <a:cs typeface="Arial"/>
              </a:defRPr>
            </a:pPr>
            <a:r>
              <a:rPr sz="2025" b="0">
                <a:solidFill>
                  <a:srgbClr val="F3F6FA"/>
                </a:solidFill>
                <a:latin typeface="Arial"/>
                <a:ea typeface="Arial"/>
                <a:cs typeface="Arial"/>
              </a:rPr>
              <a:t>temporal blob association</a:t>
            </a:r>
          </a:p>
          <a:p xmlns:a="http://schemas.openxmlformats.org/drawingml/2006/main">
            <a:pPr algn="l">
              <a:defRPr sz="2025" b="0">
                <a:solidFill>
                  <a:srgbClr val="F3F6FA"/>
                </a:solidFill>
                <a:latin typeface="Arial"/>
                <a:ea typeface="Arial"/>
                <a:cs typeface="Arial"/>
              </a:defRPr>
            </a:pPr>
            <a:r>
              <a:rPr sz="2025" b="0">
                <a:solidFill>
                  <a:srgbClr val="F3F6FA"/>
                </a:solidFill>
                <a:latin typeface="Arial"/>
                <a:ea typeface="Arial"/>
                <a:cs typeface="Arial"/>
              </a:rPr>
              <a:t>Painted-marker condition</a:t>
            </a:r>
          </a:p>
        </p:txBody>
      </p:sp>
      <p:sp>
        <p:nvSpPr>
          <p:cNvPr id="9" name="">
            <a:extLst xmlns:a="http://schemas.openxmlformats.org/drawingml/2006/main">
              <a:ext uri="{FF2B5EF4-FFF2-40B4-BE49-F238E27FC236}">
                <a16:creationId xmlns:a16="http://schemas.microsoft.com/office/drawing/2014/main" id="{ECBAB40C-3727-4B9C-AAE0-7BB4A1AA93CE}"/>
              </a:ext>
            </a:extLst>
          </p:cNvPr>
          <p:cNvSpPr>
            <a:spLocks xmlns:a="http://schemas.openxmlformats.org/drawingml/2006/main" noGrp="1"/>
          </p:cNvSpPr>
          <p:nvPr/>
        </p:nvSpPr>
        <p:spPr>
          <a:xfrm xmlns:a="http://schemas.openxmlformats.org/drawingml/2006/main">
            <a:off x="7467600" y="5114925"/>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D27A"/>
                </a:solidFill>
                <a:latin typeface="Arial"/>
                <a:ea typeface="Arial"/>
                <a:cs typeface="Arial"/>
              </a:defRPr>
            </a:defPPr>
          </a:lstStyle>
          <a:p xmlns:a="http://schemas.openxmlformats.org/drawingml/2006/main">
            <a:pPr algn="l">
              <a:defRPr sz="1950" b="0">
                <a:solidFill>
                  <a:srgbClr val="FFD27A"/>
                </a:solidFill>
                <a:latin typeface="Arial"/>
                <a:ea typeface="Arial"/>
                <a:cs typeface="Arial"/>
              </a:defRPr>
            </a:pPr>
            <a:r>
              <a:rPr sz="1950" b="0">
                <a:solidFill>
                  <a:srgbClr val="FFD27A"/>
                </a:solidFill>
                <a:latin typeface="Arial"/>
                <a:ea typeface="Arial"/>
                <a:cs typeface="Arial"/>
              </a:rPr>
              <a:t>Missing evidence must</a:t>
            </a:r>
          </a:p>
          <a:p xmlns:a="http://schemas.openxmlformats.org/drawingml/2006/main">
            <a:pPr algn="l">
              <a:defRPr sz="1950" b="0">
                <a:solidFill>
                  <a:srgbClr val="FFD27A"/>
                </a:solidFill>
                <a:latin typeface="Arial"/>
                <a:ea typeface="Arial"/>
                <a:cs typeface="Arial"/>
              </a:defRPr>
            </a:pPr>
            <a:r>
              <a:rPr sz="1950" b="0">
                <a:solidFill>
                  <a:srgbClr val="FFD27A"/>
                </a:solidFill>
                <a:latin typeface="Arial"/>
                <a:ea typeface="Arial"/>
                <a:cs typeface="Arial"/>
              </a:rPr>
              <a:t>remain missing.</a:t>
            </a:r>
          </a:p>
        </p:txBody>
      </p:sp>
    </p:spTree>
    <p:extLst>
      <p:ext uri="{BB962C8B-B14F-4D97-AF65-F5344CB8AC3E}">
        <p14:creationId xmlns:p14="http://schemas.microsoft.com/office/powerpoint/2010/main" val="2080662174"/>
      </p:ext>
    </p:extLst>
  </p:cSld>
</p:sld>
</file>

<file path=ppt/slides/slide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4E0E8E32-34E4-4BAA-8E45-2689D20C50C2}"/>
              </a:ext>
            </a:extLst>
          </p:cNvPr>
          <p:cNvCxnSpPr>
            <a:stCxn xmlns:a="http://schemas.openxmlformats.org/drawingml/2006/main" id="13" idx="3"/>
            <a:endCxn xmlns:a="http://schemas.openxmlformats.org/drawingml/2006/main" id="16" idx="1"/>
          </p:cNvCxnSpPr>
          <p:nvPr/>
        </p:nvCxnSpPr>
        <p:spPr>
          <a:xfrm xmlns:a="http://schemas.openxmlformats.org/drawingml/2006/main">
            <a:off x="9344025" y="2405063"/>
            <a:ext cx="219075" cy="0"/>
          </a:xfrm>
          <a:prstGeom xmlns:a="http://schemas.openxmlformats.org/drawingml/2006/main" prst="straightConnector1">
            <a:avLst/>
          </a:prstGeom>
          <a:ln xmlns:a="http://schemas.openxmlformats.org/drawingml/2006/main" w="28575">
            <a:solidFill>
              <a:srgbClr val="49DDEB"/>
            </a:solidFill>
            <a:tailEnd type="triangle" w="med" len="med"/>
          </a:ln>
        </p:spPr>
      </p:cxnSp>
      <p:cxnSp>
        <p:nvCxnSpPr>
          <p:cNvPr id="21" name="">
            <a:extLst xmlns:a="http://schemas.openxmlformats.org/drawingml/2006/main">
              <a:ext uri="{FF2B5EF4-FFF2-40B4-BE49-F238E27FC236}">
                <a16:creationId xmlns:a16="http://schemas.microsoft.com/office/drawing/2014/main" id="{F0FEEC83-71BA-4B2C-948E-DF16F4AE7D29}"/>
              </a:ext>
            </a:extLst>
          </p:cNvPr>
          <p:cNvCxnSpPr>
            <a:stCxn xmlns:a="http://schemas.openxmlformats.org/drawingml/2006/main" id="10" idx="3"/>
            <a:endCxn xmlns:a="http://schemas.openxmlformats.org/drawingml/2006/main" id="13" idx="1"/>
          </p:cNvCxnSpPr>
          <p:nvPr/>
        </p:nvCxnSpPr>
        <p:spPr>
          <a:xfrm xmlns:a="http://schemas.openxmlformats.org/drawingml/2006/main">
            <a:off x="7105650" y="2405063"/>
            <a:ext cx="219075" cy="0"/>
          </a:xfrm>
          <a:prstGeom xmlns:a="http://schemas.openxmlformats.org/drawingml/2006/main" prst="straightConnector1">
            <a:avLst/>
          </a:prstGeom>
          <a:ln xmlns:a="http://schemas.openxmlformats.org/drawingml/2006/main" w="28575">
            <a:solidFill>
              <a:srgbClr val="49DDEB"/>
            </a:solidFill>
            <a:tailEnd type="triangle" w="med" len="med"/>
          </a:ln>
        </p:spPr>
      </p:cxnSp>
      <p:cxnSp>
        <p:nvCxnSpPr>
          <p:cNvPr id="20" name="">
            <a:extLst xmlns:a="http://schemas.openxmlformats.org/drawingml/2006/main">
              <a:ext uri="{FF2B5EF4-FFF2-40B4-BE49-F238E27FC236}">
                <a16:creationId xmlns:a16="http://schemas.microsoft.com/office/drawing/2014/main" id="{14003045-C617-4A00-A07D-73F1F307A328}"/>
              </a:ext>
            </a:extLst>
          </p:cNvPr>
          <p:cNvCxnSpPr>
            <a:stCxn xmlns:a="http://schemas.openxmlformats.org/drawingml/2006/main" id="7" idx="3"/>
            <a:endCxn xmlns:a="http://schemas.openxmlformats.org/drawingml/2006/main" id="10" idx="1"/>
          </p:cNvCxnSpPr>
          <p:nvPr/>
        </p:nvCxnSpPr>
        <p:spPr>
          <a:xfrm xmlns:a="http://schemas.openxmlformats.org/drawingml/2006/main">
            <a:off x="4867275" y="2405063"/>
            <a:ext cx="219075" cy="0"/>
          </a:xfrm>
          <a:prstGeom xmlns:a="http://schemas.openxmlformats.org/drawingml/2006/main" prst="straightConnector1">
            <a:avLst/>
          </a:prstGeom>
          <a:ln xmlns:a="http://schemas.openxmlformats.org/drawingml/2006/main" w="28575">
            <a:solidFill>
              <a:srgbClr val="49DDEB"/>
            </a:solidFill>
            <a:tailEnd type="triangle" w="med" len="med"/>
          </a:ln>
        </p:spPr>
      </p:cxnSp>
      <p:cxnSp>
        <p:nvCxnSpPr>
          <p:cNvPr id="19" name="">
            <a:extLst xmlns:a="http://schemas.openxmlformats.org/drawingml/2006/main">
              <a:ext uri="{FF2B5EF4-FFF2-40B4-BE49-F238E27FC236}">
                <a16:creationId xmlns:a16="http://schemas.microsoft.com/office/drawing/2014/main" id="{1A75502D-4832-4CD1-A391-B4F90E26D8DA}"/>
              </a:ext>
            </a:extLst>
          </p:cNvPr>
          <p:cNvCxnSpPr>
            <a:stCxn xmlns:a="http://schemas.openxmlformats.org/drawingml/2006/main" id="4" idx="3"/>
            <a:endCxn xmlns:a="http://schemas.openxmlformats.org/drawingml/2006/main" id="7" idx="1"/>
          </p:cNvCxnSpPr>
          <p:nvPr/>
        </p:nvCxnSpPr>
        <p:spPr>
          <a:xfrm xmlns:a="http://schemas.openxmlformats.org/drawingml/2006/main">
            <a:off x="2628900" y="2405063"/>
            <a:ext cx="219075" cy="0"/>
          </a:xfrm>
          <a:prstGeom xmlns:a="http://schemas.openxmlformats.org/drawingml/2006/main" prst="straightConnector1">
            <a:avLst/>
          </a:prstGeom>
          <a:ln xmlns:a="http://schemas.openxmlformats.org/drawingml/2006/main" w="28575">
            <a:solidFill>
              <a:srgbClr val="49DDEB"/>
            </a:solidFill>
            <a:tailEnd type="triangle" w="med" len="med"/>
          </a:ln>
        </p:spPr>
      </p:cxnSp>
      <p:sp>
        <p:nvSpPr>
          <p:cNvPr id="28" name="">
            <a:extLst xmlns:a="http://schemas.openxmlformats.org/drawingml/2006/main">
              <a:ext uri="{FF2B5EF4-FFF2-40B4-BE49-F238E27FC236}">
                <a16:creationId xmlns:a16="http://schemas.microsoft.com/office/drawing/2014/main" id="{6DB3FA35-2FAA-4CE0-B298-6496A67D2FD8}"/>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6FA"/>
                </a:solidFill>
                <a:latin typeface="Arial"/>
                <a:ea typeface="Arial"/>
                <a:cs typeface="Arial"/>
              </a:defRPr>
            </a:defPPr>
          </a:lstStyle>
          <a:p xmlns:a="http://schemas.openxmlformats.org/drawingml/2006/main">
            <a:pPr algn="l">
              <a:defRPr sz="3450" b="1">
                <a:solidFill>
                  <a:srgbClr val="F3F6FA"/>
                </a:solidFill>
                <a:latin typeface="Arial"/>
                <a:ea typeface="Arial"/>
                <a:cs typeface="Arial"/>
              </a:defRPr>
            </a:pPr>
            <a:r>
              <a:rPr sz="3450" b="1">
                <a:solidFill>
                  <a:srgbClr val="F3F6FA"/>
                </a:solidFill>
                <a:latin typeface="Arial"/>
                <a:ea typeface="Arial"/>
                <a:cs typeface="Arial"/>
              </a:rPr>
              <a:t>Strike Detection and Motion Analysis</a:t>
            </a:r>
          </a:p>
        </p:txBody>
      </p:sp>
      <p:sp>
        <p:nvSpPr>
          <p:cNvPr id="2" name="">
            <a:extLst xmlns:a="http://schemas.openxmlformats.org/drawingml/2006/main">
              <a:ext uri="{FF2B5EF4-FFF2-40B4-BE49-F238E27FC236}">
                <a16:creationId xmlns:a16="http://schemas.microsoft.com/office/drawing/2014/main" id="{2825FEBF-54AA-4053-9712-07083EA15535}"/>
              </a:ext>
            </a:extLst>
          </p:cNvPr>
          <p:cNvSpPr>
            <a:spLocks xmlns:a="http://schemas.openxmlformats.org/drawingml/2006/main" noGrp="1"/>
          </p:cNvSpPr>
          <p:nvPr/>
        </p:nvSpPr>
        <p:spPr>
          <a:xfrm xmlns:a="http://schemas.openxmlformats.org/drawingml/2006/main">
            <a:off x="1116330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B6C5D8"/>
                </a:solidFill>
                <a:latin typeface="Arial"/>
                <a:ea typeface="Arial"/>
                <a:cs typeface="Arial"/>
              </a:defRPr>
            </a:defPPr>
          </a:lstStyle>
          <a:p xmlns:a="http://schemas.openxmlformats.org/drawingml/2006/main">
            <a:pPr algn="r">
              <a:defRPr sz="1425" b="0">
                <a:solidFill>
                  <a:srgbClr val="B6C5D8"/>
                </a:solidFill>
                <a:latin typeface="Arial"/>
                <a:ea typeface="Arial"/>
                <a:cs typeface="Arial"/>
              </a:defRPr>
            </a:pPr>
            <a:r>
              <a:rPr sz="1425" b="0">
                <a:solidFill>
                  <a:srgbClr val="B6C5D8"/>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86F57FB0-E601-4F75-A295-5DFD78193438}"/>
              </a:ext>
            </a:extLst>
          </p:cNvPr>
          <p:cNvSpPr>
            <a:spLocks xmlns:a="http://schemas.openxmlformats.org/drawingml/2006/main" noGrp="1"/>
          </p:cNvSpPr>
          <p:nvPr/>
        </p:nvSpPr>
        <p:spPr>
          <a:xfrm xmlns:a="http://schemas.openxmlformats.org/drawingml/2006/main">
            <a:off x="609600" y="6229350"/>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6C5D8"/>
                </a:solidFill>
                <a:latin typeface="Arial"/>
                <a:ea typeface="Arial"/>
                <a:cs typeface="Arial"/>
              </a:defRPr>
            </a:defPPr>
          </a:lstStyle>
          <a:p xmlns:a="http://schemas.openxmlformats.org/drawingml/2006/main">
            <a:pPr algn="l">
              <a:defRPr sz="1275" b="0">
                <a:solidFill>
                  <a:srgbClr val="B6C5D8"/>
                </a:solidFill>
                <a:latin typeface="Arial"/>
                <a:ea typeface="Arial"/>
                <a:cs typeface="Arial"/>
              </a:defRPr>
            </a:pPr>
            <a:r>
              <a:rPr sz="1275" b="0">
                <a:solidFill>
                  <a:srgbClr val="B6C5D8"/>
                </a:solidFill>
                <a:latin typeface="Arial"/>
                <a:ea typeface="Arial"/>
                <a:cs typeface="Arial"/>
              </a:rPr>
              <a:t>Demo look-ahead is a candidate setting, not measured latency reduction</a:t>
            </a:r>
          </a:p>
        </p:txBody>
      </p:sp>
      <p:sp>
        <p:nvSpPr>
          <p:cNvPr id="4" name="">
            <a:extLst xmlns:a="http://schemas.openxmlformats.org/drawingml/2006/main">
              <a:ext uri="{FF2B5EF4-FFF2-40B4-BE49-F238E27FC236}">
                <a16:creationId xmlns:a16="http://schemas.microsoft.com/office/drawing/2014/main" id="{EE2AEB12-7A66-40BA-BED5-69297CF0F847}"/>
              </a:ext>
            </a:extLst>
          </p:cNvPr>
          <p:cNvSpPr>
            <a:spLocks xmlns:a="http://schemas.openxmlformats.org/drawingml/2006/main" noGrp="1"/>
          </p:cNvSpPr>
          <p:nvPr/>
        </p:nvSpPr>
        <p:spPr>
          <a:xfrm xmlns:a="http://schemas.openxmlformats.org/drawingml/2006/main">
            <a:off x="609600" y="1762125"/>
            <a:ext cx="2019300" cy="1285875"/>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5" name="">
            <a:extLst xmlns:a="http://schemas.openxmlformats.org/drawingml/2006/main">
              <a:ext uri="{FF2B5EF4-FFF2-40B4-BE49-F238E27FC236}">
                <a16:creationId xmlns:a16="http://schemas.microsoft.com/office/drawing/2014/main" id="{FB700F46-E4CD-4F4B-AA89-1C50C5B10B5A}"/>
              </a:ext>
            </a:extLst>
          </p:cNvPr>
          <p:cNvSpPr>
            <a:spLocks xmlns:a="http://schemas.openxmlformats.org/drawingml/2006/main" noGrp="1"/>
          </p:cNvSpPr>
          <p:nvPr/>
        </p:nvSpPr>
        <p:spPr>
          <a:xfrm xmlns:a="http://schemas.openxmlformats.org/drawingml/2006/main">
            <a:off x="781050" y="1924050"/>
            <a:ext cx="167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Measured tip</a:t>
            </a:r>
          </a:p>
        </p:txBody>
      </p:sp>
      <p:sp>
        <p:nvSpPr>
          <p:cNvPr id="6" name="">
            <a:extLst xmlns:a="http://schemas.openxmlformats.org/drawingml/2006/main">
              <a:ext uri="{FF2B5EF4-FFF2-40B4-BE49-F238E27FC236}">
                <a16:creationId xmlns:a16="http://schemas.microsoft.com/office/drawing/2014/main" id="{628A3765-783A-48B8-9D32-6622FEA135C3}"/>
              </a:ext>
            </a:extLst>
          </p:cNvPr>
          <p:cNvSpPr>
            <a:spLocks xmlns:a="http://schemas.openxmlformats.org/drawingml/2006/main" noGrp="1"/>
          </p:cNvSpPr>
          <p:nvPr/>
        </p:nvSpPr>
        <p:spPr>
          <a:xfrm xmlns:a="http://schemas.openxmlformats.org/drawingml/2006/main">
            <a:off x="781050" y="2352675"/>
            <a:ext cx="1676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Current frame</a:t>
            </a:r>
          </a:p>
        </p:txBody>
      </p:sp>
      <p:sp>
        <p:nvSpPr>
          <p:cNvPr id="7" name="">
            <a:extLst xmlns:a="http://schemas.openxmlformats.org/drawingml/2006/main">
              <a:ext uri="{FF2B5EF4-FFF2-40B4-BE49-F238E27FC236}">
                <a16:creationId xmlns:a16="http://schemas.microsoft.com/office/drawing/2014/main" id="{D8E4416C-9384-4280-8517-4815440E6A27}"/>
              </a:ext>
            </a:extLst>
          </p:cNvPr>
          <p:cNvSpPr>
            <a:spLocks xmlns:a="http://schemas.openxmlformats.org/drawingml/2006/main" noGrp="1"/>
          </p:cNvSpPr>
          <p:nvPr/>
        </p:nvSpPr>
        <p:spPr>
          <a:xfrm xmlns:a="http://schemas.openxmlformats.org/drawingml/2006/main">
            <a:off x="2847975" y="1762125"/>
            <a:ext cx="2019300" cy="1285875"/>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8" name="">
            <a:extLst xmlns:a="http://schemas.openxmlformats.org/drawingml/2006/main">
              <a:ext uri="{FF2B5EF4-FFF2-40B4-BE49-F238E27FC236}">
                <a16:creationId xmlns:a16="http://schemas.microsoft.com/office/drawing/2014/main" id="{29366D17-7632-48B4-94A2-D9A7024E4DF2}"/>
              </a:ext>
            </a:extLst>
          </p:cNvPr>
          <p:cNvSpPr>
            <a:spLocks xmlns:a="http://schemas.openxmlformats.org/drawingml/2006/main" noGrp="1"/>
          </p:cNvSpPr>
          <p:nvPr/>
        </p:nvSpPr>
        <p:spPr>
          <a:xfrm xmlns:a="http://schemas.openxmlformats.org/drawingml/2006/main">
            <a:off x="3019425" y="1924050"/>
            <a:ext cx="167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Downstroke</a:t>
            </a:r>
          </a:p>
        </p:txBody>
      </p:sp>
      <p:sp>
        <p:nvSpPr>
          <p:cNvPr id="9" name="">
            <a:extLst xmlns:a="http://schemas.openxmlformats.org/drawingml/2006/main">
              <a:ext uri="{FF2B5EF4-FFF2-40B4-BE49-F238E27FC236}">
                <a16:creationId xmlns:a16="http://schemas.microsoft.com/office/drawing/2014/main" id="{D4486665-17DD-4D11-BD55-87FB76BFC093}"/>
              </a:ext>
            </a:extLst>
          </p:cNvPr>
          <p:cNvSpPr>
            <a:spLocks xmlns:a="http://schemas.openxmlformats.org/drawingml/2006/main" noGrp="1"/>
          </p:cNvSpPr>
          <p:nvPr/>
        </p:nvSpPr>
        <p:spPr>
          <a:xfrm xmlns:a="http://schemas.openxmlformats.org/drawingml/2006/main">
            <a:off x="3019425" y="2352675"/>
            <a:ext cx="1676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Speed + travel</a:t>
            </a:r>
          </a:p>
        </p:txBody>
      </p:sp>
      <p:sp>
        <p:nvSpPr>
          <p:cNvPr id="10" name="">
            <a:extLst xmlns:a="http://schemas.openxmlformats.org/drawingml/2006/main">
              <a:ext uri="{FF2B5EF4-FFF2-40B4-BE49-F238E27FC236}">
                <a16:creationId xmlns:a16="http://schemas.microsoft.com/office/drawing/2014/main" id="{3C3B1B27-C324-480A-9F44-D903779CEFD8}"/>
              </a:ext>
            </a:extLst>
          </p:cNvPr>
          <p:cNvSpPr>
            <a:spLocks xmlns:a="http://schemas.openxmlformats.org/drawingml/2006/main" noGrp="1"/>
          </p:cNvSpPr>
          <p:nvPr/>
        </p:nvSpPr>
        <p:spPr>
          <a:xfrm xmlns:a="http://schemas.openxmlformats.org/drawingml/2006/main">
            <a:off x="5086350" y="1762125"/>
            <a:ext cx="2019300" cy="1285875"/>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11" name="">
            <a:extLst xmlns:a="http://schemas.openxmlformats.org/drawingml/2006/main">
              <a:ext uri="{FF2B5EF4-FFF2-40B4-BE49-F238E27FC236}">
                <a16:creationId xmlns:a16="http://schemas.microsoft.com/office/drawing/2014/main" id="{0CBFB56F-8230-49BB-94CA-2B1CA57EE926}"/>
              </a:ext>
            </a:extLst>
          </p:cNvPr>
          <p:cNvSpPr>
            <a:spLocks xmlns:a="http://schemas.openxmlformats.org/drawingml/2006/main" noGrp="1"/>
          </p:cNvSpPr>
          <p:nvPr/>
        </p:nvSpPr>
        <p:spPr>
          <a:xfrm xmlns:a="http://schemas.openxmlformats.org/drawingml/2006/main">
            <a:off x="5257800" y="1924050"/>
            <a:ext cx="167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Top edge</a:t>
            </a:r>
          </a:p>
        </p:txBody>
      </p:sp>
      <p:sp>
        <p:nvSpPr>
          <p:cNvPr id="12" name="">
            <a:extLst xmlns:a="http://schemas.openxmlformats.org/drawingml/2006/main">
              <a:ext uri="{FF2B5EF4-FFF2-40B4-BE49-F238E27FC236}">
                <a16:creationId xmlns:a16="http://schemas.microsoft.com/office/drawing/2014/main" id="{27459124-10F7-431E-BDFE-AF318BC59B86}"/>
              </a:ext>
            </a:extLst>
          </p:cNvPr>
          <p:cNvSpPr>
            <a:spLocks xmlns:a="http://schemas.openxmlformats.org/drawingml/2006/main" noGrp="1"/>
          </p:cNvSpPr>
          <p:nvPr/>
        </p:nvSpPr>
        <p:spPr>
          <a:xfrm xmlns:a="http://schemas.openxmlformats.org/drawingml/2006/main">
            <a:off x="5257800" y="2352675"/>
            <a:ext cx="1676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Earliest crossing</a:t>
            </a:r>
          </a:p>
        </p:txBody>
      </p:sp>
      <p:sp>
        <p:nvSpPr>
          <p:cNvPr id="13" name="">
            <a:extLst xmlns:a="http://schemas.openxmlformats.org/drawingml/2006/main">
              <a:ext uri="{FF2B5EF4-FFF2-40B4-BE49-F238E27FC236}">
                <a16:creationId xmlns:a16="http://schemas.microsoft.com/office/drawing/2014/main" id="{A1AC758B-D26C-47F9-9D3C-F177C4C00286}"/>
              </a:ext>
            </a:extLst>
          </p:cNvPr>
          <p:cNvSpPr>
            <a:spLocks xmlns:a="http://schemas.openxmlformats.org/drawingml/2006/main" noGrp="1"/>
          </p:cNvSpPr>
          <p:nvPr/>
        </p:nvSpPr>
        <p:spPr>
          <a:xfrm xmlns:a="http://schemas.openxmlformats.org/drawingml/2006/main">
            <a:off x="7324725" y="1762125"/>
            <a:ext cx="2019300" cy="1285875"/>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14" name="">
            <a:extLst xmlns:a="http://schemas.openxmlformats.org/drawingml/2006/main">
              <a:ext uri="{FF2B5EF4-FFF2-40B4-BE49-F238E27FC236}">
                <a16:creationId xmlns:a16="http://schemas.microsoft.com/office/drawing/2014/main" id="{D87F74C6-2C6A-4CA5-9AD6-895372DD7C01}"/>
              </a:ext>
            </a:extLst>
          </p:cNvPr>
          <p:cNvSpPr>
            <a:spLocks xmlns:a="http://schemas.openxmlformats.org/drawingml/2006/main" noGrp="1"/>
          </p:cNvSpPr>
          <p:nvPr/>
        </p:nvSpPr>
        <p:spPr>
          <a:xfrm xmlns:a="http://schemas.openxmlformats.org/drawingml/2006/main">
            <a:off x="7496175" y="1924050"/>
            <a:ext cx="167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Commit</a:t>
            </a:r>
          </a:p>
        </p:txBody>
      </p:sp>
      <p:sp>
        <p:nvSpPr>
          <p:cNvPr id="15" name="">
            <a:extLst xmlns:a="http://schemas.openxmlformats.org/drawingml/2006/main">
              <a:ext uri="{FF2B5EF4-FFF2-40B4-BE49-F238E27FC236}">
                <a16:creationId xmlns:a16="http://schemas.microsoft.com/office/drawing/2014/main" id="{E3C45363-FC78-4DD0-B5F9-57E8F89FD5A9}"/>
              </a:ext>
            </a:extLst>
          </p:cNvPr>
          <p:cNvSpPr>
            <a:spLocks xmlns:a="http://schemas.openxmlformats.org/drawingml/2006/main" noGrp="1"/>
          </p:cNvSpPr>
          <p:nvPr/>
        </p:nvSpPr>
        <p:spPr>
          <a:xfrm xmlns:a="http://schemas.openxmlformats.org/drawingml/2006/main">
            <a:off x="7496175" y="2352675"/>
            <a:ext cx="1676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Status + repeats</a:t>
            </a:r>
          </a:p>
        </p:txBody>
      </p:sp>
      <p:sp>
        <p:nvSpPr>
          <p:cNvPr id="16" name="">
            <a:extLst xmlns:a="http://schemas.openxmlformats.org/drawingml/2006/main">
              <a:ext uri="{FF2B5EF4-FFF2-40B4-BE49-F238E27FC236}">
                <a16:creationId xmlns:a16="http://schemas.microsoft.com/office/drawing/2014/main" id="{F4E14552-4EB8-41ED-BFDF-37415D6781A6}"/>
              </a:ext>
            </a:extLst>
          </p:cNvPr>
          <p:cNvSpPr>
            <a:spLocks xmlns:a="http://schemas.openxmlformats.org/drawingml/2006/main" noGrp="1"/>
          </p:cNvSpPr>
          <p:nvPr/>
        </p:nvSpPr>
        <p:spPr>
          <a:xfrm xmlns:a="http://schemas.openxmlformats.org/drawingml/2006/main">
            <a:off x="9563100" y="1762125"/>
            <a:ext cx="2019300" cy="1285875"/>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17" name="">
            <a:extLst xmlns:a="http://schemas.openxmlformats.org/drawingml/2006/main">
              <a:ext uri="{FF2B5EF4-FFF2-40B4-BE49-F238E27FC236}">
                <a16:creationId xmlns:a16="http://schemas.microsoft.com/office/drawing/2014/main" id="{789DA49A-FA5D-4034-8DE1-B0D0193F2294}"/>
              </a:ext>
            </a:extLst>
          </p:cNvPr>
          <p:cNvSpPr>
            <a:spLocks xmlns:a="http://schemas.openxmlformats.org/drawingml/2006/main" noGrp="1"/>
          </p:cNvSpPr>
          <p:nvPr/>
        </p:nvSpPr>
        <p:spPr>
          <a:xfrm xmlns:a="http://schemas.openxmlformats.org/drawingml/2006/main">
            <a:off x="9734550" y="1924050"/>
            <a:ext cx="167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Drum event</a:t>
            </a:r>
          </a:p>
        </p:txBody>
      </p:sp>
      <p:sp>
        <p:nvSpPr>
          <p:cNvPr id="18" name="">
            <a:extLst xmlns:a="http://schemas.openxmlformats.org/drawingml/2006/main">
              <a:ext uri="{FF2B5EF4-FFF2-40B4-BE49-F238E27FC236}">
                <a16:creationId xmlns:a16="http://schemas.microsoft.com/office/drawing/2014/main" id="{4C15CD77-11AD-411D-899C-6B9A0C6490B6}"/>
              </a:ext>
            </a:extLst>
          </p:cNvPr>
          <p:cNvSpPr>
            <a:spLocks xmlns:a="http://schemas.openxmlformats.org/drawingml/2006/main" noGrp="1"/>
          </p:cNvSpPr>
          <p:nvPr/>
        </p:nvSpPr>
        <p:spPr>
          <a:xfrm xmlns:a="http://schemas.openxmlformats.org/drawingml/2006/main">
            <a:off x="9734550" y="2352675"/>
            <a:ext cx="1676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Zone + gain</a:t>
            </a:r>
          </a:p>
        </p:txBody>
      </p:sp>
      <p:sp>
        <p:nvSpPr>
          <p:cNvPr id="23" name="">
            <a:extLst xmlns:a="http://schemas.openxmlformats.org/drawingml/2006/main">
              <a:ext uri="{FF2B5EF4-FFF2-40B4-BE49-F238E27FC236}">
                <a16:creationId xmlns:a16="http://schemas.microsoft.com/office/drawing/2014/main" id="{1AF77C07-BFE8-48BA-9124-827F65504E41}"/>
              </a:ext>
            </a:extLst>
          </p:cNvPr>
          <p:cNvSpPr>
            <a:spLocks xmlns:a="http://schemas.openxmlformats.org/drawingml/2006/main" noGrp="1"/>
          </p:cNvSpPr>
          <p:nvPr/>
        </p:nvSpPr>
        <p:spPr>
          <a:xfrm xmlns:a="http://schemas.openxmlformats.org/drawingml/2006/main">
            <a:off x="609600" y="35909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One zone per downstroke</a:t>
            </a:r>
          </a:p>
        </p:txBody>
      </p:sp>
      <p:sp>
        <p:nvSpPr>
          <p:cNvPr id="24" name="">
            <a:extLst xmlns:a="http://schemas.openxmlformats.org/drawingml/2006/main">
              <a:ext uri="{FF2B5EF4-FFF2-40B4-BE49-F238E27FC236}">
                <a16:creationId xmlns:a16="http://schemas.microsoft.com/office/drawing/2014/main" id="{5E1F09E0-6B62-4E59-9CB6-17C44DF67058}"/>
              </a:ext>
            </a:extLst>
          </p:cNvPr>
          <p:cNvSpPr>
            <a:spLocks xmlns:a="http://schemas.openxmlformats.org/drawingml/2006/main" noGrp="1"/>
          </p:cNvSpPr>
          <p:nvPr/>
        </p:nvSpPr>
        <p:spPr>
          <a:xfrm xmlns:a="http://schemas.openxmlformats.org/drawingml/2006/main">
            <a:off x="609600" y="4048125"/>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3F6FA"/>
                </a:solidFill>
                <a:latin typeface="Arial"/>
                <a:ea typeface="Arial"/>
                <a:cs typeface="Arial"/>
              </a:defRPr>
            </a:defPPr>
          </a:lstStyle>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Rebound permits the next event.</a:t>
            </a:r>
          </a:p>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An upper-pad crossing can consume</a:t>
            </a:r>
          </a:p>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a lower-pad stroke.</a:t>
            </a:r>
          </a:p>
        </p:txBody>
      </p:sp>
      <p:sp>
        <p:nvSpPr>
          <p:cNvPr id="25" name="">
            <a:extLst xmlns:a="http://schemas.openxmlformats.org/drawingml/2006/main">
              <a:ext uri="{FF2B5EF4-FFF2-40B4-BE49-F238E27FC236}">
                <a16:creationId xmlns:a16="http://schemas.microsoft.com/office/drawing/2014/main" id="{20E00469-8CA7-4E74-A410-4010D196DF6A}"/>
              </a:ext>
            </a:extLst>
          </p:cNvPr>
          <p:cNvSpPr>
            <a:spLocks xmlns:a="http://schemas.openxmlformats.org/drawingml/2006/main" noGrp="1"/>
          </p:cNvSpPr>
          <p:nvPr/>
        </p:nvSpPr>
        <p:spPr>
          <a:xfrm xmlns:a="http://schemas.openxmlformats.org/drawingml/2006/main">
            <a:off x="6477000" y="3590925"/>
            <a:ext cx="509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Demo adds 33 ms look-ahead</a:t>
            </a:r>
          </a:p>
        </p:txBody>
      </p:sp>
      <p:sp>
        <p:nvSpPr>
          <p:cNvPr id="26" name="">
            <a:extLst xmlns:a="http://schemas.openxmlformats.org/drawingml/2006/main">
              <a:ext uri="{FF2B5EF4-FFF2-40B4-BE49-F238E27FC236}">
                <a16:creationId xmlns:a16="http://schemas.microsoft.com/office/drawing/2014/main" id="{756AE429-AA8F-4612-899B-1296524AEBFE}"/>
              </a:ext>
            </a:extLst>
          </p:cNvPr>
          <p:cNvSpPr>
            <a:spLocks xmlns:a="http://schemas.openxmlformats.org/drawingml/2006/main" noGrp="1"/>
          </p:cNvSpPr>
          <p:nvPr/>
        </p:nvSpPr>
        <p:spPr>
          <a:xfrm xmlns:a="http://schemas.openxmlformats.org/drawingml/2006/main">
            <a:off x="6477000" y="4048125"/>
            <a:ext cx="5095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3F6FA"/>
                </a:solidFill>
                <a:latin typeface="Arial"/>
                <a:ea typeface="Arial"/>
                <a:cs typeface="Arial"/>
              </a:defRPr>
            </a:defPPr>
          </a:lstStyle>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Sustained downward motion may</a:t>
            </a:r>
          </a:p>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trigger before crossing. A stop-short</a:t>
            </a:r>
          </a:p>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movement can sound.</a:t>
            </a:r>
          </a:p>
        </p:txBody>
      </p:sp>
      <p:sp>
        <p:nvSpPr>
          <p:cNvPr id="27" name="">
            <a:extLst xmlns:a="http://schemas.openxmlformats.org/drawingml/2006/main">
              <a:ext uri="{FF2B5EF4-FFF2-40B4-BE49-F238E27FC236}">
                <a16:creationId xmlns:a16="http://schemas.microsoft.com/office/drawing/2014/main" id="{F464CDD4-06A1-42A2-ADE2-7E3BC4F3A886}"/>
              </a:ext>
            </a:extLst>
          </p:cNvPr>
          <p:cNvSpPr>
            <a:spLocks xmlns:a="http://schemas.openxmlformats.org/drawingml/2006/main" noGrp="1"/>
          </p:cNvSpPr>
          <p:nvPr/>
        </p:nvSpPr>
        <p:spPr>
          <a:xfrm xmlns:a="http://schemas.openxmlformats.org/drawingml/2006/main">
            <a:off x="609600" y="5543550"/>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D27A"/>
                </a:solidFill>
                <a:latin typeface="Arial"/>
                <a:ea typeface="Arial"/>
                <a:cs typeface="Arial"/>
              </a:defRPr>
            </a:defPPr>
          </a:lstStyle>
          <a:p xmlns:a="http://schemas.openxmlformats.org/drawingml/2006/main">
            <a:pPr algn="l">
              <a:defRPr sz="2025" b="0">
                <a:solidFill>
                  <a:srgbClr val="FFD27A"/>
                </a:solidFill>
                <a:latin typeface="Arial"/>
                <a:ea typeface="Arial"/>
                <a:cs typeface="Arial"/>
              </a:defRPr>
            </a:pPr>
            <a:r>
              <a:rPr sz="2025" b="0">
                <a:solidFill>
                  <a:srgbClr val="FFD27A"/>
                </a:solidFill>
                <a:latin typeface="Arial"/>
                <a:ea typeface="Arial"/>
                <a:cs typeface="Arial"/>
              </a:rPr>
              <a:t>Independent live recall and wrong-zone rate remain unverified.</a:t>
            </a:r>
          </a:p>
        </p:txBody>
      </p:sp>
    </p:spTree>
    <p:extLst>
      <p:ext uri="{BB962C8B-B14F-4D97-AF65-F5344CB8AC3E}">
        <p14:creationId xmlns:p14="http://schemas.microsoft.com/office/powerpoint/2010/main" val="1513825293"/>
      </p:ext>
    </p:extLst>
  </p:cSld>
</p:sld>
</file>

<file path=ppt/slides/slide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30FC71-EE7E-427A-B937-8B02BF9CB07A}"/>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6FA"/>
                </a:solidFill>
                <a:latin typeface="Arial"/>
                <a:ea typeface="Arial"/>
                <a:cs typeface="Arial"/>
              </a:defRPr>
            </a:defPPr>
          </a:lstStyle>
          <a:p xmlns:a="http://schemas.openxmlformats.org/drawingml/2006/main">
            <a:pPr algn="l">
              <a:defRPr sz="3450" b="1">
                <a:solidFill>
                  <a:srgbClr val="F3F6FA"/>
                </a:solidFill>
                <a:latin typeface="Arial"/>
                <a:ea typeface="Arial"/>
                <a:cs typeface="Arial"/>
              </a:defRPr>
            </a:pPr>
            <a:r>
              <a:rPr sz="3450" b="1">
                <a:solidFill>
                  <a:srgbClr val="F3F6FA"/>
                </a:solidFill>
                <a:latin typeface="Arial"/>
                <a:ea typeface="Arial"/>
                <a:cs typeface="Arial"/>
              </a:rPr>
              <a:t>Frontend and User Experience</a:t>
            </a:r>
          </a:p>
        </p:txBody>
      </p:sp>
      <p:sp>
        <p:nvSpPr>
          <p:cNvPr id="2" name="">
            <a:extLst xmlns:a="http://schemas.openxmlformats.org/drawingml/2006/main">
              <a:ext uri="{FF2B5EF4-FFF2-40B4-BE49-F238E27FC236}">
                <a16:creationId xmlns:a16="http://schemas.microsoft.com/office/drawing/2014/main" id="{51805C2E-42B8-4EF4-8D87-319C3227AB6B}"/>
              </a:ext>
            </a:extLst>
          </p:cNvPr>
          <p:cNvSpPr>
            <a:spLocks xmlns:a="http://schemas.openxmlformats.org/drawingml/2006/main" noGrp="1"/>
          </p:cNvSpPr>
          <p:nvPr/>
        </p:nvSpPr>
        <p:spPr>
          <a:xfrm xmlns:a="http://schemas.openxmlformats.org/drawingml/2006/main">
            <a:off x="1116330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B6C5D8"/>
                </a:solidFill>
                <a:latin typeface="Arial"/>
                <a:ea typeface="Arial"/>
                <a:cs typeface="Arial"/>
              </a:defRPr>
            </a:defPPr>
          </a:lstStyle>
          <a:p xmlns:a="http://schemas.openxmlformats.org/drawingml/2006/main">
            <a:pPr algn="r">
              <a:defRPr sz="1425" b="0">
                <a:solidFill>
                  <a:srgbClr val="B6C5D8"/>
                </a:solidFill>
                <a:latin typeface="Arial"/>
                <a:ea typeface="Arial"/>
                <a:cs typeface="Arial"/>
              </a:defRPr>
            </a:pPr>
            <a:r>
              <a:rPr sz="1425" b="0">
                <a:solidFill>
                  <a:srgbClr val="B6C5D8"/>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EBCC0137-DC7A-424A-B3E8-28B504074E70}"/>
              </a:ext>
            </a:extLst>
          </p:cNvPr>
          <p:cNvSpPr>
            <a:spLocks xmlns:a="http://schemas.openxmlformats.org/drawingml/2006/main" noGrp="1"/>
          </p:cNvSpPr>
          <p:nvPr/>
        </p:nvSpPr>
        <p:spPr>
          <a:xfrm xmlns:a="http://schemas.openxmlformats.org/drawingml/2006/main">
            <a:off x="609600" y="6229350"/>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6C5D8"/>
                </a:solidFill>
                <a:latin typeface="Arial"/>
                <a:ea typeface="Arial"/>
                <a:cs typeface="Arial"/>
              </a:defRPr>
            </a:defPPr>
          </a:lstStyle>
          <a:p xmlns:a="http://schemas.openxmlformats.org/drawingml/2006/main">
            <a:pPr algn="l">
              <a:defRPr sz="1275" b="0">
                <a:solidFill>
                  <a:srgbClr val="B6C5D8"/>
                </a:solidFill>
                <a:latin typeface="Arial"/>
                <a:ea typeface="Arial"/>
                <a:cs typeface="Arial"/>
              </a:defRPr>
            </a:pPr>
            <a:r>
              <a:rPr sz="1275" b="0">
                <a:solidFill>
                  <a:srgbClr val="B6C5D8"/>
                </a:solidFill>
                <a:latin typeface="Arial"/>
                <a:ea typeface="Arial"/>
                <a:cs typeface="Arial"/>
              </a:rPr>
              <a:t>Actual application window using recorded frames; fixed guide, audio disabled</a:t>
            </a:r>
          </a:p>
        </p:txBody>
      </p:sp>
      <p:sp>
        <p:nvSpPr>
          <p:cNvPr id="4" name="">
            <a:extLst xmlns:a="http://schemas.openxmlformats.org/drawingml/2006/main">
              <a:ext uri="{FF2B5EF4-FFF2-40B4-BE49-F238E27FC236}">
                <a16:creationId xmlns:a16="http://schemas.microsoft.com/office/drawing/2014/main" id="{FDCB016F-9914-4C09-90EC-292F697DA708}"/>
              </a:ext>
            </a:extLst>
          </p:cNvPr>
          <p:cNvSpPr>
            <a:spLocks xmlns:a="http://schemas.openxmlformats.org/drawingml/2006/main" noGrp="1"/>
          </p:cNvSpPr>
          <p:nvPr/>
        </p:nvSpPr>
        <p:spPr>
          <a:xfrm xmlns:a="http://schemas.openxmlformats.org/drawingml/2006/main">
            <a:off x="609600" y="1628775"/>
            <a:ext cx="361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49DDEB"/>
                </a:solidFill>
                <a:latin typeface="Arial"/>
                <a:ea typeface="Arial"/>
                <a:cs typeface="Arial"/>
              </a:defRPr>
            </a:defPPr>
          </a:lstStyle>
          <a:p xmlns:a="http://schemas.openxmlformats.org/drawingml/2006/main">
            <a:pPr algn="l">
              <a:defRPr sz="2325" b="1">
                <a:solidFill>
                  <a:srgbClr val="49DDEB"/>
                </a:solidFill>
                <a:latin typeface="Arial"/>
                <a:ea typeface="Arial"/>
                <a:cs typeface="Arial"/>
              </a:defRPr>
            </a:pPr>
            <a:r>
              <a:rPr sz="2325" b="1">
                <a:solidFill>
                  <a:srgbClr val="49DDEB"/>
                </a:solidFill>
                <a:latin typeface="Arial"/>
                <a:ea typeface="Arial"/>
                <a:cs typeface="Arial"/>
              </a:rPr>
              <a:t>Seven-piece developer kit</a:t>
            </a:r>
          </a:p>
        </p:txBody>
      </p:sp>
      <p:sp>
        <p:nvSpPr>
          <p:cNvPr id="5" name="">
            <a:extLst xmlns:a="http://schemas.openxmlformats.org/drawingml/2006/main">
              <a:ext uri="{FF2B5EF4-FFF2-40B4-BE49-F238E27FC236}">
                <a16:creationId xmlns:a16="http://schemas.microsoft.com/office/drawing/2014/main" id="{A3CD929B-56F2-495B-8FB8-5B077F85365A}"/>
              </a:ext>
            </a:extLst>
          </p:cNvPr>
          <p:cNvSpPr>
            <a:spLocks xmlns:a="http://schemas.openxmlformats.org/drawingml/2006/main" noGrp="1"/>
          </p:cNvSpPr>
          <p:nvPr/>
        </p:nvSpPr>
        <p:spPr>
          <a:xfrm xmlns:a="http://schemas.openxmlformats.org/drawingml/2006/main">
            <a:off x="609600" y="2667000"/>
            <a:ext cx="3667125"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6FA"/>
                </a:solidFill>
                <a:latin typeface="Arial"/>
                <a:ea typeface="Arial"/>
                <a:cs typeface="Arial"/>
              </a:defRPr>
            </a:defPPr>
          </a:lstStyle>
          <a:p xmlns:a="http://schemas.openxmlformats.org/drawingml/2006/main">
            <a:pPr algn="l">
              <a:defRPr sz="2025" b="0">
                <a:solidFill>
                  <a:srgbClr val="F3F6FA"/>
                </a:solidFill>
                <a:latin typeface="Arial"/>
                <a:ea typeface="Arial"/>
                <a:cs typeface="Arial"/>
              </a:defRPr>
            </a:pPr>
            <a:r>
              <a:rPr sz="2025" b="0">
                <a:solidFill>
                  <a:srgbClr val="F3F6FA"/>
                </a:solidFill>
                <a:latin typeface="Arial"/>
                <a:ea typeface="Arial"/>
                <a:cs typeface="Arial"/>
              </a:rPr>
              <a:t>Mirrored camera preview</a:t>
            </a:r>
          </a:p>
          <a:p xmlns:a="http://schemas.openxmlformats.org/drawingml/2006/main">
            <a:pPr algn="l">
              <a:defRPr sz="2025" b="0">
                <a:solidFill>
                  <a:srgbClr val="F3F6FA"/>
                </a:solidFill>
                <a:latin typeface="Arial"/>
                <a:ea typeface="Arial"/>
                <a:cs typeface="Arial"/>
              </a:defRPr>
            </a:pPr>
            <a:r>
              <a:rPr sz="2025" b="0">
                <a:solidFill>
                  <a:srgbClr val="F3F6FA"/>
                </a:solidFill>
                <a:latin typeface="Arial"/>
                <a:ea typeface="Arial"/>
                <a:cs typeface="Arial"/>
              </a:rPr>
              <a:t>D opens diagnostics</a:t>
            </a:r>
          </a:p>
          <a:p xmlns:a="http://schemas.openxmlformats.org/drawingml/2006/main">
            <a:pPr algn="l">
              <a:defRPr sz="2025" b="0">
                <a:solidFill>
                  <a:srgbClr val="F3F6FA"/>
                </a:solidFill>
                <a:latin typeface="Arial"/>
                <a:ea typeface="Arial"/>
                <a:cs typeface="Arial"/>
              </a:defRPr>
            </a:pPr>
            <a:r>
              <a:rPr sz="2025" b="0">
                <a:solidFill>
                  <a:srgbClr val="F3F6FA"/>
                </a:solidFill>
                <a:latin typeface="Arial"/>
                <a:ea typeface="Arial"/>
                <a:cs typeface="Arial"/>
              </a:rPr>
              <a:t>Layout preview saves pads</a:t>
            </a:r>
          </a:p>
          <a:p xmlns:a="http://schemas.openxmlformats.org/drawingml/2006/main">
            <a:pPr algn="l">
              <a:defRPr sz="2025" b="0">
                <a:solidFill>
                  <a:srgbClr val="F3F6FA"/>
                </a:solidFill>
                <a:latin typeface="Arial"/>
                <a:ea typeface="Arial"/>
                <a:cs typeface="Arial"/>
              </a:defRPr>
            </a:pPr>
            <a:r>
              <a:rPr sz="2025" b="0">
                <a:solidFill>
                  <a:srgbClr val="F3F6FA"/>
                </a:solidFill>
                <a:latin typeface="Arial"/>
                <a:ea typeface="Arial"/>
                <a:cs typeface="Arial"/>
              </a:rPr>
              <a:t>Esc / Q exits</a:t>
            </a:r>
          </a:p>
        </p:txBody>
      </p:sp>
      <p:sp>
        <p:nvSpPr>
          <p:cNvPr id="6" name="">
            <a:extLst xmlns:a="http://schemas.openxmlformats.org/drawingml/2006/main">
              <a:ext uri="{FF2B5EF4-FFF2-40B4-BE49-F238E27FC236}">
                <a16:creationId xmlns:a16="http://schemas.microsoft.com/office/drawing/2014/main" id="{8F03FF2F-971A-42D3-93AE-FBC819E22BEF}"/>
              </a:ext>
            </a:extLst>
          </p:cNvPr>
          <p:cNvSpPr>
            <a:spLocks xmlns:a="http://schemas.openxmlformats.org/drawingml/2006/main" noGrp="1"/>
          </p:cNvSpPr>
          <p:nvPr/>
        </p:nvSpPr>
        <p:spPr>
          <a:xfrm xmlns:a="http://schemas.openxmlformats.org/drawingml/2006/main">
            <a:off x="609600" y="4972050"/>
            <a:ext cx="3667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B69AFF"/>
                </a:solidFill>
                <a:latin typeface="Arial"/>
                <a:ea typeface="Arial"/>
                <a:cs typeface="Arial"/>
              </a:defRPr>
            </a:defPPr>
          </a:lstStyle>
          <a:p xmlns:a="http://schemas.openxmlformats.org/drawingml/2006/main">
            <a:pPr algn="l">
              <a:defRPr sz="1950" b="0">
                <a:solidFill>
                  <a:srgbClr val="B69AFF"/>
                </a:solidFill>
                <a:latin typeface="Arial"/>
                <a:ea typeface="Arial"/>
                <a:cs typeface="Arial"/>
              </a:defRPr>
            </a:pPr>
            <a:r>
              <a:rPr sz="1950" b="0">
                <a:solidFill>
                  <a:srgbClr val="B69AFF"/>
                </a:solidFill>
                <a:latin typeface="Arial"/>
                <a:ea typeface="Arial"/>
                <a:cs typeface="Arial"/>
              </a:rPr>
              <a:t>Normal product has a</a:t>
            </a:r>
          </a:p>
          <a:p xmlns:a="http://schemas.openxmlformats.org/drawingml/2006/main">
            <a:pPr algn="l">
              <a:defRPr sz="1950" b="0">
                <a:solidFill>
                  <a:srgbClr val="B69AFF"/>
                </a:solidFill>
                <a:latin typeface="Arial"/>
                <a:ea typeface="Arial"/>
                <a:cs typeface="Arial"/>
              </a:defRPr>
            </a:pPr>
            <a:r>
              <a:rPr sz="1950" b="0">
                <a:solidFill>
                  <a:srgbClr val="B69AFF"/>
                </a:solidFill>
                <a:latin typeface="Arial"/>
                <a:ea typeface="Arial"/>
                <a:cs typeface="Arial"/>
              </a:rPr>
              <a:t>separate calibration flow.</a:t>
            </a:r>
          </a:p>
        </p:txBody>
      </p:sp>
      <p:pic>
        <p:nvPicPr>
          <p:cNvPr id="7" name="">
            <a:extLst xmlns:a="http://schemas.openxmlformats.org/drawingml/2006/main">
              <a:ext uri="{FF2B5EF4-FFF2-40B4-BE49-F238E27FC236}">
                <a16:creationId xmlns:a16="http://schemas.microsoft.com/office/drawing/2014/main" id="{D4295D30-D1D5-42C1-B694-480DBF474F7A}"/>
              </a:ext>
            </a:extLst>
          </p:cNvPr>
          <p:cNvPicPr>
            <a:picLocks xmlns:a="http://schemas.openxmlformats.org/drawingml/2006/main" noChangeAspect="1"/>
          </p:cNvPicPr>
          <p:nvPr/>
        </p:nvPicPr>
        <p:blipFill>
          <a:blip xmlns:r="http://schemas.openxmlformats.org/officeDocument/2006/relationships" xmlns:a="http://schemas.openxmlformats.org/drawingml/2006/main" r:embed="R04752a131f614a5c"/>
          <a:stretch xmlns:a="http://schemas.openxmlformats.org/drawingml/2006/main"/>
        </p:blipFill>
        <p:spPr>
          <a:xfrm xmlns:a="http://schemas.openxmlformats.org/drawingml/2006/main">
            <a:off x="5096574" y="1390650"/>
            <a:ext cx="5980302" cy="4676775"/>
          </a:xfrm>
          <a:prstGeom xmlns:a="http://schemas.openxmlformats.org/drawingml/2006/main" prst="rect">
            <a:avLst/>
          </a:prstGeom>
        </p:spPr>
      </p:pic>
    </p:spTree>
    <p:extLst>
      <p:ext uri="{BB962C8B-B14F-4D97-AF65-F5344CB8AC3E}">
        <p14:creationId xmlns:p14="http://schemas.microsoft.com/office/powerpoint/2010/main" val="352473446"/>
      </p:ext>
    </p:extLst>
  </p:cSld>
</p:sld>
</file>

<file path=ppt/slides/slide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A7F26C9D-DDBC-4E79-8C3B-FFE2418ADC79}"/>
              </a:ext>
            </a:extLst>
          </p:cNvPr>
          <p:cNvCxnSpPr>
            <a:stCxn xmlns:a="http://schemas.openxmlformats.org/drawingml/2006/main" id="16" idx="1"/>
            <a:endCxn xmlns:a="http://schemas.openxmlformats.org/drawingml/2006/main" id="19" idx="3"/>
          </p:cNvCxnSpPr>
          <p:nvPr/>
        </p:nvCxnSpPr>
        <p:spPr>
          <a:xfrm xmlns:a="http://schemas.openxmlformats.org/drawingml/2006/main" flipH="1">
            <a:off x="3752850" y="4286250"/>
            <a:ext cx="771525" cy="0"/>
          </a:xfrm>
          <a:prstGeom xmlns:a="http://schemas.openxmlformats.org/drawingml/2006/main" prst="straightConnector1">
            <a:avLst/>
          </a:prstGeom>
          <a:ln xmlns:a="http://schemas.openxmlformats.org/drawingml/2006/main" w="28575">
            <a:solidFill>
              <a:srgbClr val="49DDEB"/>
            </a:solidFill>
            <a:tailEnd type="triangle" w="med" len="med"/>
          </a:ln>
        </p:spPr>
      </p:cxnSp>
      <p:cxnSp>
        <p:nvCxnSpPr>
          <p:cNvPr id="25" name="">
            <a:extLst xmlns:a="http://schemas.openxmlformats.org/drawingml/2006/main">
              <a:ext uri="{FF2B5EF4-FFF2-40B4-BE49-F238E27FC236}">
                <a16:creationId xmlns:a16="http://schemas.microsoft.com/office/drawing/2014/main" id="{C715977A-20EA-4426-B784-EAC7D620EE3F}"/>
              </a:ext>
            </a:extLst>
          </p:cNvPr>
          <p:cNvCxnSpPr>
            <a:stCxn xmlns:a="http://schemas.openxmlformats.org/drawingml/2006/main" id="13" idx="1"/>
            <a:endCxn xmlns:a="http://schemas.openxmlformats.org/drawingml/2006/main" id="16" idx="3"/>
          </p:cNvCxnSpPr>
          <p:nvPr/>
        </p:nvCxnSpPr>
        <p:spPr>
          <a:xfrm xmlns:a="http://schemas.openxmlformats.org/drawingml/2006/main" flipH="1">
            <a:off x="7667625" y="4286250"/>
            <a:ext cx="771525" cy="0"/>
          </a:xfrm>
          <a:prstGeom xmlns:a="http://schemas.openxmlformats.org/drawingml/2006/main" prst="straightConnector1">
            <a:avLst/>
          </a:prstGeom>
          <a:ln xmlns:a="http://schemas.openxmlformats.org/drawingml/2006/main" w="28575">
            <a:solidFill>
              <a:srgbClr val="49DDEB"/>
            </a:solidFill>
            <a:tailEnd type="triangle" w="med" len="med"/>
          </a:ln>
        </p:spPr>
      </p:cxnSp>
      <p:cxnSp>
        <p:nvCxnSpPr>
          <p:cNvPr id="24" name="">
            <a:extLst xmlns:a="http://schemas.openxmlformats.org/drawingml/2006/main">
              <a:ext uri="{FF2B5EF4-FFF2-40B4-BE49-F238E27FC236}">
                <a16:creationId xmlns:a16="http://schemas.microsoft.com/office/drawing/2014/main" id="{45E4D3EC-9529-4EA6-BE62-5FABE6304F1B}"/>
              </a:ext>
            </a:extLst>
          </p:cNvPr>
          <p:cNvCxnSpPr>
            <a:stCxn xmlns:a="http://schemas.openxmlformats.org/drawingml/2006/main" id="10" idx="2"/>
            <a:endCxn xmlns:a="http://schemas.openxmlformats.org/drawingml/2006/main" id="13" idx="0"/>
          </p:cNvCxnSpPr>
          <p:nvPr/>
        </p:nvCxnSpPr>
        <p:spPr>
          <a:xfrm xmlns:a="http://schemas.openxmlformats.org/drawingml/2006/main">
            <a:off x="10010775" y="2971800"/>
            <a:ext cx="0" cy="695325"/>
          </a:xfrm>
          <a:prstGeom xmlns:a="http://schemas.openxmlformats.org/drawingml/2006/main" prst="straightConnector1">
            <a:avLst/>
          </a:prstGeom>
          <a:ln xmlns:a="http://schemas.openxmlformats.org/drawingml/2006/main" w="28575">
            <a:solidFill>
              <a:srgbClr val="49DDEB"/>
            </a:solidFill>
            <a:tailEnd type="triangle" w="med" len="med"/>
          </a:ln>
        </p:spPr>
      </p:cxnSp>
      <p:cxnSp>
        <p:nvCxnSpPr>
          <p:cNvPr id="23" name="">
            <a:extLst xmlns:a="http://schemas.openxmlformats.org/drawingml/2006/main">
              <a:ext uri="{FF2B5EF4-FFF2-40B4-BE49-F238E27FC236}">
                <a16:creationId xmlns:a16="http://schemas.microsoft.com/office/drawing/2014/main" id="{A6FB6FA5-54DB-4F73-931E-B72BD15D110F}"/>
              </a:ext>
            </a:extLst>
          </p:cNvPr>
          <p:cNvCxnSpPr>
            <a:stCxn xmlns:a="http://schemas.openxmlformats.org/drawingml/2006/main" id="7" idx="3"/>
            <a:endCxn xmlns:a="http://schemas.openxmlformats.org/drawingml/2006/main" id="10" idx="1"/>
          </p:cNvCxnSpPr>
          <p:nvPr/>
        </p:nvCxnSpPr>
        <p:spPr>
          <a:xfrm xmlns:a="http://schemas.openxmlformats.org/drawingml/2006/main">
            <a:off x="7667625" y="2352675"/>
            <a:ext cx="771525" cy="0"/>
          </a:xfrm>
          <a:prstGeom xmlns:a="http://schemas.openxmlformats.org/drawingml/2006/main" prst="straightConnector1">
            <a:avLst/>
          </a:prstGeom>
          <a:ln xmlns:a="http://schemas.openxmlformats.org/drawingml/2006/main" w="28575">
            <a:solidFill>
              <a:srgbClr val="49DDEB"/>
            </a:solidFill>
            <a:tailEnd type="triangle" w="med" len="med"/>
          </a:ln>
        </p:spPr>
      </p:cxnSp>
      <p:cxnSp>
        <p:nvCxnSpPr>
          <p:cNvPr id="22" name="">
            <a:extLst xmlns:a="http://schemas.openxmlformats.org/drawingml/2006/main">
              <a:ext uri="{FF2B5EF4-FFF2-40B4-BE49-F238E27FC236}">
                <a16:creationId xmlns:a16="http://schemas.microsoft.com/office/drawing/2014/main" id="{1814B2D3-6BC3-454E-8A44-E0EBA4375881}"/>
              </a:ext>
            </a:extLst>
          </p:cNvPr>
          <p:cNvCxnSpPr>
            <a:stCxn xmlns:a="http://schemas.openxmlformats.org/drawingml/2006/main" id="4" idx="3"/>
            <a:endCxn xmlns:a="http://schemas.openxmlformats.org/drawingml/2006/main" id="7" idx="1"/>
          </p:cNvCxnSpPr>
          <p:nvPr/>
        </p:nvCxnSpPr>
        <p:spPr>
          <a:xfrm xmlns:a="http://schemas.openxmlformats.org/drawingml/2006/main">
            <a:off x="3752850" y="2352675"/>
            <a:ext cx="771525" cy="0"/>
          </a:xfrm>
          <a:prstGeom xmlns:a="http://schemas.openxmlformats.org/drawingml/2006/main" prst="straightConnector1">
            <a:avLst/>
          </a:prstGeom>
          <a:ln xmlns:a="http://schemas.openxmlformats.org/drawingml/2006/main" w="28575">
            <a:solidFill>
              <a:srgbClr val="49DDEB"/>
            </a:solidFill>
            <a:tailEnd type="triangle" w="med" len="med"/>
          </a:ln>
        </p:spPr>
      </p:cxnSp>
      <p:sp>
        <p:nvSpPr>
          <p:cNvPr id="28" name="">
            <a:extLst xmlns:a="http://schemas.openxmlformats.org/drawingml/2006/main">
              <a:ext uri="{FF2B5EF4-FFF2-40B4-BE49-F238E27FC236}">
                <a16:creationId xmlns:a16="http://schemas.microsoft.com/office/drawing/2014/main" id="{2EB67D39-7EEA-410E-851D-ABA45ED7000E}"/>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6FA"/>
                </a:solidFill>
                <a:latin typeface="Arial"/>
                <a:ea typeface="Arial"/>
                <a:cs typeface="Arial"/>
              </a:defRPr>
            </a:defPPr>
          </a:lstStyle>
          <a:p xmlns:a="http://schemas.openxmlformats.org/drawingml/2006/main">
            <a:pPr algn="l">
              <a:defRPr sz="3450" b="1">
                <a:solidFill>
                  <a:srgbClr val="F3F6FA"/>
                </a:solidFill>
                <a:latin typeface="Arial"/>
                <a:ea typeface="Arial"/>
                <a:cs typeface="Arial"/>
              </a:defRPr>
            </a:pPr>
            <a:r>
              <a:rPr sz="3450" b="1">
                <a:solidFill>
                  <a:srgbClr val="F3F6FA"/>
                </a:solidFill>
                <a:latin typeface="Arial"/>
                <a:ea typeface="Arial"/>
                <a:cs typeface="Arial"/>
              </a:rPr>
              <a:t>Backend and Core Processing</a:t>
            </a:r>
          </a:p>
        </p:txBody>
      </p:sp>
      <p:sp>
        <p:nvSpPr>
          <p:cNvPr id="2" name="">
            <a:extLst xmlns:a="http://schemas.openxmlformats.org/drawingml/2006/main">
              <a:ext uri="{FF2B5EF4-FFF2-40B4-BE49-F238E27FC236}">
                <a16:creationId xmlns:a16="http://schemas.microsoft.com/office/drawing/2014/main" id="{EB482410-1E29-40FD-A192-2D419D50E665}"/>
              </a:ext>
            </a:extLst>
          </p:cNvPr>
          <p:cNvSpPr>
            <a:spLocks xmlns:a="http://schemas.openxmlformats.org/drawingml/2006/main" noGrp="1"/>
          </p:cNvSpPr>
          <p:nvPr/>
        </p:nvSpPr>
        <p:spPr>
          <a:xfrm xmlns:a="http://schemas.openxmlformats.org/drawingml/2006/main">
            <a:off x="1116330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B6C5D8"/>
                </a:solidFill>
                <a:latin typeface="Arial"/>
                <a:ea typeface="Arial"/>
                <a:cs typeface="Arial"/>
              </a:defRPr>
            </a:defPPr>
          </a:lstStyle>
          <a:p xmlns:a="http://schemas.openxmlformats.org/drawingml/2006/main">
            <a:pPr algn="r">
              <a:defRPr sz="1425" b="0">
                <a:solidFill>
                  <a:srgbClr val="B6C5D8"/>
                </a:solidFill>
                <a:latin typeface="Arial"/>
                <a:ea typeface="Arial"/>
                <a:cs typeface="Arial"/>
              </a:defRPr>
            </a:pPr>
            <a:r>
              <a:rPr sz="1425" b="0">
                <a:solidFill>
                  <a:srgbClr val="B6C5D8"/>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7807954F-2EDC-4DCD-88BE-C8EC5E2083D6}"/>
              </a:ext>
            </a:extLst>
          </p:cNvPr>
          <p:cNvSpPr>
            <a:spLocks xmlns:a="http://schemas.openxmlformats.org/drawingml/2006/main" noGrp="1"/>
          </p:cNvSpPr>
          <p:nvPr/>
        </p:nvSpPr>
        <p:spPr>
          <a:xfrm xmlns:a="http://schemas.openxmlformats.org/drawingml/2006/main">
            <a:off x="609600" y="6229350"/>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6C5D8"/>
                </a:solidFill>
                <a:latin typeface="Arial"/>
                <a:ea typeface="Arial"/>
                <a:cs typeface="Arial"/>
              </a:defRPr>
            </a:defPPr>
          </a:lstStyle>
          <a:p xmlns:a="http://schemas.openxmlformats.org/drawingml/2006/main">
            <a:pPr algn="l">
              <a:defRPr sz="1275" b="0">
                <a:solidFill>
                  <a:srgbClr val="B6C5D8"/>
                </a:solidFill>
                <a:latin typeface="Arial"/>
                <a:ea typeface="Arial"/>
                <a:cs typeface="Arial"/>
              </a:defRPr>
            </a:pPr>
            <a:r>
              <a:rPr sz="1275" b="0">
                <a:solidFill>
                  <a:srgbClr val="B6C5D8"/>
                </a:solidFill>
                <a:latin typeface="Arial"/>
                <a:ea typeface="Arial"/>
                <a:cs typeface="Arial"/>
              </a:rPr>
              <a:t>Each observation must match the current frame, timestamp and hand</a:t>
            </a:r>
          </a:p>
        </p:txBody>
      </p:sp>
      <p:sp>
        <p:nvSpPr>
          <p:cNvPr id="4" name="">
            <a:extLst xmlns:a="http://schemas.openxmlformats.org/drawingml/2006/main">
              <a:ext uri="{FF2B5EF4-FFF2-40B4-BE49-F238E27FC236}">
                <a16:creationId xmlns:a16="http://schemas.microsoft.com/office/drawing/2014/main" id="{42C9D94F-52CA-4681-BACA-8F079100094A}"/>
              </a:ext>
            </a:extLst>
          </p:cNvPr>
          <p:cNvSpPr>
            <a:spLocks xmlns:a="http://schemas.openxmlformats.org/drawingml/2006/main" noGrp="1"/>
          </p:cNvSpPr>
          <p:nvPr/>
        </p:nvSpPr>
        <p:spPr>
          <a:xfrm xmlns:a="http://schemas.openxmlformats.org/drawingml/2006/main">
            <a:off x="609600" y="1733550"/>
            <a:ext cx="3143250" cy="1238250"/>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5" name="">
            <a:extLst xmlns:a="http://schemas.openxmlformats.org/drawingml/2006/main">
              <a:ext uri="{FF2B5EF4-FFF2-40B4-BE49-F238E27FC236}">
                <a16:creationId xmlns:a16="http://schemas.microsoft.com/office/drawing/2014/main" id="{47455C79-41B8-4940-A03E-484F74D5E892}"/>
              </a:ext>
            </a:extLst>
          </p:cNvPr>
          <p:cNvSpPr>
            <a:spLocks xmlns:a="http://schemas.openxmlformats.org/drawingml/2006/main" noGrp="1"/>
          </p:cNvSpPr>
          <p:nvPr/>
        </p:nvSpPr>
        <p:spPr>
          <a:xfrm xmlns:a="http://schemas.openxmlformats.org/drawingml/2006/main">
            <a:off x="781050" y="1895475"/>
            <a:ext cx="280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FrameSample</a:t>
            </a:r>
          </a:p>
        </p:txBody>
      </p:sp>
      <p:sp>
        <p:nvSpPr>
          <p:cNvPr id="6" name="">
            <a:extLst xmlns:a="http://schemas.openxmlformats.org/drawingml/2006/main">
              <a:ext uri="{FF2B5EF4-FFF2-40B4-BE49-F238E27FC236}">
                <a16:creationId xmlns:a16="http://schemas.microsoft.com/office/drawing/2014/main" id="{17A5C4AD-5793-4DD0-807E-74AE23A394AB}"/>
              </a:ext>
            </a:extLst>
          </p:cNvPr>
          <p:cNvSpPr>
            <a:spLocks xmlns:a="http://schemas.openxmlformats.org/drawingml/2006/main" noGrp="1"/>
          </p:cNvSpPr>
          <p:nvPr/>
        </p:nvSpPr>
        <p:spPr>
          <a:xfrm xmlns:a="http://schemas.openxmlformats.org/drawingml/2006/main">
            <a:off x="781050" y="2324100"/>
            <a:ext cx="2800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Pixels, ID and timestamps</a:t>
            </a:r>
          </a:p>
        </p:txBody>
      </p:sp>
      <p:sp>
        <p:nvSpPr>
          <p:cNvPr id="7" name="">
            <a:extLst xmlns:a="http://schemas.openxmlformats.org/drawingml/2006/main">
              <a:ext uri="{FF2B5EF4-FFF2-40B4-BE49-F238E27FC236}">
                <a16:creationId xmlns:a16="http://schemas.microsoft.com/office/drawing/2014/main" id="{D443CA62-B186-4DFA-BFC1-EF1989FEC610}"/>
              </a:ext>
            </a:extLst>
          </p:cNvPr>
          <p:cNvSpPr>
            <a:spLocks xmlns:a="http://schemas.openxmlformats.org/drawingml/2006/main" noGrp="1"/>
          </p:cNvSpPr>
          <p:nvPr/>
        </p:nvSpPr>
        <p:spPr>
          <a:xfrm xmlns:a="http://schemas.openxmlformats.org/drawingml/2006/main">
            <a:off x="4524375" y="1733550"/>
            <a:ext cx="3143250" cy="1238250"/>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8" name="">
            <a:extLst xmlns:a="http://schemas.openxmlformats.org/drawingml/2006/main">
              <a:ext uri="{FF2B5EF4-FFF2-40B4-BE49-F238E27FC236}">
                <a16:creationId xmlns:a16="http://schemas.microsoft.com/office/drawing/2014/main" id="{DC2C7832-5C1E-4F48-A6DC-D3DF08289C06}"/>
              </a:ext>
            </a:extLst>
          </p:cNvPr>
          <p:cNvSpPr>
            <a:spLocks xmlns:a="http://schemas.openxmlformats.org/drawingml/2006/main" noGrp="1"/>
          </p:cNvSpPr>
          <p:nvPr/>
        </p:nvSpPr>
        <p:spPr>
          <a:xfrm xmlns:a="http://schemas.openxmlformats.org/drawingml/2006/main">
            <a:off x="4695825" y="1895475"/>
            <a:ext cx="280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Observations</a:t>
            </a:r>
          </a:p>
        </p:txBody>
      </p:sp>
      <p:sp>
        <p:nvSpPr>
          <p:cNvPr id="9" name="">
            <a:extLst xmlns:a="http://schemas.openxmlformats.org/drawingml/2006/main">
              <a:ext uri="{FF2B5EF4-FFF2-40B4-BE49-F238E27FC236}">
                <a16:creationId xmlns:a16="http://schemas.microsoft.com/office/drawing/2014/main" id="{310A6B14-1A9F-4B03-AB17-B2D0F6667F51}"/>
              </a:ext>
            </a:extLst>
          </p:cNvPr>
          <p:cNvSpPr>
            <a:spLocks xmlns:a="http://schemas.openxmlformats.org/drawingml/2006/main" noGrp="1"/>
          </p:cNvSpPr>
          <p:nvPr/>
        </p:nvSpPr>
        <p:spPr>
          <a:xfrm xmlns:a="http://schemas.openxmlformats.org/drawingml/2006/main">
            <a:off x="4695825" y="2324100"/>
            <a:ext cx="2800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Hand / stick / endpoint evidence</a:t>
            </a:r>
          </a:p>
        </p:txBody>
      </p:sp>
      <p:sp>
        <p:nvSpPr>
          <p:cNvPr id="10" name="">
            <a:extLst xmlns:a="http://schemas.openxmlformats.org/drawingml/2006/main">
              <a:ext uri="{FF2B5EF4-FFF2-40B4-BE49-F238E27FC236}">
                <a16:creationId xmlns:a16="http://schemas.microsoft.com/office/drawing/2014/main" id="{221261C5-C329-41B2-9F55-1EA55FFF2529}"/>
              </a:ext>
            </a:extLst>
          </p:cNvPr>
          <p:cNvSpPr>
            <a:spLocks xmlns:a="http://schemas.openxmlformats.org/drawingml/2006/main" noGrp="1"/>
          </p:cNvSpPr>
          <p:nvPr/>
        </p:nvSpPr>
        <p:spPr>
          <a:xfrm xmlns:a="http://schemas.openxmlformats.org/drawingml/2006/main">
            <a:off x="8439150" y="1733550"/>
            <a:ext cx="3143250" cy="1238250"/>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11" name="">
            <a:extLst xmlns:a="http://schemas.openxmlformats.org/drawingml/2006/main">
              <a:ext uri="{FF2B5EF4-FFF2-40B4-BE49-F238E27FC236}">
                <a16:creationId xmlns:a16="http://schemas.microsoft.com/office/drawing/2014/main" id="{0162321B-EE25-4DB0-A7E3-90CC9CC8E3EC}"/>
              </a:ext>
            </a:extLst>
          </p:cNvPr>
          <p:cNvSpPr>
            <a:spLocks xmlns:a="http://schemas.openxmlformats.org/drawingml/2006/main" noGrp="1"/>
          </p:cNvSpPr>
          <p:nvPr/>
        </p:nvSpPr>
        <p:spPr>
          <a:xfrm xmlns:a="http://schemas.openxmlformats.org/drawingml/2006/main">
            <a:off x="8610600" y="1895475"/>
            <a:ext cx="280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TrackState</a:t>
            </a:r>
          </a:p>
        </p:txBody>
      </p:sp>
      <p:sp>
        <p:nvSpPr>
          <p:cNvPr id="12" name="">
            <a:extLst xmlns:a="http://schemas.openxmlformats.org/drawingml/2006/main">
              <a:ext uri="{FF2B5EF4-FFF2-40B4-BE49-F238E27FC236}">
                <a16:creationId xmlns:a16="http://schemas.microsoft.com/office/drawing/2014/main" id="{21F26BA9-4374-4030-AA99-6F2D39F169AF}"/>
              </a:ext>
            </a:extLst>
          </p:cNvPr>
          <p:cNvSpPr>
            <a:spLocks xmlns:a="http://schemas.openxmlformats.org/drawingml/2006/main" noGrp="1"/>
          </p:cNvSpPr>
          <p:nvPr/>
        </p:nvSpPr>
        <p:spPr>
          <a:xfrm xmlns:a="http://schemas.openxmlformats.org/drawingml/2006/main">
            <a:off x="8610600" y="2324100"/>
            <a:ext cx="2800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Independent state for each hand</a:t>
            </a:r>
          </a:p>
        </p:txBody>
      </p:sp>
      <p:sp>
        <p:nvSpPr>
          <p:cNvPr id="13" name="">
            <a:extLst xmlns:a="http://schemas.openxmlformats.org/drawingml/2006/main">
              <a:ext uri="{FF2B5EF4-FFF2-40B4-BE49-F238E27FC236}">
                <a16:creationId xmlns:a16="http://schemas.microsoft.com/office/drawing/2014/main" id="{95487444-A2F6-4616-A73B-BBFA802C0499}"/>
              </a:ext>
            </a:extLst>
          </p:cNvPr>
          <p:cNvSpPr>
            <a:spLocks xmlns:a="http://schemas.openxmlformats.org/drawingml/2006/main" noGrp="1"/>
          </p:cNvSpPr>
          <p:nvPr/>
        </p:nvSpPr>
        <p:spPr>
          <a:xfrm xmlns:a="http://schemas.openxmlformats.org/drawingml/2006/main">
            <a:off x="8439150" y="3667125"/>
            <a:ext cx="3143250" cy="1238250"/>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14" name="">
            <a:extLst xmlns:a="http://schemas.openxmlformats.org/drawingml/2006/main">
              <a:ext uri="{FF2B5EF4-FFF2-40B4-BE49-F238E27FC236}">
                <a16:creationId xmlns:a16="http://schemas.microsoft.com/office/drawing/2014/main" id="{5F3029B2-4AB9-441E-80F4-133E02C06154}"/>
              </a:ext>
            </a:extLst>
          </p:cNvPr>
          <p:cNvSpPr>
            <a:spLocks xmlns:a="http://schemas.openxmlformats.org/drawingml/2006/main" noGrp="1"/>
          </p:cNvSpPr>
          <p:nvPr/>
        </p:nvSpPr>
        <p:spPr>
          <a:xfrm xmlns:a="http://schemas.openxmlformats.org/drawingml/2006/main">
            <a:off x="8610600" y="3829050"/>
            <a:ext cx="280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StrikeCandidate</a:t>
            </a:r>
          </a:p>
        </p:txBody>
      </p:sp>
      <p:sp>
        <p:nvSpPr>
          <p:cNvPr id="15" name="">
            <a:extLst xmlns:a="http://schemas.openxmlformats.org/drawingml/2006/main">
              <a:ext uri="{FF2B5EF4-FFF2-40B4-BE49-F238E27FC236}">
                <a16:creationId xmlns:a16="http://schemas.microsoft.com/office/drawing/2014/main" id="{B1D18EC2-7416-4C98-9DE6-7B6BC1873663}"/>
              </a:ext>
            </a:extLst>
          </p:cNvPr>
          <p:cNvSpPr>
            <a:spLocks xmlns:a="http://schemas.openxmlformats.org/drawingml/2006/main" noGrp="1"/>
          </p:cNvSpPr>
          <p:nvPr/>
        </p:nvSpPr>
        <p:spPr>
          <a:xfrm xmlns:a="http://schemas.openxmlformats.org/drawingml/2006/main">
            <a:off x="8610600" y="4257675"/>
            <a:ext cx="2800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Geometry identifies the target</a:t>
            </a:r>
          </a:p>
        </p:txBody>
      </p:sp>
      <p:sp>
        <p:nvSpPr>
          <p:cNvPr id="16" name="">
            <a:extLst xmlns:a="http://schemas.openxmlformats.org/drawingml/2006/main">
              <a:ext uri="{FF2B5EF4-FFF2-40B4-BE49-F238E27FC236}">
                <a16:creationId xmlns:a16="http://schemas.microsoft.com/office/drawing/2014/main" id="{E736C788-70BD-4DE5-9CE6-3BE6419735C0}"/>
              </a:ext>
            </a:extLst>
          </p:cNvPr>
          <p:cNvSpPr>
            <a:spLocks xmlns:a="http://schemas.openxmlformats.org/drawingml/2006/main" noGrp="1"/>
          </p:cNvSpPr>
          <p:nvPr/>
        </p:nvSpPr>
        <p:spPr>
          <a:xfrm xmlns:a="http://schemas.openxmlformats.org/drawingml/2006/main">
            <a:off x="4524375" y="3667125"/>
            <a:ext cx="3143250" cy="1238250"/>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17" name="">
            <a:extLst xmlns:a="http://schemas.openxmlformats.org/drawingml/2006/main">
              <a:ext uri="{FF2B5EF4-FFF2-40B4-BE49-F238E27FC236}">
                <a16:creationId xmlns:a16="http://schemas.microsoft.com/office/drawing/2014/main" id="{2E916569-477C-424A-A89C-46211D5E331B}"/>
              </a:ext>
            </a:extLst>
          </p:cNvPr>
          <p:cNvSpPr>
            <a:spLocks xmlns:a="http://schemas.openxmlformats.org/drawingml/2006/main" noGrp="1"/>
          </p:cNvSpPr>
          <p:nvPr/>
        </p:nvSpPr>
        <p:spPr>
          <a:xfrm xmlns:a="http://schemas.openxmlformats.org/drawingml/2006/main">
            <a:off x="4695825" y="3829050"/>
            <a:ext cx="280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CommittedStrike</a:t>
            </a:r>
          </a:p>
        </p:txBody>
      </p:sp>
      <p:sp>
        <p:nvSpPr>
          <p:cNvPr id="18" name="">
            <a:extLst xmlns:a="http://schemas.openxmlformats.org/drawingml/2006/main">
              <a:ext uri="{FF2B5EF4-FFF2-40B4-BE49-F238E27FC236}">
                <a16:creationId xmlns:a16="http://schemas.microsoft.com/office/drawing/2014/main" id="{0AC51A7B-80C3-429F-9B88-C55C3AD77A68}"/>
              </a:ext>
            </a:extLst>
          </p:cNvPr>
          <p:cNvSpPr>
            <a:spLocks xmlns:a="http://schemas.openxmlformats.org/drawingml/2006/main" noGrp="1"/>
          </p:cNvSpPr>
          <p:nvPr/>
        </p:nvSpPr>
        <p:spPr>
          <a:xfrm xmlns:a="http://schemas.openxmlformats.org/drawingml/2006/main">
            <a:off x="4695825" y="4257675"/>
            <a:ext cx="2800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Policy accepts a software event</a:t>
            </a:r>
          </a:p>
        </p:txBody>
      </p:sp>
      <p:sp>
        <p:nvSpPr>
          <p:cNvPr id="19" name="">
            <a:extLst xmlns:a="http://schemas.openxmlformats.org/drawingml/2006/main">
              <a:ext uri="{FF2B5EF4-FFF2-40B4-BE49-F238E27FC236}">
                <a16:creationId xmlns:a16="http://schemas.microsoft.com/office/drawing/2014/main" id="{B084A9A2-CA86-4BED-9975-5F098BC04DC6}"/>
              </a:ext>
            </a:extLst>
          </p:cNvPr>
          <p:cNvSpPr>
            <a:spLocks xmlns:a="http://schemas.openxmlformats.org/drawingml/2006/main" noGrp="1"/>
          </p:cNvSpPr>
          <p:nvPr/>
        </p:nvSpPr>
        <p:spPr>
          <a:xfrm xmlns:a="http://schemas.openxmlformats.org/drawingml/2006/main">
            <a:off x="609600" y="3667125"/>
            <a:ext cx="3143250" cy="1238250"/>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20" name="">
            <a:extLst xmlns:a="http://schemas.openxmlformats.org/drawingml/2006/main">
              <a:ext uri="{FF2B5EF4-FFF2-40B4-BE49-F238E27FC236}">
                <a16:creationId xmlns:a16="http://schemas.microsoft.com/office/drawing/2014/main" id="{B67195AF-A332-46CF-AB54-251807E338A8}"/>
              </a:ext>
            </a:extLst>
          </p:cNvPr>
          <p:cNvSpPr>
            <a:spLocks xmlns:a="http://schemas.openxmlformats.org/drawingml/2006/main" noGrp="1"/>
          </p:cNvSpPr>
          <p:nvPr/>
        </p:nvSpPr>
        <p:spPr>
          <a:xfrm xmlns:a="http://schemas.openxmlformats.org/drawingml/2006/main">
            <a:off x="781050" y="3829050"/>
            <a:ext cx="280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AudioEvent</a:t>
            </a:r>
          </a:p>
        </p:txBody>
      </p:sp>
      <p:sp>
        <p:nvSpPr>
          <p:cNvPr id="21" name="">
            <a:extLst xmlns:a="http://schemas.openxmlformats.org/drawingml/2006/main">
              <a:ext uri="{FF2B5EF4-FFF2-40B4-BE49-F238E27FC236}">
                <a16:creationId xmlns:a16="http://schemas.microsoft.com/office/drawing/2014/main" id="{C53B97F5-BB7A-4523-A45B-E5F71EF0551B}"/>
              </a:ext>
            </a:extLst>
          </p:cNvPr>
          <p:cNvSpPr>
            <a:spLocks xmlns:a="http://schemas.openxmlformats.org/drawingml/2006/main" noGrp="1"/>
          </p:cNvSpPr>
          <p:nvPr/>
        </p:nvSpPr>
        <p:spPr>
          <a:xfrm xmlns:a="http://schemas.openxmlformats.org/drawingml/2006/main">
            <a:off x="781050" y="4257675"/>
            <a:ext cx="2800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Scheduler records the sound request</a:t>
            </a:r>
          </a:p>
        </p:txBody>
      </p:sp>
      <p:sp>
        <p:nvSpPr>
          <p:cNvPr id="27" name="">
            <a:extLst xmlns:a="http://schemas.openxmlformats.org/drawingml/2006/main">
              <a:ext uri="{FF2B5EF4-FFF2-40B4-BE49-F238E27FC236}">
                <a16:creationId xmlns:a16="http://schemas.microsoft.com/office/drawing/2014/main" id="{1AB90B25-CDE6-4200-907A-C21000714EAC}"/>
              </a:ext>
            </a:extLst>
          </p:cNvPr>
          <p:cNvSpPr>
            <a:spLocks xmlns:a="http://schemas.openxmlformats.org/drawingml/2006/main" noGrp="1"/>
          </p:cNvSpPr>
          <p:nvPr/>
        </p:nvSpPr>
        <p:spPr>
          <a:xfrm xmlns:a="http://schemas.openxmlformats.org/drawingml/2006/main">
            <a:off x="609600" y="5419725"/>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B69AFF"/>
                </a:solidFill>
                <a:latin typeface="Arial"/>
                <a:ea typeface="Arial"/>
                <a:cs typeface="Arial"/>
              </a:defRPr>
            </a:defPPr>
          </a:lstStyle>
          <a:p xmlns:a="http://schemas.openxmlformats.org/drawingml/2006/main">
            <a:pPr algn="l">
              <a:defRPr sz="2100" b="0">
                <a:solidFill>
                  <a:srgbClr val="B69AFF"/>
                </a:solidFill>
                <a:latin typeface="Arial"/>
                <a:ea typeface="Arial"/>
                <a:cs typeface="Arial"/>
              </a:defRPr>
            </a:pPr>
            <a:r>
              <a:rPr sz="2100" b="0">
                <a:solidFill>
                  <a:srgbClr val="B69AFF"/>
                </a:solidFill>
                <a:latin typeface="Arial"/>
                <a:ea typeface="Arial"/>
                <a:cs typeface="Arial"/>
              </a:rPr>
              <a:t>Bounded capture queue. Replayable input. Structured decision logs.</a:t>
            </a:r>
          </a:p>
        </p:txBody>
      </p:sp>
    </p:spTree>
    <p:extLst>
      <p:ext uri="{BB962C8B-B14F-4D97-AF65-F5344CB8AC3E}">
        <p14:creationId xmlns:p14="http://schemas.microsoft.com/office/powerpoint/2010/main" val="2032986219"/>
      </p:ext>
    </p:extLst>
  </p:cSld>
</p:sld>
</file>

<file path=ppt/slides/slide1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13563906-34FA-4C42-83A8-4CE08FAD941E}"/>
              </a:ext>
            </a:extLst>
          </p:cNvPr>
          <p:cNvCxnSpPr>
            <a:stCxn xmlns:a="http://schemas.openxmlformats.org/drawingml/2006/main" id="10" idx="3"/>
            <a:endCxn xmlns:a="http://schemas.openxmlformats.org/drawingml/2006/main" id="13" idx="1"/>
          </p:cNvCxnSpPr>
          <p:nvPr/>
        </p:nvCxnSpPr>
        <p:spPr>
          <a:xfrm xmlns:a="http://schemas.openxmlformats.org/drawingml/2006/main">
            <a:off x="8763000" y="2457450"/>
            <a:ext cx="304800" cy="0"/>
          </a:xfrm>
          <a:prstGeom xmlns:a="http://schemas.openxmlformats.org/drawingml/2006/main" prst="straightConnector1">
            <a:avLst/>
          </a:prstGeom>
          <a:ln xmlns:a="http://schemas.openxmlformats.org/drawingml/2006/main" w="28575">
            <a:solidFill>
              <a:srgbClr val="49DDEB"/>
            </a:solidFill>
            <a:tailEnd type="triangle" w="med" len="med"/>
          </a:ln>
        </p:spPr>
      </p:cxnSp>
      <p:cxnSp>
        <p:nvCxnSpPr>
          <p:cNvPr id="17" name="">
            <a:extLst xmlns:a="http://schemas.openxmlformats.org/drawingml/2006/main">
              <a:ext uri="{FF2B5EF4-FFF2-40B4-BE49-F238E27FC236}">
                <a16:creationId xmlns:a16="http://schemas.microsoft.com/office/drawing/2014/main" id="{3A2E71D7-2E85-4A26-AA2A-2E41548339F2}"/>
              </a:ext>
            </a:extLst>
          </p:cNvPr>
          <p:cNvCxnSpPr>
            <a:stCxn xmlns:a="http://schemas.openxmlformats.org/drawingml/2006/main" id="7" idx="3"/>
            <a:endCxn xmlns:a="http://schemas.openxmlformats.org/drawingml/2006/main" id="10" idx="1"/>
          </p:cNvCxnSpPr>
          <p:nvPr/>
        </p:nvCxnSpPr>
        <p:spPr>
          <a:xfrm xmlns:a="http://schemas.openxmlformats.org/drawingml/2006/main">
            <a:off x="5943600" y="2457450"/>
            <a:ext cx="304800" cy="0"/>
          </a:xfrm>
          <a:prstGeom xmlns:a="http://schemas.openxmlformats.org/drawingml/2006/main" prst="straightConnector1">
            <a:avLst/>
          </a:prstGeom>
          <a:ln xmlns:a="http://schemas.openxmlformats.org/drawingml/2006/main" w="28575">
            <a:solidFill>
              <a:srgbClr val="49DDEB"/>
            </a:solidFill>
            <a:tailEnd type="triangle" w="med" len="med"/>
          </a:ln>
        </p:spPr>
      </p:cxnSp>
      <p:cxnSp>
        <p:nvCxnSpPr>
          <p:cNvPr id="16" name="">
            <a:extLst xmlns:a="http://schemas.openxmlformats.org/drawingml/2006/main">
              <a:ext uri="{FF2B5EF4-FFF2-40B4-BE49-F238E27FC236}">
                <a16:creationId xmlns:a16="http://schemas.microsoft.com/office/drawing/2014/main" id="{ABFF4324-134E-48FA-89E1-C29AF2911632}"/>
              </a:ext>
            </a:extLst>
          </p:cNvPr>
          <p:cNvCxnSpPr>
            <a:stCxn xmlns:a="http://schemas.openxmlformats.org/drawingml/2006/main" id="4" idx="3"/>
            <a:endCxn xmlns:a="http://schemas.openxmlformats.org/drawingml/2006/main" id="7" idx="1"/>
          </p:cNvCxnSpPr>
          <p:nvPr/>
        </p:nvCxnSpPr>
        <p:spPr>
          <a:xfrm xmlns:a="http://schemas.openxmlformats.org/drawingml/2006/main">
            <a:off x="3124200" y="2457450"/>
            <a:ext cx="304800" cy="0"/>
          </a:xfrm>
          <a:prstGeom xmlns:a="http://schemas.openxmlformats.org/drawingml/2006/main" prst="straightConnector1">
            <a:avLst/>
          </a:prstGeom>
          <a:ln xmlns:a="http://schemas.openxmlformats.org/drawingml/2006/main" w="28575">
            <a:solidFill>
              <a:srgbClr val="49DDEB"/>
            </a:solidFill>
            <a:tailEnd type="triangle" w="med" len="med"/>
          </a:ln>
        </p:spPr>
      </p:cxnSp>
      <p:sp>
        <p:nvSpPr>
          <p:cNvPr id="24" name="">
            <a:extLst xmlns:a="http://schemas.openxmlformats.org/drawingml/2006/main">
              <a:ext uri="{FF2B5EF4-FFF2-40B4-BE49-F238E27FC236}">
                <a16:creationId xmlns:a16="http://schemas.microsoft.com/office/drawing/2014/main" id="{14EEAE56-E6F8-437C-88CB-88BE1D6C8234}"/>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6FA"/>
                </a:solidFill>
                <a:latin typeface="Arial"/>
                <a:ea typeface="Arial"/>
                <a:cs typeface="Arial"/>
              </a:defRPr>
            </a:defPPr>
          </a:lstStyle>
          <a:p xmlns:a="http://schemas.openxmlformats.org/drawingml/2006/main">
            <a:pPr algn="l">
              <a:defRPr sz="3450" b="1">
                <a:solidFill>
                  <a:srgbClr val="F3F6FA"/>
                </a:solidFill>
                <a:latin typeface="Arial"/>
                <a:ea typeface="Arial"/>
                <a:cs typeface="Arial"/>
              </a:defRPr>
            </a:pPr>
            <a:r>
              <a:rPr sz="3450" b="1">
                <a:solidFill>
                  <a:srgbClr val="F3F6FA"/>
                </a:solidFill>
                <a:latin typeface="Arial"/>
                <a:ea typeface="Arial"/>
                <a:cs typeface="Arial"/>
              </a:rPr>
              <a:t>Audio and Music Engine</a:t>
            </a:r>
          </a:p>
        </p:txBody>
      </p:sp>
      <p:sp>
        <p:nvSpPr>
          <p:cNvPr id="2" name="">
            <a:extLst xmlns:a="http://schemas.openxmlformats.org/drawingml/2006/main">
              <a:ext uri="{FF2B5EF4-FFF2-40B4-BE49-F238E27FC236}">
                <a16:creationId xmlns:a16="http://schemas.microsoft.com/office/drawing/2014/main" id="{AB1739E0-DE6E-4FF5-B7A8-1199997890AC}"/>
              </a:ext>
            </a:extLst>
          </p:cNvPr>
          <p:cNvSpPr>
            <a:spLocks xmlns:a="http://schemas.openxmlformats.org/drawingml/2006/main" noGrp="1"/>
          </p:cNvSpPr>
          <p:nvPr/>
        </p:nvSpPr>
        <p:spPr>
          <a:xfrm xmlns:a="http://schemas.openxmlformats.org/drawingml/2006/main">
            <a:off x="1116330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B6C5D8"/>
                </a:solidFill>
                <a:latin typeface="Arial"/>
                <a:ea typeface="Arial"/>
                <a:cs typeface="Arial"/>
              </a:defRPr>
            </a:defPPr>
          </a:lstStyle>
          <a:p xmlns:a="http://schemas.openxmlformats.org/drawingml/2006/main">
            <a:pPr algn="r">
              <a:defRPr sz="1425" b="0">
                <a:solidFill>
                  <a:srgbClr val="B6C5D8"/>
                </a:solidFill>
                <a:latin typeface="Arial"/>
                <a:ea typeface="Arial"/>
                <a:cs typeface="Arial"/>
              </a:defRPr>
            </a:pPr>
            <a:r>
              <a:rPr sz="1425" b="0">
                <a:solidFill>
                  <a:srgbClr val="B6C5D8"/>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1A104391-EFAE-446E-8060-C2F2CD1002F0}"/>
              </a:ext>
            </a:extLst>
          </p:cNvPr>
          <p:cNvSpPr>
            <a:spLocks xmlns:a="http://schemas.openxmlformats.org/drawingml/2006/main" noGrp="1"/>
          </p:cNvSpPr>
          <p:nvPr/>
        </p:nvSpPr>
        <p:spPr>
          <a:xfrm xmlns:a="http://schemas.openxmlformats.org/drawingml/2006/main">
            <a:off x="609600" y="6229350"/>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6C5D8"/>
                </a:solidFill>
                <a:latin typeface="Arial"/>
                <a:ea typeface="Arial"/>
                <a:cs typeface="Arial"/>
              </a:defRPr>
            </a:defPPr>
          </a:lstStyle>
          <a:p xmlns:a="http://schemas.openxmlformats.org/drawingml/2006/main">
            <a:pPr algn="l">
              <a:defRPr sz="1275" b="0">
                <a:solidFill>
                  <a:srgbClr val="B6C5D8"/>
                </a:solidFill>
                <a:latin typeface="Arial"/>
                <a:ea typeface="Arial"/>
                <a:cs typeface="Arial"/>
              </a:defRPr>
            </a:pPr>
            <a:r>
              <a:rPr sz="1275" b="0">
                <a:solidFill>
                  <a:srgbClr val="B6C5D8"/>
                </a:solidFill>
                <a:latin typeface="Arial"/>
                <a:ea typeface="Arial"/>
                <a:cs typeface="Arial"/>
              </a:rPr>
              <a:t>48 kHz / 128 frames gives a 2.67 ms buffer duration; total physical latency is unknown</a:t>
            </a:r>
          </a:p>
        </p:txBody>
      </p:sp>
      <p:sp>
        <p:nvSpPr>
          <p:cNvPr id="4" name="">
            <a:extLst xmlns:a="http://schemas.openxmlformats.org/drawingml/2006/main">
              <a:ext uri="{FF2B5EF4-FFF2-40B4-BE49-F238E27FC236}">
                <a16:creationId xmlns:a16="http://schemas.microsoft.com/office/drawing/2014/main" id="{E94CD160-F981-4A0F-B517-9D0668D7FEF9}"/>
              </a:ext>
            </a:extLst>
          </p:cNvPr>
          <p:cNvSpPr>
            <a:spLocks xmlns:a="http://schemas.openxmlformats.org/drawingml/2006/main" noGrp="1"/>
          </p:cNvSpPr>
          <p:nvPr/>
        </p:nvSpPr>
        <p:spPr>
          <a:xfrm xmlns:a="http://schemas.openxmlformats.org/drawingml/2006/main">
            <a:off x="609600" y="1800225"/>
            <a:ext cx="2514600" cy="1314450"/>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5" name="">
            <a:extLst xmlns:a="http://schemas.openxmlformats.org/drawingml/2006/main">
              <a:ext uri="{FF2B5EF4-FFF2-40B4-BE49-F238E27FC236}">
                <a16:creationId xmlns:a16="http://schemas.microsoft.com/office/drawing/2014/main" id="{10660294-045D-4988-97D5-EB2BE520B60C}"/>
              </a:ext>
            </a:extLst>
          </p:cNvPr>
          <p:cNvSpPr>
            <a:spLocks xmlns:a="http://schemas.openxmlformats.org/drawingml/2006/main" noGrp="1"/>
          </p:cNvSpPr>
          <p:nvPr/>
        </p:nvSpPr>
        <p:spPr>
          <a:xfrm xmlns:a="http://schemas.openxmlformats.org/drawingml/2006/main">
            <a:off x="781050" y="1962150"/>
            <a:ext cx="2171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Zone + gain</a:t>
            </a:r>
          </a:p>
        </p:txBody>
      </p:sp>
      <p:sp>
        <p:nvSpPr>
          <p:cNvPr id="6" name="">
            <a:extLst xmlns:a="http://schemas.openxmlformats.org/drawingml/2006/main">
              <a:ext uri="{FF2B5EF4-FFF2-40B4-BE49-F238E27FC236}">
                <a16:creationId xmlns:a16="http://schemas.microsoft.com/office/drawing/2014/main" id="{64989228-2EB1-46EF-84F9-8E276CA1C569}"/>
              </a:ext>
            </a:extLst>
          </p:cNvPr>
          <p:cNvSpPr>
            <a:spLocks xmlns:a="http://schemas.openxmlformats.org/drawingml/2006/main" noGrp="1"/>
          </p:cNvSpPr>
          <p:nvPr/>
        </p:nvSpPr>
        <p:spPr>
          <a:xfrm xmlns:a="http://schemas.openxmlformats.org/drawingml/2006/main">
            <a:off x="781050" y="2390775"/>
            <a:ext cx="2171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Committed strike</a:t>
            </a:r>
          </a:p>
        </p:txBody>
      </p:sp>
      <p:sp>
        <p:nvSpPr>
          <p:cNvPr id="7" name="">
            <a:extLst xmlns:a="http://schemas.openxmlformats.org/drawingml/2006/main">
              <a:ext uri="{FF2B5EF4-FFF2-40B4-BE49-F238E27FC236}">
                <a16:creationId xmlns:a16="http://schemas.microsoft.com/office/drawing/2014/main" id="{2BB2ED92-2B3F-4B01-9D64-14B958C6A234}"/>
              </a:ext>
            </a:extLst>
          </p:cNvPr>
          <p:cNvSpPr>
            <a:spLocks xmlns:a="http://schemas.openxmlformats.org/drawingml/2006/main" noGrp="1"/>
          </p:cNvSpPr>
          <p:nvPr/>
        </p:nvSpPr>
        <p:spPr>
          <a:xfrm xmlns:a="http://schemas.openxmlformats.org/drawingml/2006/main">
            <a:off x="3429000" y="1800225"/>
            <a:ext cx="2514600" cy="1314450"/>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8" name="">
            <a:extLst xmlns:a="http://schemas.openxmlformats.org/drawingml/2006/main">
              <a:ext uri="{FF2B5EF4-FFF2-40B4-BE49-F238E27FC236}">
                <a16:creationId xmlns:a16="http://schemas.microsoft.com/office/drawing/2014/main" id="{F9660319-6110-4EC8-AA3E-50A0ADA2D603}"/>
              </a:ext>
            </a:extLst>
          </p:cNvPr>
          <p:cNvSpPr>
            <a:spLocks xmlns:a="http://schemas.openxmlformats.org/drawingml/2006/main" noGrp="1"/>
          </p:cNvSpPr>
          <p:nvPr/>
        </p:nvSpPr>
        <p:spPr>
          <a:xfrm xmlns:a="http://schemas.openxmlformats.org/drawingml/2006/main">
            <a:off x="3600450" y="1962150"/>
            <a:ext cx="2171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Scheduler</a:t>
            </a:r>
          </a:p>
        </p:txBody>
      </p:sp>
      <p:sp>
        <p:nvSpPr>
          <p:cNvPr id="9" name="">
            <a:extLst xmlns:a="http://schemas.openxmlformats.org/drawingml/2006/main">
              <a:ext uri="{FF2B5EF4-FFF2-40B4-BE49-F238E27FC236}">
                <a16:creationId xmlns:a16="http://schemas.microsoft.com/office/drawing/2014/main" id="{2B6545ED-1D18-448D-A0E9-7439BF5D0534}"/>
              </a:ext>
            </a:extLst>
          </p:cNvPr>
          <p:cNvSpPr>
            <a:spLocks xmlns:a="http://schemas.openxmlformats.org/drawingml/2006/main" noGrp="1"/>
          </p:cNvSpPr>
          <p:nvPr/>
        </p:nvSpPr>
        <p:spPr>
          <a:xfrm xmlns:a="http://schemas.openxmlformats.org/drawingml/2006/main">
            <a:off x="3600450" y="2390775"/>
            <a:ext cx="2171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Target play time</a:t>
            </a:r>
          </a:p>
        </p:txBody>
      </p:sp>
      <p:sp>
        <p:nvSpPr>
          <p:cNvPr id="10" name="">
            <a:extLst xmlns:a="http://schemas.openxmlformats.org/drawingml/2006/main">
              <a:ext uri="{FF2B5EF4-FFF2-40B4-BE49-F238E27FC236}">
                <a16:creationId xmlns:a16="http://schemas.microsoft.com/office/drawing/2014/main" id="{C8EC7F1E-8E65-4F0A-B6E1-EE59110D6139}"/>
              </a:ext>
            </a:extLst>
          </p:cNvPr>
          <p:cNvSpPr>
            <a:spLocks xmlns:a="http://schemas.openxmlformats.org/drawingml/2006/main" noGrp="1"/>
          </p:cNvSpPr>
          <p:nvPr/>
        </p:nvSpPr>
        <p:spPr>
          <a:xfrm xmlns:a="http://schemas.openxmlformats.org/drawingml/2006/main">
            <a:off x="6248400" y="1800225"/>
            <a:ext cx="2514600" cy="1314450"/>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11" name="">
            <a:extLst xmlns:a="http://schemas.openxmlformats.org/drawingml/2006/main">
              <a:ext uri="{FF2B5EF4-FFF2-40B4-BE49-F238E27FC236}">
                <a16:creationId xmlns:a16="http://schemas.microsoft.com/office/drawing/2014/main" id="{64C39306-2932-437F-B50E-FF971759350A}"/>
              </a:ext>
            </a:extLst>
          </p:cNvPr>
          <p:cNvSpPr>
            <a:spLocks xmlns:a="http://schemas.openxmlformats.org/drawingml/2006/main" noGrp="1"/>
          </p:cNvSpPr>
          <p:nvPr/>
        </p:nvSpPr>
        <p:spPr>
          <a:xfrm xmlns:a="http://schemas.openxmlformats.org/drawingml/2006/main">
            <a:off x="6419850" y="1962150"/>
            <a:ext cx="2171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Sample variant</a:t>
            </a:r>
          </a:p>
        </p:txBody>
      </p:sp>
      <p:sp>
        <p:nvSpPr>
          <p:cNvPr id="12" name="">
            <a:extLst xmlns:a="http://schemas.openxmlformats.org/drawingml/2006/main">
              <a:ext uri="{FF2B5EF4-FFF2-40B4-BE49-F238E27FC236}">
                <a16:creationId xmlns:a16="http://schemas.microsoft.com/office/drawing/2014/main" id="{A9DD3451-E640-481B-9E0A-7EB186FC756F}"/>
              </a:ext>
            </a:extLst>
          </p:cNvPr>
          <p:cNvSpPr>
            <a:spLocks xmlns:a="http://schemas.openxmlformats.org/drawingml/2006/main" noGrp="1"/>
          </p:cNvSpPr>
          <p:nvPr/>
        </p:nvSpPr>
        <p:spPr>
          <a:xfrm xmlns:a="http://schemas.openxmlformats.org/drawingml/2006/main">
            <a:off x="6419850" y="2390775"/>
            <a:ext cx="2171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Layer + rotating take</a:t>
            </a:r>
          </a:p>
        </p:txBody>
      </p:sp>
      <p:sp>
        <p:nvSpPr>
          <p:cNvPr id="13" name="">
            <a:extLst xmlns:a="http://schemas.openxmlformats.org/drawingml/2006/main">
              <a:ext uri="{FF2B5EF4-FFF2-40B4-BE49-F238E27FC236}">
                <a16:creationId xmlns:a16="http://schemas.microsoft.com/office/drawing/2014/main" id="{DFB25361-839F-4688-B0C2-F58335622C17}"/>
              </a:ext>
            </a:extLst>
          </p:cNvPr>
          <p:cNvSpPr>
            <a:spLocks xmlns:a="http://schemas.openxmlformats.org/drawingml/2006/main" noGrp="1"/>
          </p:cNvSpPr>
          <p:nvPr/>
        </p:nvSpPr>
        <p:spPr>
          <a:xfrm xmlns:a="http://schemas.openxmlformats.org/drawingml/2006/main">
            <a:off x="9067800" y="1800225"/>
            <a:ext cx="2514600" cy="1314450"/>
          </a:xfrm>
          <a:prstGeom xmlns:a="http://schemas.openxmlformats.org/drawingml/2006/main" prst="rect">
            <a:avLst/>
          </a:prstGeom>
          <a:solidFill xmlns:a="http://schemas.openxmlformats.org/drawingml/2006/main">
            <a:srgbClr val="132337"/>
          </a:solidFill>
          <a:ln xmlns:a="http://schemas.openxmlformats.org/drawingml/2006/main" w="14288">
            <a:solidFill>
              <a:srgbClr val="33485F"/>
            </a:solidFill>
          </a:ln>
        </p:spPr>
      </p:sp>
      <p:sp>
        <p:nvSpPr>
          <p:cNvPr id="14" name="">
            <a:extLst xmlns:a="http://schemas.openxmlformats.org/drawingml/2006/main">
              <a:ext uri="{FF2B5EF4-FFF2-40B4-BE49-F238E27FC236}">
                <a16:creationId xmlns:a16="http://schemas.microsoft.com/office/drawing/2014/main" id="{780DED0C-D7E7-427A-86BF-41FB1C34E56D}"/>
              </a:ext>
            </a:extLst>
          </p:cNvPr>
          <p:cNvSpPr>
            <a:spLocks xmlns:a="http://schemas.openxmlformats.org/drawingml/2006/main" noGrp="1"/>
          </p:cNvSpPr>
          <p:nvPr/>
        </p:nvSpPr>
        <p:spPr>
          <a:xfrm xmlns:a="http://schemas.openxmlformats.org/drawingml/2006/main">
            <a:off x="9239250" y="1962150"/>
            <a:ext cx="2171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Mixer / device</a:t>
            </a:r>
          </a:p>
        </p:txBody>
      </p:sp>
      <p:sp>
        <p:nvSpPr>
          <p:cNvPr id="15" name="">
            <a:extLst xmlns:a="http://schemas.openxmlformats.org/drawingml/2006/main">
              <a:ext uri="{FF2B5EF4-FFF2-40B4-BE49-F238E27FC236}">
                <a16:creationId xmlns:a16="http://schemas.microsoft.com/office/drawing/2014/main" id="{854F2E71-BB9E-4CA4-B3A2-FF91F9A4734B}"/>
              </a:ext>
            </a:extLst>
          </p:cNvPr>
          <p:cNvSpPr>
            <a:spLocks xmlns:a="http://schemas.openxmlformats.org/drawingml/2006/main" noGrp="1"/>
          </p:cNvSpPr>
          <p:nvPr/>
        </p:nvSpPr>
        <p:spPr>
          <a:xfrm xmlns:a="http://schemas.openxmlformats.org/drawingml/2006/main">
            <a:off x="9239250" y="2390775"/>
            <a:ext cx="2171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3F6FA"/>
                </a:solidFill>
                <a:latin typeface="Arial"/>
                <a:ea typeface="Arial"/>
                <a:cs typeface="Arial"/>
              </a:defRPr>
            </a:defPPr>
          </a:lstStyle>
          <a:p xmlns:a="http://schemas.openxmlformats.org/drawingml/2006/main">
            <a:pPr algn="l">
              <a:defRPr sz="1650" b="0">
                <a:solidFill>
                  <a:srgbClr val="F3F6FA"/>
                </a:solidFill>
                <a:latin typeface="Arial"/>
                <a:ea typeface="Arial"/>
                <a:cs typeface="Arial"/>
              </a:defRPr>
            </a:pPr>
            <a:r>
              <a:rPr sz="1650" b="0">
                <a:solidFill>
                  <a:srgbClr val="F3F6FA"/>
                </a:solidFill>
                <a:latin typeface="Arial"/>
                <a:ea typeface="Arial"/>
                <a:cs typeface="Arial"/>
              </a:rPr>
              <a:t>Overlapping voices</a:t>
            </a:r>
          </a:p>
        </p:txBody>
      </p:sp>
      <p:sp>
        <p:nvSpPr>
          <p:cNvPr id="19" name="">
            <a:extLst xmlns:a="http://schemas.openxmlformats.org/drawingml/2006/main">
              <a:ext uri="{FF2B5EF4-FFF2-40B4-BE49-F238E27FC236}">
                <a16:creationId xmlns:a16="http://schemas.microsoft.com/office/drawing/2014/main" id="{E4D45078-A14C-4AC8-A537-C4EA78D829EA}"/>
              </a:ext>
            </a:extLst>
          </p:cNvPr>
          <p:cNvSpPr>
            <a:spLocks xmlns:a="http://schemas.openxmlformats.org/drawingml/2006/main" noGrp="1"/>
          </p:cNvSpPr>
          <p:nvPr/>
        </p:nvSpPr>
        <p:spPr>
          <a:xfrm xmlns:a="http://schemas.openxmlformats.org/drawingml/2006/main">
            <a:off x="609600" y="3638550"/>
            <a:ext cx="519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Local sample banks</a:t>
            </a:r>
          </a:p>
        </p:txBody>
      </p:sp>
      <p:sp>
        <p:nvSpPr>
          <p:cNvPr id="20" name="">
            <a:extLst xmlns:a="http://schemas.openxmlformats.org/drawingml/2006/main">
              <a:ext uri="{FF2B5EF4-FFF2-40B4-BE49-F238E27FC236}">
                <a16:creationId xmlns:a16="http://schemas.microsoft.com/office/drawing/2014/main" id="{D3144D5E-E3A5-4CB7-9E47-31899CE23CA5}"/>
              </a:ext>
            </a:extLst>
          </p:cNvPr>
          <p:cNvSpPr>
            <a:spLocks xmlns:a="http://schemas.openxmlformats.org/drawingml/2006/main" noGrp="1"/>
          </p:cNvSpPr>
          <p:nvPr/>
        </p:nvSpPr>
        <p:spPr>
          <a:xfrm xmlns:a="http://schemas.openxmlformats.org/drawingml/2006/main">
            <a:off x="609600" y="4095750"/>
            <a:ext cx="5191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3F6FA"/>
                </a:solidFill>
                <a:latin typeface="Arial"/>
                <a:ea typeface="Arial"/>
                <a:cs typeface="Arial"/>
              </a:defRPr>
            </a:defPPr>
          </a:lstStyle>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Full demo: acoustic Salamander</a:t>
            </a:r>
          </a:p>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Other product paths: recorded TR-505</a:t>
            </a:r>
          </a:p>
        </p:txBody>
      </p:sp>
      <p:sp>
        <p:nvSpPr>
          <p:cNvPr id="21" name="">
            <a:extLst xmlns:a="http://schemas.openxmlformats.org/drawingml/2006/main">
              <a:ext uri="{FF2B5EF4-FFF2-40B4-BE49-F238E27FC236}">
                <a16:creationId xmlns:a16="http://schemas.microsoft.com/office/drawing/2014/main" id="{A221370D-F8A8-451F-B24B-20C2673CB5F2}"/>
              </a:ext>
            </a:extLst>
          </p:cNvPr>
          <p:cNvSpPr>
            <a:spLocks xmlns:a="http://schemas.openxmlformats.org/drawingml/2006/main" noGrp="1"/>
          </p:cNvSpPr>
          <p:nvPr/>
        </p:nvSpPr>
        <p:spPr>
          <a:xfrm xmlns:a="http://schemas.openxmlformats.org/drawingml/2006/main">
            <a:off x="6477000" y="3638550"/>
            <a:ext cx="509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49DDEB"/>
                </a:solidFill>
                <a:latin typeface="Arial"/>
                <a:ea typeface="Arial"/>
                <a:cs typeface="Arial"/>
              </a:defRPr>
            </a:defPPr>
          </a:lstStyle>
          <a:p xmlns:a="http://schemas.openxmlformats.org/drawingml/2006/main">
            <a:pPr algn="l">
              <a:defRPr sz="2100" b="1">
                <a:solidFill>
                  <a:srgbClr val="49DDEB"/>
                </a:solidFill>
                <a:latin typeface="Arial"/>
                <a:ea typeface="Arial"/>
                <a:cs typeface="Arial"/>
              </a:defRPr>
            </a:pPr>
            <a:r>
              <a:rPr sz="2100" b="1">
                <a:solidFill>
                  <a:srgbClr val="49DDEB"/>
                </a:solidFill>
                <a:latin typeface="Arial"/>
                <a:ea typeface="Arial"/>
                <a:cs typeface="Arial"/>
              </a:rPr>
              <a:t>Implemented controls</a:t>
            </a:r>
          </a:p>
        </p:txBody>
      </p:sp>
      <p:sp>
        <p:nvSpPr>
          <p:cNvPr id="22" name="">
            <a:extLst xmlns:a="http://schemas.openxmlformats.org/drawingml/2006/main">
              <a:ext uri="{FF2B5EF4-FFF2-40B4-BE49-F238E27FC236}">
                <a16:creationId xmlns:a16="http://schemas.microsoft.com/office/drawing/2014/main" id="{3B52AF96-ABB0-4F21-AD5E-3771E8BA8961}"/>
              </a:ext>
            </a:extLst>
          </p:cNvPr>
          <p:cNvSpPr>
            <a:spLocks xmlns:a="http://schemas.openxmlformats.org/drawingml/2006/main" noGrp="1"/>
          </p:cNvSpPr>
          <p:nvPr/>
        </p:nvSpPr>
        <p:spPr>
          <a:xfrm xmlns:a="http://schemas.openxmlformats.org/drawingml/2006/main">
            <a:off x="6477000" y="4095750"/>
            <a:ext cx="5095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3F6FA"/>
                </a:solidFill>
                <a:latin typeface="Arial"/>
                <a:ea typeface="Arial"/>
                <a:cs typeface="Arial"/>
              </a:defRPr>
            </a:defPPr>
          </a:lstStyle>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Hash checks, gain mapping, stream</a:t>
            </a:r>
          </a:p>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health checks and backlog clearing</a:t>
            </a:r>
          </a:p>
        </p:txBody>
      </p:sp>
      <p:sp>
        <p:nvSpPr>
          <p:cNvPr id="23" name="">
            <a:extLst xmlns:a="http://schemas.openxmlformats.org/drawingml/2006/main">
              <a:ext uri="{FF2B5EF4-FFF2-40B4-BE49-F238E27FC236}">
                <a16:creationId xmlns:a16="http://schemas.microsoft.com/office/drawing/2014/main" id="{C1E9F621-2974-41BD-A22E-4427610A024A}"/>
              </a:ext>
            </a:extLst>
          </p:cNvPr>
          <p:cNvSpPr>
            <a:spLocks xmlns:a="http://schemas.openxmlformats.org/drawingml/2006/main" noGrp="1"/>
          </p:cNvSpPr>
          <p:nvPr/>
        </p:nvSpPr>
        <p:spPr>
          <a:xfrm xmlns:a="http://schemas.openxmlformats.org/drawingml/2006/main">
            <a:off x="609600" y="5524500"/>
            <a:ext cx="10810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D27A"/>
                </a:solidFill>
                <a:latin typeface="Arial"/>
                <a:ea typeface="Arial"/>
                <a:cs typeface="Arial"/>
              </a:defRPr>
            </a:defPPr>
          </a:lstStyle>
          <a:p xmlns:a="http://schemas.openxmlformats.org/drawingml/2006/main">
            <a:pPr algn="l">
              <a:defRPr sz="2025" b="0">
                <a:solidFill>
                  <a:srgbClr val="FFD27A"/>
                </a:solidFill>
                <a:latin typeface="Arial"/>
                <a:ea typeface="Arial"/>
                <a:cs typeface="Arial"/>
              </a:defRPr>
            </a:pPr>
            <a:r>
              <a:rPr sz="2025" b="0">
                <a:solidFill>
                  <a:srgbClr val="FFD27A"/>
                </a:solidFill>
                <a:latin typeface="Arial"/>
                <a:ea typeface="Arial"/>
                <a:cs typeface="Arial"/>
              </a:rPr>
              <a:t>Scheduled events and a running stream do not prove correct audible hits.</a:t>
            </a:r>
          </a:p>
        </p:txBody>
      </p:sp>
    </p:spTree>
    <p:extLst>
      <p:ext uri="{BB962C8B-B14F-4D97-AF65-F5344CB8AC3E}">
        <p14:creationId xmlns:p14="http://schemas.microsoft.com/office/powerpoint/2010/main" val="827763898"/>
      </p:ext>
    </p:extLst>
  </p:cSld>
</p:sld>
</file>

<file path=ppt/slides/slide1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B70C22-870E-4EC2-9D8F-79E020236EBE}"/>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6FA"/>
                </a:solidFill>
                <a:latin typeface="Arial"/>
                <a:ea typeface="Arial"/>
                <a:cs typeface="Arial"/>
              </a:defRPr>
            </a:defPPr>
          </a:lstStyle>
          <a:p xmlns:a="http://schemas.openxmlformats.org/drawingml/2006/main">
            <a:pPr algn="l">
              <a:defRPr sz="3450" b="1">
                <a:solidFill>
                  <a:srgbClr val="F3F6FA"/>
                </a:solidFill>
                <a:latin typeface="Arial"/>
                <a:ea typeface="Arial"/>
                <a:cs typeface="Arial"/>
              </a:defRPr>
            </a:pPr>
            <a:r>
              <a:rPr sz="3450" b="1">
                <a:solidFill>
                  <a:srgbClr val="F3F6FA"/>
                </a:solidFill>
                <a:latin typeface="Arial"/>
                <a:ea typeface="Arial"/>
                <a:cs typeface="Arial"/>
              </a:rPr>
              <a:t>Mobile Application Development</a:t>
            </a:r>
          </a:p>
        </p:txBody>
      </p:sp>
      <p:sp>
        <p:nvSpPr>
          <p:cNvPr id="2" name="">
            <a:extLst xmlns:a="http://schemas.openxmlformats.org/drawingml/2006/main">
              <a:ext uri="{FF2B5EF4-FFF2-40B4-BE49-F238E27FC236}">
                <a16:creationId xmlns:a16="http://schemas.microsoft.com/office/drawing/2014/main" id="{F5CD5B59-AF9C-48EC-B42E-39859EFF7115}"/>
              </a:ext>
            </a:extLst>
          </p:cNvPr>
          <p:cNvSpPr>
            <a:spLocks xmlns:a="http://schemas.openxmlformats.org/drawingml/2006/main" noGrp="1"/>
          </p:cNvSpPr>
          <p:nvPr/>
        </p:nvSpPr>
        <p:spPr>
          <a:xfrm xmlns:a="http://schemas.openxmlformats.org/drawingml/2006/main">
            <a:off x="1116330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B6C5D8"/>
                </a:solidFill>
                <a:latin typeface="Arial"/>
                <a:ea typeface="Arial"/>
                <a:cs typeface="Arial"/>
              </a:defRPr>
            </a:defPPr>
          </a:lstStyle>
          <a:p xmlns:a="http://schemas.openxmlformats.org/drawingml/2006/main">
            <a:pPr algn="r">
              <a:defRPr sz="1425" b="0">
                <a:solidFill>
                  <a:srgbClr val="B6C5D8"/>
                </a:solidFill>
                <a:latin typeface="Arial"/>
                <a:ea typeface="Arial"/>
                <a:cs typeface="Arial"/>
              </a:defRPr>
            </a:pPr>
            <a:r>
              <a:rPr sz="1425" b="0">
                <a:solidFill>
                  <a:srgbClr val="B6C5D8"/>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707771F6-ABC4-4D78-B559-4FED2650FD29}"/>
              </a:ext>
            </a:extLst>
          </p:cNvPr>
          <p:cNvSpPr>
            <a:spLocks xmlns:a="http://schemas.openxmlformats.org/drawingml/2006/main" noGrp="1"/>
          </p:cNvSpPr>
          <p:nvPr/>
        </p:nvSpPr>
        <p:spPr>
          <a:xfrm xmlns:a="http://schemas.openxmlformats.org/drawingml/2006/main">
            <a:off x="609600" y="6229350"/>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6C5D8"/>
                </a:solidFill>
                <a:latin typeface="Arial"/>
                <a:ea typeface="Arial"/>
                <a:cs typeface="Arial"/>
              </a:defRPr>
            </a:defPPr>
          </a:lstStyle>
          <a:p xmlns:a="http://schemas.openxmlformats.org/drawingml/2006/main">
            <a:pPr algn="l">
              <a:defRPr sz="1275" b="0">
                <a:solidFill>
                  <a:srgbClr val="B6C5D8"/>
                </a:solidFill>
                <a:latin typeface="Arial"/>
                <a:ea typeface="Arial"/>
                <a:cs typeface="Arial"/>
              </a:defRPr>
            </a:pPr>
            <a:r>
              <a:rPr sz="1275" b="0">
                <a:solidFill>
                  <a:srgbClr val="B6C5D8"/>
                </a:solidFill>
                <a:latin typeface="Arial"/>
                <a:ea typeface="Arial"/>
                <a:cs typeface="Arial"/>
              </a:rPr>
              <a:t>Future proposal only; platform and scope require team approval</a:t>
            </a:r>
          </a:p>
        </p:txBody>
      </p:sp>
      <p:sp>
        <p:nvSpPr>
          <p:cNvPr id="4" name="">
            <a:extLst xmlns:a="http://schemas.openxmlformats.org/drawingml/2006/main">
              <a:ext uri="{FF2B5EF4-FFF2-40B4-BE49-F238E27FC236}">
                <a16:creationId xmlns:a16="http://schemas.microsoft.com/office/drawing/2014/main" id="{BA907255-6C23-4D9F-A881-BC3EA2E06D12}"/>
              </a:ext>
            </a:extLst>
          </p:cNvPr>
          <p:cNvSpPr>
            <a:spLocks xmlns:a="http://schemas.openxmlformats.org/drawingml/2006/main" noGrp="1"/>
          </p:cNvSpPr>
          <p:nvPr/>
        </p:nvSpPr>
        <p:spPr>
          <a:xfrm xmlns:a="http://schemas.openxmlformats.org/drawingml/2006/main">
            <a:off x="609600" y="16097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B69AFF"/>
                </a:solidFill>
                <a:latin typeface="Arial"/>
                <a:ea typeface="Arial"/>
                <a:cs typeface="Arial"/>
              </a:defRPr>
            </a:defPPr>
          </a:lstStyle>
          <a:p xmlns:a="http://schemas.openxmlformats.org/drawingml/2006/main">
            <a:pPr algn="l">
              <a:defRPr sz="4350" b="1">
                <a:solidFill>
                  <a:srgbClr val="B69AFF"/>
                </a:solidFill>
                <a:latin typeface="Arial"/>
                <a:ea typeface="Arial"/>
                <a:cs typeface="Arial"/>
              </a:defRPr>
            </a:pPr>
            <a:r>
              <a:rPr sz="4350" b="1">
                <a:solidFill>
                  <a:srgbClr val="B69AFF"/>
                </a:solidFill>
                <a:latin typeface="Arial"/>
                <a:ea typeface="Arial"/>
                <a:cs typeface="Arial"/>
              </a:rPr>
              <a:t>Not implemented</a:t>
            </a:r>
          </a:p>
        </p:txBody>
      </p:sp>
      <p:sp>
        <p:nvSpPr>
          <p:cNvPr id="5" name="">
            <a:extLst xmlns:a="http://schemas.openxmlformats.org/drawingml/2006/main">
              <a:ext uri="{FF2B5EF4-FFF2-40B4-BE49-F238E27FC236}">
                <a16:creationId xmlns:a16="http://schemas.microsoft.com/office/drawing/2014/main" id="{8CB41C2F-8E16-494E-AA02-2EDE20346A85}"/>
              </a:ext>
            </a:extLst>
          </p:cNvPr>
          <p:cNvSpPr>
            <a:spLocks xmlns:a="http://schemas.openxmlformats.org/drawingml/2006/main" noGrp="1"/>
          </p:cNvSpPr>
          <p:nvPr/>
        </p:nvSpPr>
        <p:spPr>
          <a:xfrm xmlns:a="http://schemas.openxmlformats.org/drawingml/2006/main">
            <a:off x="609600" y="25622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3F6FA"/>
                </a:solidFill>
                <a:latin typeface="Arial"/>
                <a:ea typeface="Arial"/>
                <a:cs typeface="Arial"/>
              </a:defRPr>
            </a:defPPr>
          </a:lstStyle>
          <a:p xmlns:a="http://schemas.openxmlformats.org/drawingml/2006/main">
            <a:pPr algn="l">
              <a:defRPr sz="2550" b="0">
                <a:solidFill>
                  <a:srgbClr val="F3F6FA"/>
                </a:solidFill>
                <a:latin typeface="Arial"/>
                <a:ea typeface="Arial"/>
                <a:cs typeface="Arial"/>
              </a:defRPr>
            </a:pPr>
            <a:r>
              <a:rPr sz="2550" b="0">
                <a:solidFill>
                  <a:srgbClr val="F3F6FA"/>
                </a:solidFill>
                <a:latin typeface="Arial"/>
                <a:ea typeface="Arial"/>
                <a:cs typeface="Arial"/>
              </a:rPr>
              <a:t>Approved mobile scope is unresolved.</a:t>
            </a:r>
          </a:p>
        </p:txBody>
      </p:sp>
      <p:sp>
        <p:nvSpPr>
          <p:cNvPr id="6" name="">
            <a:extLst xmlns:a="http://schemas.openxmlformats.org/drawingml/2006/main">
              <a:ext uri="{FF2B5EF4-FFF2-40B4-BE49-F238E27FC236}">
                <a16:creationId xmlns:a16="http://schemas.microsoft.com/office/drawing/2014/main" id="{FAE42D24-EB2A-4A39-ABF4-D1B0247364E4}"/>
              </a:ext>
            </a:extLst>
          </p:cNvPr>
          <p:cNvSpPr>
            <a:spLocks xmlns:a="http://schemas.openxmlformats.org/drawingml/2006/main" noGrp="1"/>
          </p:cNvSpPr>
          <p:nvPr/>
        </p:nvSpPr>
        <p:spPr>
          <a:xfrm xmlns:a="http://schemas.openxmlformats.org/drawingml/2006/main">
            <a:off x="609600" y="36576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9DDEB"/>
                </a:solidFill>
                <a:latin typeface="Arial"/>
                <a:ea typeface="Arial"/>
                <a:cs typeface="Arial"/>
              </a:defRPr>
            </a:defPPr>
          </a:lstStyle>
          <a:p xmlns:a="http://schemas.openxmlformats.org/drawingml/2006/main">
            <a:pPr algn="l">
              <a:defRPr sz="2175" b="1">
                <a:solidFill>
                  <a:srgbClr val="49DDEB"/>
                </a:solidFill>
                <a:latin typeface="Arial"/>
                <a:ea typeface="Arial"/>
                <a:cs typeface="Arial"/>
              </a:defRPr>
            </a:pPr>
            <a:r>
              <a:rPr sz="2175" b="1">
                <a:solidFill>
                  <a:srgbClr val="49DDEB"/>
                </a:solidFill>
                <a:latin typeface="Arial"/>
                <a:ea typeface="Arial"/>
                <a:cs typeface="Arial"/>
              </a:rPr>
              <a:t>Proposed first step</a:t>
            </a:r>
          </a:p>
        </p:txBody>
      </p:sp>
      <p:sp>
        <p:nvSpPr>
          <p:cNvPr id="7" name="">
            <a:extLst xmlns:a="http://schemas.openxmlformats.org/drawingml/2006/main">
              <a:ext uri="{FF2B5EF4-FFF2-40B4-BE49-F238E27FC236}">
                <a16:creationId xmlns:a16="http://schemas.microsoft.com/office/drawing/2014/main" id="{3756B15D-F0A5-476C-89E3-4A47F41977BE}"/>
              </a:ext>
            </a:extLst>
          </p:cNvPr>
          <p:cNvSpPr>
            <a:spLocks xmlns:a="http://schemas.openxmlformats.org/drawingml/2006/main" noGrp="1"/>
          </p:cNvSpPr>
          <p:nvPr/>
        </p:nvSpPr>
        <p:spPr>
          <a:xfrm xmlns:a="http://schemas.openxmlformats.org/drawingml/2006/main">
            <a:off x="609600" y="4229100"/>
            <a:ext cx="107632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3F6FA"/>
                </a:solidFill>
                <a:latin typeface="Arial"/>
                <a:ea typeface="Arial"/>
                <a:cs typeface="Arial"/>
              </a:defRPr>
            </a:defPPr>
          </a:lstStyle>
          <a:p xmlns:a="http://schemas.openxmlformats.org/drawingml/2006/main">
            <a:pPr algn="l">
              <a:defRPr sz="2175" b="0">
                <a:solidFill>
                  <a:srgbClr val="F3F6FA"/>
                </a:solidFill>
                <a:latin typeface="Arial"/>
                <a:ea typeface="Arial"/>
                <a:cs typeface="Arial"/>
              </a:defRPr>
            </a:pPr>
            <a:r>
              <a:rPr sz="2175" b="0">
                <a:solidFill>
                  <a:srgbClr val="F3F6FA"/>
                </a:solidFill>
                <a:latin typeface="Arial"/>
                <a:ea typeface="Arial"/>
                <a:cs typeface="Arial"/>
              </a:rPr>
              <a:t>Agree the use case and a minimal session-summary format.</a:t>
            </a:r>
          </a:p>
          <a:p xmlns:a="http://schemas.openxmlformats.org/drawingml/2006/main">
            <a:pPr algn="l">
              <a:defRPr sz="2175" b="0">
                <a:solidFill>
                  <a:srgbClr val="F3F6FA"/>
                </a:solidFill>
                <a:latin typeface="Arial"/>
                <a:ea typeface="Arial"/>
                <a:cs typeface="Arial"/>
              </a:defRPr>
            </a:pPr>
            <a:r>
              <a:rPr sz="2175" b="0">
                <a:solidFill>
                  <a:srgbClr val="F3F6FA"/>
                </a:solidFill>
                <a:latin typeface="Arial"/>
                <a:ea typeface="Arial"/>
                <a:cs typeface="Arial"/>
              </a:rPr>
              <a:t>If approved, build a viewer for an exported local session.</a:t>
            </a:r>
          </a:p>
          <a:p xmlns:a="http://schemas.openxmlformats.org/drawingml/2006/main">
            <a:pPr algn="l">
              <a:defRPr sz="2175" b="0">
                <a:solidFill>
                  <a:srgbClr val="F3F6FA"/>
                </a:solidFill>
                <a:latin typeface="Arial"/>
                <a:ea typeface="Arial"/>
                <a:cs typeface="Arial"/>
              </a:defRPr>
            </a:pPr>
            <a:r>
              <a:rPr sz="2175" b="0">
                <a:solidFill>
                  <a:srgbClr val="F3F6FA"/>
                </a:solidFill>
                <a:latin typeface="Arial"/>
                <a:ea typeface="Arial"/>
                <a:cs typeface="Arial"/>
              </a:rPr>
              <a:t>Test invalid data, missing measurements and offline behavior.</a:t>
            </a:r>
          </a:p>
        </p:txBody>
      </p:sp>
    </p:spTree>
    <p:extLst>
      <p:ext uri="{BB962C8B-B14F-4D97-AF65-F5344CB8AC3E}">
        <p14:creationId xmlns:p14="http://schemas.microsoft.com/office/powerpoint/2010/main" val="361051579"/>
      </p:ext>
    </p:extLst>
  </p:cSld>
</p:sld>
</file>

<file path=ppt/slides/slide1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59651D8-A8AD-410C-9FBD-777A30E188E8}"/>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6FA"/>
                </a:solidFill>
                <a:latin typeface="Arial"/>
                <a:ea typeface="Arial"/>
                <a:cs typeface="Arial"/>
              </a:defRPr>
            </a:defPPr>
          </a:lstStyle>
          <a:p xmlns:a="http://schemas.openxmlformats.org/drawingml/2006/main">
            <a:pPr algn="l">
              <a:defRPr sz="3450" b="1">
                <a:solidFill>
                  <a:srgbClr val="F3F6FA"/>
                </a:solidFill>
                <a:latin typeface="Arial"/>
                <a:ea typeface="Arial"/>
                <a:cs typeface="Arial"/>
              </a:defRPr>
            </a:pPr>
            <a:r>
              <a:rPr sz="3450" b="1">
                <a:solidFill>
                  <a:srgbClr val="F3F6FA"/>
                </a:solidFill>
                <a:latin typeface="Arial"/>
                <a:ea typeface="Arial"/>
                <a:cs typeface="Arial"/>
              </a:rPr>
              <a:t>Testing and Results</a:t>
            </a:r>
          </a:p>
        </p:txBody>
      </p:sp>
      <p:sp>
        <p:nvSpPr>
          <p:cNvPr id="2" name="">
            <a:extLst xmlns:a="http://schemas.openxmlformats.org/drawingml/2006/main">
              <a:ext uri="{FF2B5EF4-FFF2-40B4-BE49-F238E27FC236}">
                <a16:creationId xmlns:a16="http://schemas.microsoft.com/office/drawing/2014/main" id="{AC6EB528-E32A-4257-A87B-C49389A6E2EA}"/>
              </a:ext>
            </a:extLst>
          </p:cNvPr>
          <p:cNvSpPr>
            <a:spLocks xmlns:a="http://schemas.openxmlformats.org/drawingml/2006/main" noGrp="1"/>
          </p:cNvSpPr>
          <p:nvPr/>
        </p:nvSpPr>
        <p:spPr>
          <a:xfrm xmlns:a="http://schemas.openxmlformats.org/drawingml/2006/main">
            <a:off x="1116330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B6C5D8"/>
                </a:solidFill>
                <a:latin typeface="Arial"/>
                <a:ea typeface="Arial"/>
                <a:cs typeface="Arial"/>
              </a:defRPr>
            </a:defPPr>
          </a:lstStyle>
          <a:p xmlns:a="http://schemas.openxmlformats.org/drawingml/2006/main">
            <a:pPr algn="r">
              <a:defRPr sz="1425" b="0">
                <a:solidFill>
                  <a:srgbClr val="B6C5D8"/>
                </a:solidFill>
                <a:latin typeface="Arial"/>
                <a:ea typeface="Arial"/>
                <a:cs typeface="Arial"/>
              </a:defRPr>
            </a:pPr>
            <a:r>
              <a:rPr sz="1425" b="0">
                <a:solidFill>
                  <a:srgbClr val="B6C5D8"/>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26772F79-6C21-4DB1-871A-CDA18FF89004}"/>
              </a:ext>
            </a:extLst>
          </p:cNvPr>
          <p:cNvSpPr>
            <a:spLocks xmlns:a="http://schemas.openxmlformats.org/drawingml/2006/main" noGrp="1"/>
          </p:cNvSpPr>
          <p:nvPr/>
        </p:nvSpPr>
        <p:spPr>
          <a:xfrm xmlns:a="http://schemas.openxmlformats.org/drawingml/2006/main">
            <a:off x="609600" y="6229350"/>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6C5D8"/>
                </a:solidFill>
                <a:latin typeface="Arial"/>
                <a:ea typeface="Arial"/>
                <a:cs typeface="Arial"/>
              </a:defRPr>
            </a:defPPr>
          </a:lstStyle>
          <a:p xmlns:a="http://schemas.openxmlformats.org/drawingml/2006/main">
            <a:pPr algn="l">
              <a:defRPr sz="1275" b="0">
                <a:solidFill>
                  <a:srgbClr val="B6C5D8"/>
                </a:solidFill>
                <a:latin typeface="Arial"/>
                <a:ea typeface="Arial"/>
                <a:cs typeface="Arial"/>
              </a:defRPr>
            </a:pPr>
            <a:r>
              <a:rPr sz="1275" b="0">
                <a:solidFill>
                  <a:srgbClr val="B6C5D8"/>
                </a:solidFill>
                <a:latin typeface="Arial"/>
                <a:ea typeface="Arial"/>
                <a:cs typeface="Arial"/>
              </a:rPr>
              <a:t>Same 572-frame recording, no accuracy labels. Time = median detector/tracker compute.</a:t>
            </a:r>
          </a:p>
        </p:txBody>
      </p:sp>
      <p:sp>
        <p:nvSpPr>
          <p:cNvPr id="4" name="">
            <a:extLst xmlns:a="http://schemas.openxmlformats.org/drawingml/2006/main">
              <a:ext uri="{FF2B5EF4-FFF2-40B4-BE49-F238E27FC236}">
                <a16:creationId xmlns:a16="http://schemas.microsoft.com/office/drawing/2014/main" id="{1BB1381E-1D78-4506-A53A-B22F8DCD2A1B}"/>
              </a:ext>
            </a:extLst>
          </p:cNvPr>
          <p:cNvSpPr>
            <a:spLocks xmlns:a="http://schemas.openxmlformats.org/drawingml/2006/main" noGrp="1"/>
          </p:cNvSpPr>
          <p:nvPr/>
        </p:nvSpPr>
        <p:spPr>
          <a:xfrm xmlns:a="http://schemas.openxmlformats.org/drawingml/2006/main">
            <a:off x="609600" y="14763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49DDEB"/>
                </a:solidFill>
                <a:latin typeface="Arial"/>
                <a:ea typeface="Arial"/>
                <a:cs typeface="Arial"/>
              </a:defRPr>
            </a:defPPr>
          </a:lstStyle>
          <a:p xmlns:a="http://schemas.openxmlformats.org/drawingml/2006/main">
            <a:pPr algn="l">
              <a:defRPr sz="2250" b="1">
                <a:solidFill>
                  <a:srgbClr val="49DDEB"/>
                </a:solidFill>
                <a:latin typeface="Arial"/>
                <a:ea typeface="Arial"/>
                <a:cs typeface="Arial"/>
              </a:defRPr>
            </a:pPr>
            <a:r>
              <a:rPr sz="2250" b="1">
                <a:solidFill>
                  <a:srgbClr val="49DDEB"/>
                </a:solidFill>
                <a:latin typeface="Arial"/>
                <a:ea typeface="Arial"/>
                <a:cs typeface="Arial"/>
              </a:rPr>
              <a:t>Software checks</a:t>
            </a:r>
          </a:p>
        </p:txBody>
      </p:sp>
      <p:sp>
        <p:nvSpPr>
          <p:cNvPr id="5" name="">
            <a:extLst xmlns:a="http://schemas.openxmlformats.org/drawingml/2006/main">
              <a:ext uri="{FF2B5EF4-FFF2-40B4-BE49-F238E27FC236}">
                <a16:creationId xmlns:a16="http://schemas.microsoft.com/office/drawing/2014/main" id="{22081790-6127-4C2D-8AF2-EE89D2868D76}"/>
              </a:ext>
            </a:extLst>
          </p:cNvPr>
          <p:cNvSpPr>
            <a:spLocks xmlns:a="http://schemas.openxmlformats.org/drawingml/2006/main" noGrp="1"/>
          </p:cNvSpPr>
          <p:nvPr/>
        </p:nvSpPr>
        <p:spPr>
          <a:xfrm xmlns:a="http://schemas.openxmlformats.org/drawingml/2006/main">
            <a:off x="609600" y="1981200"/>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3F6FA"/>
                </a:solidFill>
                <a:latin typeface="Arial"/>
                <a:ea typeface="Arial"/>
                <a:cs typeface="Arial"/>
              </a:defRPr>
            </a:defPPr>
          </a:lstStyle>
          <a:p xmlns:a="http://schemas.openxmlformats.org/drawingml/2006/main">
            <a:pPr algn="l">
              <a:defRPr sz="2175" b="0">
                <a:solidFill>
                  <a:srgbClr val="F3F6FA"/>
                </a:solidFill>
                <a:latin typeface="Arial"/>
                <a:ea typeface="Arial"/>
                <a:cs typeface="Arial"/>
              </a:defRPr>
            </a:pPr>
            <a:r>
              <a:rPr sz="2175" b="0">
                <a:solidFill>
                  <a:srgbClr val="F3F6FA"/>
                </a:solidFill>
                <a:latin typeface="Arial"/>
                <a:ea typeface="Arial"/>
                <a:cs typeface="Arial"/>
              </a:rPr>
              <a:t>1997 passed / 1 failed / 1 skipped</a:t>
            </a:r>
          </a:p>
        </p:txBody>
      </p:sp>
      <p:sp>
        <p:nvSpPr>
          <p:cNvPr id="6" name="">
            <a:extLst xmlns:a="http://schemas.openxmlformats.org/drawingml/2006/main">
              <a:ext uri="{FF2B5EF4-FFF2-40B4-BE49-F238E27FC236}">
                <a16:creationId xmlns:a16="http://schemas.microsoft.com/office/drawing/2014/main" id="{345D4CED-5981-435A-933B-99F6A769297B}"/>
              </a:ext>
            </a:extLst>
          </p:cNvPr>
          <p:cNvSpPr>
            <a:spLocks xmlns:a="http://schemas.openxmlformats.org/drawingml/2006/main" noGrp="1"/>
          </p:cNvSpPr>
          <p:nvPr/>
        </p:nvSpPr>
        <p:spPr>
          <a:xfrm xmlns:a="http://schemas.openxmlformats.org/drawingml/2006/main">
            <a:off x="609600" y="244792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FD27A"/>
                </a:solidFill>
                <a:latin typeface="Arial"/>
                <a:ea typeface="Arial"/>
                <a:cs typeface="Arial"/>
              </a:defRPr>
            </a:defPPr>
          </a:lstStyle>
          <a:p xmlns:a="http://schemas.openxmlformats.org/drawingml/2006/main">
            <a:pPr algn="l">
              <a:defRPr sz="1875" b="0">
                <a:solidFill>
                  <a:srgbClr val="FFD27A"/>
                </a:solidFill>
                <a:latin typeface="Arial"/>
                <a:ea typeface="Arial"/>
                <a:cs typeface="Arial"/>
              </a:defRPr>
            </a:pPr>
            <a:r>
              <a:rPr sz="1875" b="0">
                <a:solidFill>
                  <a:srgbClr val="FFD27A"/>
                </a:solidFill>
                <a:latin typeface="Arial"/>
                <a:ea typeface="Arial"/>
                <a:cs typeface="Arial"/>
              </a:rPr>
              <a:t>Synthetic kit sequence: tom2 event where snare was expected.</a:t>
            </a:r>
          </a:p>
        </p:txBody>
      </p:sp>
      <p:sp>
        <p:nvSpPr>
          <p:cNvPr id="7" name="">
            <a:extLst xmlns:a="http://schemas.openxmlformats.org/drawingml/2006/main">
              <a:ext uri="{FF2B5EF4-FFF2-40B4-BE49-F238E27FC236}">
                <a16:creationId xmlns:a16="http://schemas.microsoft.com/office/drawing/2014/main" id="{8EAC0A88-168A-444B-BEF4-9AED92AC0787}"/>
              </a:ext>
            </a:extLst>
          </p:cNvPr>
          <p:cNvSpPr>
            <a:spLocks xmlns:a="http://schemas.openxmlformats.org/drawingml/2006/main" noGrp="1"/>
          </p:cNvSpPr>
          <p:nvPr/>
        </p:nvSpPr>
        <p:spPr>
          <a:xfrm xmlns:a="http://schemas.openxmlformats.org/drawingml/2006/main">
            <a:off x="609600" y="29241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B6C5D8"/>
                </a:solidFill>
                <a:latin typeface="Arial"/>
                <a:ea typeface="Arial"/>
                <a:cs typeface="Arial"/>
              </a:defRPr>
            </a:defPPr>
          </a:lstStyle>
          <a:p xmlns:a="http://schemas.openxmlformats.org/drawingml/2006/main">
            <a:pPr algn="l">
              <a:defRPr sz="1725" b="0">
                <a:solidFill>
                  <a:srgbClr val="B6C5D8"/>
                </a:solidFill>
                <a:latin typeface="Arial"/>
                <a:ea typeface="Arial"/>
                <a:cs typeface="Arial"/>
              </a:defRPr>
            </a:pPr>
            <a:r>
              <a:rPr sz="1725" b="0">
                <a:solidFill>
                  <a:srgbClr val="B6C5D8"/>
                </a:solidFill>
                <a:latin typeface="Arial"/>
                <a:ea typeface="Arial"/>
                <a:cs typeface="Arial"/>
              </a:rPr>
              <a:t>Import contracts: 7 kept     Ruff: 1 existing line-length error</a:t>
            </a:r>
          </a:p>
        </p:txBody>
      </p:sp>
      <p:graphicFrame>
        <p:nvGraphicFramePr>
          <p:cNvPr id="8" name="">
            <a:extLst xmlns:a="http://schemas.openxmlformats.org/drawingml/2006/main">
              <a:ext uri="{FF2B5EF4-FFF2-40B4-BE49-F238E27FC236}">
                <a16:creationId xmlns:a16="http://schemas.microsoft.com/office/drawing/2014/main" id="{9A281DA9-3FC6-4230-B43C-3F214BF3CF25}"/>
              </a:ext>
            </a:extLst>
          </p:cNvPr>
          <p:cNvGraphicFramePr/>
          <p:nvPr/>
        </p:nvGraphicFramePr>
        <p:xfrm>
          <a:off xmlns:a="http://schemas.openxmlformats.org/drawingml/2006/main" x="609600" y="3505200"/>
          <a:ext xmlns:a="http://schemas.openxmlformats.org/drawingml/2006/main" cx="10972800" cy="1714500"/>
        </p:xfrm>
        <a:graphic xmlns:a="http://schemas.openxmlformats.org/drawingml/2006/main">
          <a:graphicData uri="http://schemas.openxmlformats.org/drawingml/2006/table">
            <a:tbl>
              <a:tblPr/>
              <a:tblGrid>
                <a:gridCol w="3238500"/>
                <a:gridCol w="2667000"/>
                <a:gridCol w="2667000"/>
                <a:gridCol w="2400300"/>
              </a:tblGrid>
              <a:tr h="571500">
                <a:tc>
                  <a:txBody>
                    <a:bodyPr lIns="114300" tIns="114300" rIns="114300" bIns="114300"/>
                    <a:lstStyle/>
                    <a:p>
                      <a:r>
                        <a:rPr sz="1800" b="1">
                          <a:solidFill>
                            <a:srgbClr val="49DDEB"/>
                          </a:solidFill>
                          <a:latin typeface="Arial"/>
                          <a:ea typeface="Arial"/>
                          <a:cs typeface="Arial"/>
                        </a:rPr>
                        <a:t>Input mode</a:t>
                      </a:r>
                    </a:p>
                  </a:txBody>
                  <a:tcPr marL="91440" marR="91440" marT="45720" marB="45720" anchor="ctr">
                    <a:lnL w="9525">
                      <a:solidFill>
                        <a:srgbClr val="33485F"/>
                      </a:solidFill>
                      <a:prstDash val="solid"/>
                    </a:lnL>
                    <a:lnR w="9525">
                      <a:solidFill>
                        <a:srgbClr val="33485F"/>
                      </a:solidFill>
                      <a:prstDash val="solid"/>
                    </a:lnR>
                    <a:lnT w="9525">
                      <a:solidFill>
                        <a:srgbClr val="33485F"/>
                      </a:solidFill>
                      <a:prstDash val="solid"/>
                    </a:lnT>
                    <a:lnB w="9525">
                      <a:solidFill>
                        <a:srgbClr val="33485F"/>
                      </a:solidFill>
                      <a:prstDash val="solid"/>
                    </a:lnB>
                    <a:solidFill>
                      <a:srgbClr val="132337"/>
                    </a:solidFill>
                  </a:tcPr>
                </a:tc>
                <a:tc>
                  <a:txBody>
                    <a:bodyPr lIns="114300" tIns="114300" rIns="114300" bIns="114300"/>
                    <a:lstStyle/>
                    <a:p>
                      <a:r>
                        <a:rPr sz="1800" b="1">
                          <a:solidFill>
                            <a:srgbClr val="49DDEB"/>
                          </a:solidFill>
                          <a:latin typeface="Arial"/>
                          <a:ea typeface="Arial"/>
                          <a:cs typeface="Arial"/>
                        </a:rPr>
                        <a:t>Left measured</a:t>
                      </a:r>
                    </a:p>
                  </a:txBody>
                  <a:tcPr marL="91440" marR="91440" marT="45720" marB="45720" anchor="ctr">
                    <a:lnR w="9525">
                      <a:solidFill>
                        <a:srgbClr val="33485F"/>
                      </a:solidFill>
                      <a:prstDash val="solid"/>
                    </a:lnR>
                    <a:lnT w="9525">
                      <a:solidFill>
                        <a:srgbClr val="33485F"/>
                      </a:solidFill>
                      <a:prstDash val="solid"/>
                    </a:lnT>
                    <a:lnB w="9525">
                      <a:solidFill>
                        <a:srgbClr val="33485F"/>
                      </a:solidFill>
                      <a:prstDash val="solid"/>
                    </a:lnB>
                    <a:solidFill>
                      <a:srgbClr val="132337"/>
                    </a:solidFill>
                  </a:tcPr>
                </a:tc>
                <a:tc>
                  <a:txBody>
                    <a:bodyPr lIns="114300" tIns="114300" rIns="114300" bIns="114300"/>
                    <a:lstStyle/>
                    <a:p>
                      <a:r>
                        <a:rPr sz="1800" b="1">
                          <a:solidFill>
                            <a:srgbClr val="49DDEB"/>
                          </a:solidFill>
                          <a:latin typeface="Arial"/>
                          <a:ea typeface="Arial"/>
                          <a:cs typeface="Arial"/>
                        </a:rPr>
                        <a:t>Right measured</a:t>
                      </a:r>
                    </a:p>
                  </a:txBody>
                  <a:tcPr marL="91440" marR="91440" marT="45720" marB="45720" anchor="ctr">
                    <a:lnR w="9525">
                      <a:solidFill>
                        <a:srgbClr val="33485F"/>
                      </a:solidFill>
                      <a:prstDash val="solid"/>
                    </a:lnR>
                    <a:lnT w="9525">
                      <a:solidFill>
                        <a:srgbClr val="33485F"/>
                      </a:solidFill>
                      <a:prstDash val="solid"/>
                    </a:lnT>
                    <a:lnB w="9525">
                      <a:solidFill>
                        <a:srgbClr val="33485F"/>
                      </a:solidFill>
                      <a:prstDash val="solid"/>
                    </a:lnB>
                    <a:solidFill>
                      <a:srgbClr val="132337"/>
                    </a:solidFill>
                  </a:tcPr>
                </a:tc>
                <a:tc>
                  <a:txBody>
                    <a:bodyPr lIns="114300" tIns="114300" rIns="114300" bIns="114300"/>
                    <a:lstStyle/>
                    <a:p>
                      <a:r>
                        <a:rPr sz="1800" b="1">
                          <a:solidFill>
                            <a:srgbClr val="49DDEB"/>
                          </a:solidFill>
                          <a:latin typeface="Arial"/>
                          <a:ea typeface="Arial"/>
                          <a:cs typeface="Arial"/>
                        </a:rPr>
                        <a:t>Median time</a:t>
                      </a:r>
                    </a:p>
                  </a:txBody>
                  <a:tcPr marL="91440" marR="91440" marT="45720" marB="45720" anchor="ctr">
                    <a:lnR w="9525">
                      <a:solidFill>
                        <a:srgbClr val="33485F"/>
                      </a:solidFill>
                      <a:prstDash val="solid"/>
                    </a:lnR>
                    <a:lnT w="9525">
                      <a:solidFill>
                        <a:srgbClr val="33485F"/>
                      </a:solidFill>
                      <a:prstDash val="solid"/>
                    </a:lnT>
                    <a:lnB w="9525">
                      <a:solidFill>
                        <a:srgbClr val="33485F"/>
                      </a:solidFill>
                      <a:prstDash val="solid"/>
                    </a:lnB>
                    <a:solidFill>
                      <a:srgbClr val="132337"/>
                    </a:solidFill>
                  </a:tcPr>
                </a:tc>
              </a:tr>
              <a:tr h="571500">
                <a:tc>
                  <a:txBody>
                    <a:bodyPr lIns="114300" tIns="114300" rIns="114300" bIns="114300"/>
                    <a:lstStyle/>
                    <a:p>
                      <a:r>
                        <a:rPr sz="1800" b="0">
                          <a:solidFill>
                            <a:srgbClr val="F3F6FA"/>
                          </a:solidFill>
                          <a:latin typeface="Arial"/>
                          <a:ea typeface="Arial"/>
                          <a:cs typeface="Arial"/>
                        </a:rPr>
                        <a:t>Default red tips</a:t>
                      </a:r>
                    </a:p>
                  </a:txBody>
                  <a:tcPr marL="91440" marR="91440" marT="45720" marB="45720" anchor="ctr">
                    <a:lnL w="9525">
                      <a:solidFill>
                        <a:srgbClr val="33485F"/>
                      </a:solidFill>
                      <a:prstDash val="solid"/>
                    </a:lnL>
                    <a:lnR w="9525">
                      <a:solidFill>
                        <a:srgbClr val="33485F"/>
                      </a:solidFill>
                      <a:prstDash val="solid"/>
                    </a:lnR>
                    <a:lnB w="9525">
                      <a:solidFill>
                        <a:srgbClr val="33485F"/>
                      </a:solidFill>
                      <a:prstDash val="solid"/>
                    </a:lnB>
                    <a:solidFill>
                      <a:srgbClr val="0B1220"/>
                    </a:solidFill>
                  </a:tcPr>
                </a:tc>
                <a:tc>
                  <a:txBody>
                    <a:bodyPr lIns="114300" tIns="114300" rIns="114300" bIns="114300"/>
                    <a:lstStyle/>
                    <a:p>
                      <a:r>
                        <a:rPr sz="1800" b="0">
                          <a:solidFill>
                            <a:srgbClr val="F3F6FA"/>
                          </a:solidFill>
                          <a:latin typeface="Arial"/>
                          <a:ea typeface="Arial"/>
                          <a:cs typeface="Arial"/>
                        </a:rPr>
                        <a:t>39 / 572 (6.8%)</a:t>
                      </a:r>
                    </a:p>
                  </a:txBody>
                  <a:tcPr marL="91440" marR="91440" marT="45720" marB="45720" anchor="ctr">
                    <a:lnR w="9525">
                      <a:solidFill>
                        <a:srgbClr val="33485F"/>
                      </a:solidFill>
                      <a:prstDash val="solid"/>
                    </a:lnR>
                    <a:lnB w="9525">
                      <a:solidFill>
                        <a:srgbClr val="33485F"/>
                      </a:solidFill>
                      <a:prstDash val="solid"/>
                    </a:lnB>
                    <a:solidFill>
                      <a:srgbClr val="0B1220"/>
                    </a:solidFill>
                  </a:tcPr>
                </a:tc>
                <a:tc>
                  <a:txBody>
                    <a:bodyPr lIns="114300" tIns="114300" rIns="114300" bIns="114300"/>
                    <a:lstStyle/>
                    <a:p>
                      <a:r>
                        <a:rPr sz="1800" b="0">
                          <a:solidFill>
                            <a:srgbClr val="F3F6FA"/>
                          </a:solidFill>
                          <a:latin typeface="Arial"/>
                          <a:ea typeface="Arial"/>
                          <a:cs typeface="Arial"/>
                        </a:rPr>
                        <a:t>9 / 572 (1.6%)</a:t>
                      </a:r>
                    </a:p>
                  </a:txBody>
                  <a:tcPr marL="91440" marR="91440" marT="45720" marB="45720" anchor="ctr">
                    <a:lnR w="9525">
                      <a:solidFill>
                        <a:srgbClr val="33485F"/>
                      </a:solidFill>
                      <a:prstDash val="solid"/>
                    </a:lnR>
                    <a:lnB w="9525">
                      <a:solidFill>
                        <a:srgbClr val="33485F"/>
                      </a:solidFill>
                      <a:prstDash val="solid"/>
                    </a:lnB>
                    <a:solidFill>
                      <a:srgbClr val="0B1220"/>
                    </a:solidFill>
                  </a:tcPr>
                </a:tc>
                <a:tc>
                  <a:txBody>
                    <a:bodyPr lIns="114300" tIns="114300" rIns="114300" bIns="114300"/>
                    <a:lstStyle/>
                    <a:p>
                      <a:r>
                        <a:rPr sz="1800" b="0">
                          <a:solidFill>
                            <a:srgbClr val="F3F6FA"/>
                          </a:solidFill>
                          <a:latin typeface="Arial"/>
                          <a:ea typeface="Arial"/>
                          <a:cs typeface="Arial"/>
                        </a:rPr>
                        <a:t>2.86 ms</a:t>
                      </a:r>
                    </a:p>
                  </a:txBody>
                  <a:tcPr marL="91440" marR="91440" marT="45720" marB="45720" anchor="ctr">
                    <a:lnR w="9525">
                      <a:solidFill>
                        <a:srgbClr val="33485F"/>
                      </a:solidFill>
                      <a:prstDash val="solid"/>
                    </a:lnR>
                    <a:lnB w="9525">
                      <a:solidFill>
                        <a:srgbClr val="33485F"/>
                      </a:solidFill>
                      <a:prstDash val="solid"/>
                    </a:lnB>
                    <a:solidFill>
                      <a:srgbClr val="0B1220"/>
                    </a:solidFill>
                  </a:tcPr>
                </a:tc>
              </a:tr>
              <a:tr h="571500">
                <a:tc>
                  <a:txBody>
                    <a:bodyPr lIns="114300" tIns="114300" rIns="114300" bIns="114300"/>
                    <a:lstStyle/>
                    <a:p>
                      <a:r>
                        <a:rPr sz="1800" b="0">
                          <a:solidFill>
                            <a:srgbClr val="F3F6FA"/>
                          </a:solidFill>
                          <a:latin typeface="Arial"/>
                          <a:ea typeface="Arial"/>
                          <a:cs typeface="Arial"/>
                        </a:rPr>
                        <a:t>Optional dark mode</a:t>
                      </a:r>
                    </a:p>
                  </a:txBody>
                  <a:tcPr marL="91440" marR="91440" marT="45720" marB="45720" anchor="ctr">
                    <a:lnL w="9525">
                      <a:solidFill>
                        <a:srgbClr val="33485F"/>
                      </a:solidFill>
                      <a:prstDash val="solid"/>
                    </a:lnL>
                    <a:lnR w="9525">
                      <a:solidFill>
                        <a:srgbClr val="33485F"/>
                      </a:solidFill>
                      <a:prstDash val="solid"/>
                    </a:lnR>
                    <a:lnB w="9525">
                      <a:solidFill>
                        <a:srgbClr val="33485F"/>
                      </a:solidFill>
                      <a:prstDash val="solid"/>
                    </a:lnB>
                    <a:solidFill>
                      <a:srgbClr val="0B1220"/>
                    </a:solidFill>
                  </a:tcPr>
                </a:tc>
                <a:tc>
                  <a:txBody>
                    <a:bodyPr lIns="114300" tIns="114300" rIns="114300" bIns="114300"/>
                    <a:lstStyle/>
                    <a:p>
                      <a:r>
                        <a:rPr sz="1800" b="0">
                          <a:solidFill>
                            <a:srgbClr val="F3F6FA"/>
                          </a:solidFill>
                          <a:latin typeface="Arial"/>
                          <a:ea typeface="Arial"/>
                          <a:cs typeface="Arial"/>
                        </a:rPr>
                        <a:t>406 / 572 (71.0%)</a:t>
                      </a:r>
                    </a:p>
                  </a:txBody>
                  <a:tcPr marL="91440" marR="91440" marT="45720" marB="45720" anchor="ctr">
                    <a:lnR w="9525">
                      <a:solidFill>
                        <a:srgbClr val="33485F"/>
                      </a:solidFill>
                      <a:prstDash val="solid"/>
                    </a:lnR>
                    <a:lnB w="9525">
                      <a:solidFill>
                        <a:srgbClr val="33485F"/>
                      </a:solidFill>
                      <a:prstDash val="solid"/>
                    </a:lnB>
                    <a:solidFill>
                      <a:srgbClr val="0B1220"/>
                    </a:solidFill>
                  </a:tcPr>
                </a:tc>
                <a:tc>
                  <a:txBody>
                    <a:bodyPr lIns="114300" tIns="114300" rIns="114300" bIns="114300"/>
                    <a:lstStyle/>
                    <a:p>
                      <a:r>
                        <a:rPr sz="1800" b="0">
                          <a:solidFill>
                            <a:srgbClr val="F3F6FA"/>
                          </a:solidFill>
                          <a:latin typeface="Arial"/>
                          <a:ea typeface="Arial"/>
                          <a:cs typeface="Arial"/>
                        </a:rPr>
                        <a:t>474 / 572 (82.9%)</a:t>
                      </a:r>
                    </a:p>
                  </a:txBody>
                  <a:tcPr marL="91440" marR="91440" marT="45720" marB="45720" anchor="ctr">
                    <a:lnR w="9525">
                      <a:solidFill>
                        <a:srgbClr val="33485F"/>
                      </a:solidFill>
                      <a:prstDash val="solid"/>
                    </a:lnR>
                    <a:lnB w="9525">
                      <a:solidFill>
                        <a:srgbClr val="33485F"/>
                      </a:solidFill>
                      <a:prstDash val="solid"/>
                    </a:lnB>
                    <a:solidFill>
                      <a:srgbClr val="0B1220"/>
                    </a:solidFill>
                  </a:tcPr>
                </a:tc>
                <a:tc>
                  <a:txBody>
                    <a:bodyPr lIns="114300" tIns="114300" rIns="114300" bIns="114300"/>
                    <a:lstStyle/>
                    <a:p>
                      <a:r>
                        <a:rPr sz="1800" b="0">
                          <a:solidFill>
                            <a:srgbClr val="F3F6FA"/>
                          </a:solidFill>
                          <a:latin typeface="Arial"/>
                          <a:ea typeface="Arial"/>
                          <a:cs typeface="Arial"/>
                        </a:rPr>
                        <a:t>9.18 ms</a:t>
                      </a:r>
                    </a:p>
                  </a:txBody>
                  <a:tcPr marL="91440" marR="91440" marT="45720" marB="45720" anchor="ctr">
                    <a:lnR w="9525">
                      <a:solidFill>
                        <a:srgbClr val="33485F"/>
                      </a:solidFill>
                      <a:prstDash val="solid"/>
                    </a:lnR>
                    <a:lnB w="9525">
                      <a:solidFill>
                        <a:srgbClr val="33485F"/>
                      </a:solidFill>
                      <a:prstDash val="solid"/>
                    </a:lnB>
                    <a:solidFill>
                      <a:srgbClr val="0B1220"/>
                    </a:solidFill>
                  </a:tcPr>
                </a:tc>
              </a:tr>
            </a:tbl>
          </a:graphicData>
        </a:graphic>
      </p:graphicFrame>
      <p:sp>
        <p:nvSpPr>
          <p:cNvPr id="9" name="">
            <a:extLst xmlns:a="http://schemas.openxmlformats.org/drawingml/2006/main">
              <a:ext uri="{FF2B5EF4-FFF2-40B4-BE49-F238E27FC236}">
                <a16:creationId xmlns:a16="http://schemas.microsoft.com/office/drawing/2014/main" id="{F7BC5930-1DB4-4C54-9C79-364D30BA6A96}"/>
              </a:ext>
            </a:extLst>
          </p:cNvPr>
          <p:cNvSpPr>
            <a:spLocks xmlns:a="http://schemas.openxmlformats.org/drawingml/2006/main" noGrp="1"/>
          </p:cNvSpPr>
          <p:nvPr/>
        </p:nvSpPr>
        <p:spPr>
          <a:xfrm xmlns:a="http://schemas.openxmlformats.org/drawingml/2006/main">
            <a:off x="609600" y="5524500"/>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FD27A"/>
                </a:solidFill>
                <a:latin typeface="Arial"/>
                <a:ea typeface="Arial"/>
                <a:cs typeface="Arial"/>
              </a:defRPr>
            </a:defPPr>
          </a:lstStyle>
          <a:p xmlns:a="http://schemas.openxmlformats.org/drawingml/2006/main">
            <a:pPr algn="l">
              <a:defRPr sz="2250" b="1">
                <a:solidFill>
                  <a:srgbClr val="FFD27A"/>
                </a:solidFill>
                <a:latin typeface="Arial"/>
                <a:ea typeface="Arial"/>
                <a:cs typeface="Arial"/>
              </a:defRPr>
            </a:pPr>
            <a:r>
              <a:rPr sz="2250" b="1">
                <a:solidFill>
                  <a:srgbClr val="FFD27A"/>
                </a:solidFill>
                <a:latin typeface="Arial"/>
                <a:ea typeface="Arial"/>
                <a:cs typeface="Arial"/>
              </a:rPr>
              <a:t>More coverage does not establish correct tracking.</a:t>
            </a:r>
          </a:p>
        </p:txBody>
      </p:sp>
    </p:spTree>
    <p:extLst>
      <p:ext uri="{BB962C8B-B14F-4D97-AF65-F5344CB8AC3E}">
        <p14:creationId xmlns:p14="http://schemas.microsoft.com/office/powerpoint/2010/main" val="235749461"/>
      </p:ext>
    </p:extLst>
  </p:cSld>
</p:sld>
</file>

<file path=ppt/slides/slide1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DF951B-CA97-4286-ABC4-0FEB0E020059}"/>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6FA"/>
                </a:solidFill>
                <a:latin typeface="Arial"/>
                <a:ea typeface="Arial"/>
                <a:cs typeface="Arial"/>
              </a:defRPr>
            </a:defPPr>
          </a:lstStyle>
          <a:p xmlns:a="http://schemas.openxmlformats.org/drawingml/2006/main">
            <a:pPr algn="l">
              <a:defRPr sz="3450" b="1">
                <a:solidFill>
                  <a:srgbClr val="F3F6FA"/>
                </a:solidFill>
                <a:latin typeface="Arial"/>
                <a:ea typeface="Arial"/>
                <a:cs typeface="Arial"/>
              </a:defRPr>
            </a:pPr>
            <a:r>
              <a:rPr sz="3450" b="1">
                <a:solidFill>
                  <a:srgbClr val="F3F6FA"/>
                </a:solidFill>
                <a:latin typeface="Arial"/>
                <a:ea typeface="Arial"/>
                <a:cs typeface="Arial"/>
              </a:rPr>
              <a:t>Challenges and Current Limitations</a:t>
            </a:r>
          </a:p>
        </p:txBody>
      </p:sp>
      <p:sp>
        <p:nvSpPr>
          <p:cNvPr id="2" name="">
            <a:extLst xmlns:a="http://schemas.openxmlformats.org/drawingml/2006/main">
              <a:ext uri="{FF2B5EF4-FFF2-40B4-BE49-F238E27FC236}">
                <a16:creationId xmlns:a16="http://schemas.microsoft.com/office/drawing/2014/main" id="{F18E5C61-2952-4011-8C8B-A0140CB82033}"/>
              </a:ext>
            </a:extLst>
          </p:cNvPr>
          <p:cNvSpPr>
            <a:spLocks xmlns:a="http://schemas.openxmlformats.org/drawingml/2006/main" noGrp="1"/>
          </p:cNvSpPr>
          <p:nvPr/>
        </p:nvSpPr>
        <p:spPr>
          <a:xfrm xmlns:a="http://schemas.openxmlformats.org/drawingml/2006/main">
            <a:off x="1116330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B6C5D8"/>
                </a:solidFill>
                <a:latin typeface="Arial"/>
                <a:ea typeface="Arial"/>
                <a:cs typeface="Arial"/>
              </a:defRPr>
            </a:defPPr>
          </a:lstStyle>
          <a:p xmlns:a="http://schemas.openxmlformats.org/drawingml/2006/main">
            <a:pPr algn="r">
              <a:defRPr sz="1425" b="0">
                <a:solidFill>
                  <a:srgbClr val="B6C5D8"/>
                </a:solidFill>
                <a:latin typeface="Arial"/>
                <a:ea typeface="Arial"/>
                <a:cs typeface="Arial"/>
              </a:defRPr>
            </a:pPr>
            <a:r>
              <a:rPr sz="1425" b="0">
                <a:solidFill>
                  <a:srgbClr val="B6C5D8"/>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5AA82B4C-6D0F-4F51-A9CA-9B5F7CAD902C}"/>
              </a:ext>
            </a:extLst>
          </p:cNvPr>
          <p:cNvSpPr>
            <a:spLocks xmlns:a="http://schemas.openxmlformats.org/drawingml/2006/main" noGrp="1"/>
          </p:cNvSpPr>
          <p:nvPr/>
        </p:nvSpPr>
        <p:spPr>
          <a:xfrm xmlns:a="http://schemas.openxmlformats.org/drawingml/2006/main">
            <a:off x="609600" y="6229350"/>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6C5D8"/>
                </a:solidFill>
                <a:latin typeface="Arial"/>
                <a:ea typeface="Arial"/>
                <a:cs typeface="Arial"/>
              </a:defRPr>
            </a:defPPr>
          </a:lstStyle>
          <a:p xmlns:a="http://schemas.openxmlformats.org/drawingml/2006/main">
            <a:pPr algn="l">
              <a:defRPr sz="1275" b="0">
                <a:solidFill>
                  <a:srgbClr val="B6C5D8"/>
                </a:solidFill>
                <a:latin typeface="Arial"/>
                <a:ea typeface="Arial"/>
                <a:cs typeface="Arial"/>
              </a:defRPr>
            </a:pPr>
            <a:r>
              <a:rPr sz="1275" b="0">
                <a:solidFill>
                  <a:srgbClr val="B6C5D8"/>
                </a:solidFill>
                <a:latin typeface="Arial"/>
                <a:ea typeface="Arial"/>
                <a:cs typeface="Arial"/>
              </a:rPr>
              <a:t>Current red-tip diagnostics on recorded frames, audio disabled</a:t>
            </a:r>
          </a:p>
        </p:txBody>
      </p:sp>
      <p:pic>
        <p:nvPicPr>
          <p:cNvPr id="4" name="">
            <a:extLst xmlns:a="http://schemas.openxmlformats.org/drawingml/2006/main">
              <a:ext uri="{FF2B5EF4-FFF2-40B4-BE49-F238E27FC236}">
                <a16:creationId xmlns:a16="http://schemas.microsoft.com/office/drawing/2014/main" id="{19086C19-1376-4EE6-BD03-F5B159938162}"/>
              </a:ext>
            </a:extLst>
          </p:cNvPr>
          <p:cNvPicPr>
            <a:picLocks xmlns:a="http://schemas.openxmlformats.org/drawingml/2006/main" noChangeAspect="1"/>
          </p:cNvPicPr>
          <p:nvPr/>
        </p:nvPicPr>
        <p:blipFill>
          <a:blip xmlns:r="http://schemas.openxmlformats.org/officeDocument/2006/relationships" xmlns:a="http://schemas.openxmlformats.org/drawingml/2006/main" r:embed="Rea744c6fbbaa4012"/>
          <a:stretch xmlns:a="http://schemas.openxmlformats.org/drawingml/2006/main"/>
        </p:blipFill>
        <p:spPr>
          <a:xfrm xmlns:a="http://schemas.openxmlformats.org/drawingml/2006/main">
            <a:off x="942428" y="1504950"/>
            <a:ext cx="5773244" cy="45148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9BAA9AD-44D2-4D14-8D87-B67A6D656618}"/>
              </a:ext>
            </a:extLst>
          </p:cNvPr>
          <p:cNvSpPr>
            <a:spLocks xmlns:a="http://schemas.openxmlformats.org/drawingml/2006/main" noGrp="1"/>
          </p:cNvSpPr>
          <p:nvPr/>
        </p:nvSpPr>
        <p:spPr>
          <a:xfrm xmlns:a="http://schemas.openxmlformats.org/drawingml/2006/main">
            <a:off x="7467600" y="16002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9DDEB"/>
                </a:solidFill>
                <a:latin typeface="Arial"/>
                <a:ea typeface="Arial"/>
                <a:cs typeface="Arial"/>
              </a:defRPr>
            </a:defPPr>
          </a:lstStyle>
          <a:p xmlns:a="http://schemas.openxmlformats.org/drawingml/2006/main">
            <a:pPr algn="l">
              <a:defRPr sz="2175" b="1">
                <a:solidFill>
                  <a:srgbClr val="49DDEB"/>
                </a:solidFill>
                <a:latin typeface="Arial"/>
                <a:ea typeface="Arial"/>
                <a:cs typeface="Arial"/>
              </a:defRPr>
            </a:pPr>
            <a:r>
              <a:rPr sz="2175" b="1">
                <a:solidFill>
                  <a:srgbClr val="49DDEB"/>
                </a:solidFill>
                <a:latin typeface="Arial"/>
                <a:ea typeface="Arial"/>
                <a:cs typeface="Arial"/>
              </a:rPr>
              <a:t>Lighting and blur</a:t>
            </a:r>
          </a:p>
        </p:txBody>
      </p:sp>
      <p:sp>
        <p:nvSpPr>
          <p:cNvPr id="6" name="">
            <a:extLst xmlns:a="http://schemas.openxmlformats.org/drawingml/2006/main">
              <a:ext uri="{FF2B5EF4-FFF2-40B4-BE49-F238E27FC236}">
                <a16:creationId xmlns:a16="http://schemas.microsoft.com/office/drawing/2014/main" id="{7D681A69-305A-448C-81A8-2BF34105B4C6}"/>
              </a:ext>
            </a:extLst>
          </p:cNvPr>
          <p:cNvSpPr>
            <a:spLocks xmlns:a="http://schemas.openxmlformats.org/drawingml/2006/main" noGrp="1"/>
          </p:cNvSpPr>
          <p:nvPr/>
        </p:nvSpPr>
        <p:spPr>
          <a:xfrm xmlns:a="http://schemas.openxmlformats.org/drawingml/2006/main">
            <a:off x="7467600" y="2085975"/>
            <a:ext cx="4095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3F6FA"/>
                </a:solidFill>
                <a:latin typeface="Arial"/>
                <a:ea typeface="Arial"/>
                <a:cs typeface="Arial"/>
              </a:defRPr>
            </a:defPPr>
          </a:lstStyle>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Dark paint and occlusion</a:t>
            </a:r>
          </a:p>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can break tip association.</a:t>
            </a:r>
          </a:p>
        </p:txBody>
      </p:sp>
      <p:sp>
        <p:nvSpPr>
          <p:cNvPr id="7" name="">
            <a:extLst xmlns:a="http://schemas.openxmlformats.org/drawingml/2006/main">
              <a:ext uri="{FF2B5EF4-FFF2-40B4-BE49-F238E27FC236}">
                <a16:creationId xmlns:a16="http://schemas.microsoft.com/office/drawing/2014/main" id="{D2BA1632-80B1-4E35-94A7-06CA136DFCDA}"/>
              </a:ext>
            </a:extLst>
          </p:cNvPr>
          <p:cNvSpPr>
            <a:spLocks xmlns:a="http://schemas.openxmlformats.org/drawingml/2006/main" noGrp="1"/>
          </p:cNvSpPr>
          <p:nvPr/>
        </p:nvSpPr>
        <p:spPr>
          <a:xfrm xmlns:a="http://schemas.openxmlformats.org/drawingml/2006/main">
            <a:off x="7467600" y="31623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69AFF"/>
                </a:solidFill>
                <a:latin typeface="Arial"/>
                <a:ea typeface="Arial"/>
                <a:cs typeface="Arial"/>
              </a:defRPr>
            </a:defPPr>
          </a:lstStyle>
          <a:p xmlns:a="http://schemas.openxmlformats.org/drawingml/2006/main">
            <a:pPr algn="l">
              <a:defRPr sz="2175" b="1">
                <a:solidFill>
                  <a:srgbClr val="B69AFF"/>
                </a:solidFill>
                <a:latin typeface="Arial"/>
                <a:ea typeface="Arial"/>
                <a:cs typeface="Arial"/>
              </a:defRPr>
            </a:pPr>
            <a:r>
              <a:rPr sz="2175" b="1">
                <a:solidFill>
                  <a:srgbClr val="B69AFF"/>
                </a:solidFill>
                <a:latin typeface="Arial"/>
                <a:ea typeface="Arial"/>
                <a:cs typeface="Arial"/>
              </a:rPr>
              <a:t>Calibration and targets</a:t>
            </a:r>
          </a:p>
        </p:txBody>
      </p:sp>
      <p:sp>
        <p:nvSpPr>
          <p:cNvPr id="8" name="">
            <a:extLst xmlns:a="http://schemas.openxmlformats.org/drawingml/2006/main">
              <a:ext uri="{FF2B5EF4-FFF2-40B4-BE49-F238E27FC236}">
                <a16:creationId xmlns:a16="http://schemas.microsoft.com/office/drawing/2014/main" id="{3E75ED57-D34B-48AB-B68F-42901B65D404}"/>
              </a:ext>
            </a:extLst>
          </p:cNvPr>
          <p:cNvSpPr>
            <a:spLocks xmlns:a="http://schemas.openxmlformats.org/drawingml/2006/main" noGrp="1"/>
          </p:cNvSpPr>
          <p:nvPr/>
        </p:nvSpPr>
        <p:spPr>
          <a:xfrm xmlns:a="http://schemas.openxmlformats.org/drawingml/2006/main">
            <a:off x="7467600" y="3657600"/>
            <a:ext cx="4095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3F6FA"/>
                </a:solidFill>
                <a:latin typeface="Arial"/>
                <a:ea typeface="Arial"/>
                <a:cs typeface="Arial"/>
              </a:defRPr>
            </a:defPPr>
          </a:lstStyle>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Reachability and intended</a:t>
            </a:r>
          </a:p>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drum accuracy need truth labels.</a:t>
            </a:r>
          </a:p>
        </p:txBody>
      </p:sp>
      <p:sp>
        <p:nvSpPr>
          <p:cNvPr id="9" name="">
            <a:extLst xmlns:a="http://schemas.openxmlformats.org/drawingml/2006/main">
              <a:ext uri="{FF2B5EF4-FFF2-40B4-BE49-F238E27FC236}">
                <a16:creationId xmlns:a16="http://schemas.microsoft.com/office/drawing/2014/main" id="{306C5B66-2573-4B68-A5C9-BB5C13621D09}"/>
              </a:ext>
            </a:extLst>
          </p:cNvPr>
          <p:cNvSpPr>
            <a:spLocks xmlns:a="http://schemas.openxmlformats.org/drawingml/2006/main" noGrp="1"/>
          </p:cNvSpPr>
          <p:nvPr/>
        </p:nvSpPr>
        <p:spPr>
          <a:xfrm xmlns:a="http://schemas.openxmlformats.org/drawingml/2006/main">
            <a:off x="7467600" y="477202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9DDEB"/>
                </a:solidFill>
                <a:latin typeface="Arial"/>
                <a:ea typeface="Arial"/>
                <a:cs typeface="Arial"/>
              </a:defRPr>
            </a:defPPr>
          </a:lstStyle>
          <a:p xmlns:a="http://schemas.openxmlformats.org/drawingml/2006/main">
            <a:pPr algn="l">
              <a:defRPr sz="2175" b="1">
                <a:solidFill>
                  <a:srgbClr val="49DDEB"/>
                </a:solidFill>
                <a:latin typeface="Arial"/>
                <a:ea typeface="Arial"/>
                <a:cs typeface="Arial"/>
              </a:defRPr>
            </a:pPr>
            <a:r>
              <a:rPr sz="2175" b="1">
                <a:solidFill>
                  <a:srgbClr val="49DDEB"/>
                </a:solidFill>
                <a:latin typeface="Arial"/>
                <a:ea typeface="Arial"/>
                <a:cs typeface="Arial"/>
              </a:rPr>
              <a:t>Physical latency</a:t>
            </a:r>
          </a:p>
        </p:txBody>
      </p:sp>
      <p:sp>
        <p:nvSpPr>
          <p:cNvPr id="10" name="">
            <a:extLst xmlns:a="http://schemas.openxmlformats.org/drawingml/2006/main">
              <a:ext uri="{FF2B5EF4-FFF2-40B4-BE49-F238E27FC236}">
                <a16:creationId xmlns:a16="http://schemas.microsoft.com/office/drawing/2014/main" id="{3B94F88F-FE77-4989-A1D3-96B9C29024BF}"/>
              </a:ext>
            </a:extLst>
          </p:cNvPr>
          <p:cNvSpPr>
            <a:spLocks xmlns:a="http://schemas.openxmlformats.org/drawingml/2006/main" noGrp="1"/>
          </p:cNvSpPr>
          <p:nvPr/>
        </p:nvSpPr>
        <p:spPr>
          <a:xfrm xmlns:a="http://schemas.openxmlformats.org/drawingml/2006/main">
            <a:off x="7467600" y="5267325"/>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3F6FA"/>
                </a:solidFill>
                <a:latin typeface="Arial"/>
                <a:ea typeface="Arial"/>
                <a:cs typeface="Arial"/>
              </a:defRPr>
            </a:defPPr>
          </a:lstStyle>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Action-to-sound measurement</a:t>
            </a:r>
          </a:p>
          <a:p xmlns:a="http://schemas.openxmlformats.org/drawingml/2006/main">
            <a:pPr algn="l">
              <a:defRPr sz="1950" b="0">
                <a:solidFill>
                  <a:srgbClr val="F3F6FA"/>
                </a:solidFill>
                <a:latin typeface="Arial"/>
                <a:ea typeface="Arial"/>
                <a:cs typeface="Arial"/>
              </a:defRPr>
            </a:pPr>
            <a:r>
              <a:rPr sz="1950" b="0">
                <a:solidFill>
                  <a:srgbClr val="F3F6FA"/>
                </a:solidFill>
                <a:latin typeface="Arial"/>
                <a:ea typeface="Arial"/>
                <a:cs typeface="Arial"/>
              </a:rPr>
              <a:t>remains pending.</a:t>
            </a:r>
          </a:p>
        </p:txBody>
      </p:sp>
    </p:spTree>
    <p:extLst>
      <p:ext uri="{BB962C8B-B14F-4D97-AF65-F5344CB8AC3E}">
        <p14:creationId xmlns:p14="http://schemas.microsoft.com/office/powerpoint/2010/main" val="126444599"/>
      </p:ext>
    </p:extLst>
  </p:cSld>
</p:sld>
</file>

<file path=ppt/slides/slide1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729D46F-4305-40BA-AC5C-B8E12A9D9954}"/>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6FA"/>
                </a:solidFill>
                <a:latin typeface="Arial"/>
                <a:ea typeface="Arial"/>
                <a:cs typeface="Arial"/>
              </a:defRPr>
            </a:defPPr>
          </a:lstStyle>
          <a:p xmlns:a="http://schemas.openxmlformats.org/drawingml/2006/main">
            <a:pPr algn="l">
              <a:defRPr sz="3450" b="1">
                <a:solidFill>
                  <a:srgbClr val="F3F6FA"/>
                </a:solidFill>
                <a:latin typeface="Arial"/>
                <a:ea typeface="Arial"/>
                <a:cs typeface="Arial"/>
              </a:defRPr>
            </a:pPr>
            <a:r>
              <a:rPr sz="3450" b="1">
                <a:solidFill>
                  <a:srgbClr val="F3F6FA"/>
                </a:solidFill>
                <a:latin typeface="Arial"/>
                <a:ea typeface="Arial"/>
                <a:cs typeface="Arial"/>
              </a:rPr>
              <a:t>Roadmap and Next Steps</a:t>
            </a:r>
          </a:p>
        </p:txBody>
      </p:sp>
      <p:sp>
        <p:nvSpPr>
          <p:cNvPr id="2" name="">
            <a:extLst xmlns:a="http://schemas.openxmlformats.org/drawingml/2006/main">
              <a:ext uri="{FF2B5EF4-FFF2-40B4-BE49-F238E27FC236}">
                <a16:creationId xmlns:a16="http://schemas.microsoft.com/office/drawing/2014/main" id="{8D45534C-6E04-4148-9D2F-B965F72F2AC7}"/>
              </a:ext>
            </a:extLst>
          </p:cNvPr>
          <p:cNvSpPr>
            <a:spLocks xmlns:a="http://schemas.openxmlformats.org/drawingml/2006/main" noGrp="1"/>
          </p:cNvSpPr>
          <p:nvPr/>
        </p:nvSpPr>
        <p:spPr>
          <a:xfrm xmlns:a="http://schemas.openxmlformats.org/drawingml/2006/main">
            <a:off x="1116330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B6C5D8"/>
                </a:solidFill>
                <a:latin typeface="Arial"/>
                <a:ea typeface="Arial"/>
                <a:cs typeface="Arial"/>
              </a:defRPr>
            </a:defPPr>
          </a:lstStyle>
          <a:p xmlns:a="http://schemas.openxmlformats.org/drawingml/2006/main">
            <a:pPr algn="r">
              <a:defRPr sz="1425" b="0">
                <a:solidFill>
                  <a:srgbClr val="B6C5D8"/>
                </a:solidFill>
                <a:latin typeface="Arial"/>
                <a:ea typeface="Arial"/>
                <a:cs typeface="Arial"/>
              </a:defRPr>
            </a:pPr>
            <a:r>
              <a:rPr sz="1425" b="0">
                <a:solidFill>
                  <a:srgbClr val="B6C5D8"/>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BDC78FB0-2244-4053-B276-6D916A16630C}"/>
              </a:ext>
            </a:extLst>
          </p:cNvPr>
          <p:cNvSpPr>
            <a:spLocks xmlns:a="http://schemas.openxmlformats.org/drawingml/2006/main" noGrp="1"/>
          </p:cNvSpPr>
          <p:nvPr/>
        </p:nvSpPr>
        <p:spPr>
          <a:xfrm xmlns:a="http://schemas.openxmlformats.org/drawingml/2006/main">
            <a:off x="609600" y="1524000"/>
            <a:ext cx="723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B69AFF"/>
                </a:solidFill>
                <a:latin typeface="Arial"/>
                <a:ea typeface="Arial"/>
                <a:cs typeface="Arial"/>
              </a:defRPr>
            </a:defPPr>
          </a:lstStyle>
          <a:p xmlns:a="http://schemas.openxmlformats.org/drawingml/2006/main">
            <a:pPr algn="l">
              <a:defRPr sz="3225" b="1">
                <a:solidFill>
                  <a:srgbClr val="B69AFF"/>
                </a:solidFill>
                <a:latin typeface="Arial"/>
                <a:ea typeface="Arial"/>
                <a:cs typeface="Arial"/>
              </a:defRPr>
            </a:pPr>
            <a:r>
              <a:rPr sz="3225" b="1">
                <a:solidFill>
                  <a:srgbClr val="B69AFF"/>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B7A9357F-C03F-4B7A-998C-003934319C5B}"/>
              </a:ext>
            </a:extLst>
          </p:cNvPr>
          <p:cNvSpPr>
            <a:spLocks xmlns:a="http://schemas.openxmlformats.org/drawingml/2006/main" noGrp="1"/>
          </p:cNvSpPr>
          <p:nvPr/>
        </p:nvSpPr>
        <p:spPr>
          <a:xfrm xmlns:a="http://schemas.openxmlformats.org/drawingml/2006/main">
            <a:off x="1619250" y="1543050"/>
            <a:ext cx="9963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3F6FA"/>
                </a:solidFill>
                <a:latin typeface="Arial"/>
                <a:ea typeface="Arial"/>
                <a:cs typeface="Arial"/>
              </a:defRPr>
            </a:defPPr>
          </a:lstStyle>
          <a:p xmlns:a="http://schemas.openxmlformats.org/drawingml/2006/main">
            <a:pPr algn="l">
              <a:defRPr sz="2325" b="1">
                <a:solidFill>
                  <a:srgbClr val="F3F6FA"/>
                </a:solidFill>
                <a:latin typeface="Arial"/>
                <a:ea typeface="Arial"/>
                <a:cs typeface="Arial"/>
              </a:defRPr>
            </a:pPr>
            <a:r>
              <a:rPr sz="2325" b="1">
                <a:solidFill>
                  <a:srgbClr val="F3F6FA"/>
                </a:solidFill>
                <a:latin typeface="Arial"/>
                <a:ea typeface="Arial"/>
                <a:cs typeface="Arial"/>
              </a:rPr>
              <a:t>Regression and independent labels</a:t>
            </a:r>
          </a:p>
        </p:txBody>
      </p:sp>
      <p:sp>
        <p:nvSpPr>
          <p:cNvPr id="5" name="">
            <a:extLst xmlns:a="http://schemas.openxmlformats.org/drawingml/2006/main">
              <a:ext uri="{FF2B5EF4-FFF2-40B4-BE49-F238E27FC236}">
                <a16:creationId xmlns:a16="http://schemas.microsoft.com/office/drawing/2014/main" id="{C1BB758D-7BE3-46F1-AD70-E0030E9552EE}"/>
              </a:ext>
            </a:extLst>
          </p:cNvPr>
          <p:cNvSpPr>
            <a:spLocks xmlns:a="http://schemas.openxmlformats.org/drawingml/2006/main" noGrp="1"/>
          </p:cNvSpPr>
          <p:nvPr/>
        </p:nvSpPr>
        <p:spPr>
          <a:xfrm xmlns:a="http://schemas.openxmlformats.org/drawingml/2006/main">
            <a:off x="1619250" y="2009775"/>
            <a:ext cx="9963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6C5D8"/>
                </a:solidFill>
                <a:latin typeface="Arial"/>
                <a:ea typeface="Arial"/>
                <a:cs typeface="Arial"/>
              </a:defRPr>
            </a:defPPr>
          </a:lstStyle>
          <a:p xmlns:a="http://schemas.openxmlformats.org/drawingml/2006/main">
            <a:pPr algn="l">
              <a:defRPr sz="1875" b="0">
                <a:solidFill>
                  <a:srgbClr val="B6C5D8"/>
                </a:solidFill>
                <a:latin typeface="Arial"/>
                <a:ea typeface="Arial"/>
                <a:cs typeface="Arial"/>
              </a:defRPr>
            </a:pPr>
            <a:r>
              <a:rPr sz="1875" b="0">
                <a:solidFill>
                  <a:srgbClr val="B6C5D8"/>
                </a:solidFill>
                <a:latin typeface="Arial"/>
                <a:ea typeface="Arial"/>
                <a:cs typeface="Arial"/>
              </a:rPr>
              <a:t>Investigate the kit-sequence failure and label intended strikes.</a:t>
            </a:r>
          </a:p>
        </p:txBody>
      </p:sp>
      <p:sp>
        <p:nvSpPr>
          <p:cNvPr id="6" name="">
            <a:extLst xmlns:a="http://schemas.openxmlformats.org/drawingml/2006/main">
              <a:ext uri="{FF2B5EF4-FFF2-40B4-BE49-F238E27FC236}">
                <a16:creationId xmlns:a16="http://schemas.microsoft.com/office/drawing/2014/main" id="{C53DBEBE-80A7-4618-9284-4BAE8A5A9262}"/>
              </a:ext>
            </a:extLst>
          </p:cNvPr>
          <p:cNvSpPr>
            <a:spLocks xmlns:a="http://schemas.openxmlformats.org/drawingml/2006/main" noGrp="1"/>
          </p:cNvSpPr>
          <p:nvPr/>
        </p:nvSpPr>
        <p:spPr>
          <a:xfrm xmlns:a="http://schemas.openxmlformats.org/drawingml/2006/main">
            <a:off x="609600" y="2647950"/>
            <a:ext cx="723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B69AFF"/>
                </a:solidFill>
                <a:latin typeface="Arial"/>
                <a:ea typeface="Arial"/>
                <a:cs typeface="Arial"/>
              </a:defRPr>
            </a:defPPr>
          </a:lstStyle>
          <a:p xmlns:a="http://schemas.openxmlformats.org/drawingml/2006/main">
            <a:pPr algn="l">
              <a:defRPr sz="3225" b="1">
                <a:solidFill>
                  <a:srgbClr val="B69AFF"/>
                </a:solidFill>
                <a:latin typeface="Arial"/>
                <a:ea typeface="Arial"/>
                <a:cs typeface="Arial"/>
              </a:defRPr>
            </a:pPr>
            <a:r>
              <a:rPr sz="3225" b="1">
                <a:solidFill>
                  <a:srgbClr val="B69AF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930A15C1-2A94-49F5-BF94-FF4D5CFDB9EB}"/>
              </a:ext>
            </a:extLst>
          </p:cNvPr>
          <p:cNvSpPr>
            <a:spLocks xmlns:a="http://schemas.openxmlformats.org/drawingml/2006/main" noGrp="1"/>
          </p:cNvSpPr>
          <p:nvPr/>
        </p:nvSpPr>
        <p:spPr>
          <a:xfrm xmlns:a="http://schemas.openxmlformats.org/drawingml/2006/main">
            <a:off x="1619250" y="2667000"/>
            <a:ext cx="9963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3F6FA"/>
                </a:solidFill>
                <a:latin typeface="Arial"/>
                <a:ea typeface="Arial"/>
                <a:cs typeface="Arial"/>
              </a:defRPr>
            </a:defPPr>
          </a:lstStyle>
          <a:p xmlns:a="http://schemas.openxmlformats.org/drawingml/2006/main">
            <a:pPr algn="l">
              <a:defRPr sz="2325" b="1">
                <a:solidFill>
                  <a:srgbClr val="F3F6FA"/>
                </a:solidFill>
                <a:latin typeface="Arial"/>
                <a:ea typeface="Arial"/>
                <a:cs typeface="Arial"/>
              </a:defRPr>
            </a:pPr>
            <a:r>
              <a:rPr sz="2325" b="1">
                <a:solidFill>
                  <a:srgbClr val="F3F6FA"/>
                </a:solidFill>
                <a:latin typeface="Arial"/>
                <a:ea typeface="Arial"/>
                <a:cs typeface="Arial"/>
              </a:rPr>
              <a:t>Tracking and strike validation</a:t>
            </a:r>
          </a:p>
        </p:txBody>
      </p:sp>
      <p:sp>
        <p:nvSpPr>
          <p:cNvPr id="8" name="">
            <a:extLst xmlns:a="http://schemas.openxmlformats.org/drawingml/2006/main">
              <a:ext uri="{FF2B5EF4-FFF2-40B4-BE49-F238E27FC236}">
                <a16:creationId xmlns:a16="http://schemas.microsoft.com/office/drawing/2014/main" id="{3E6FF666-DE85-4926-848A-DE4FFAC608C1}"/>
              </a:ext>
            </a:extLst>
          </p:cNvPr>
          <p:cNvSpPr>
            <a:spLocks xmlns:a="http://schemas.openxmlformats.org/drawingml/2006/main" noGrp="1"/>
          </p:cNvSpPr>
          <p:nvPr/>
        </p:nvSpPr>
        <p:spPr>
          <a:xfrm xmlns:a="http://schemas.openxmlformats.org/drawingml/2006/main">
            <a:off x="1619250" y="3133725"/>
            <a:ext cx="9963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6C5D8"/>
                </a:solidFill>
                <a:latin typeface="Arial"/>
                <a:ea typeface="Arial"/>
                <a:cs typeface="Arial"/>
              </a:defRPr>
            </a:defPPr>
          </a:lstStyle>
          <a:p xmlns:a="http://schemas.openxmlformats.org/drawingml/2006/main">
            <a:pPr algn="l">
              <a:defRPr sz="1875" b="0">
                <a:solidFill>
                  <a:srgbClr val="B6C5D8"/>
                </a:solidFill>
                <a:latin typeface="Arial"/>
                <a:ea typeface="Arial"/>
                <a:cs typeface="Arial"/>
              </a:defRPr>
            </a:pPr>
            <a:r>
              <a:rPr sz="1875" b="0">
                <a:solidFill>
                  <a:srgbClr val="B6C5D8"/>
                </a:solidFill>
                <a:latin typeface="Arial"/>
                <a:ea typeface="Arial"/>
                <a:cs typeface="Arial"/>
              </a:rPr>
              <a:t>Test held-out lighting, crossings, rolls and wrong-zone events.</a:t>
            </a:r>
          </a:p>
        </p:txBody>
      </p:sp>
      <p:sp>
        <p:nvSpPr>
          <p:cNvPr id="9" name="">
            <a:extLst xmlns:a="http://schemas.openxmlformats.org/drawingml/2006/main">
              <a:ext uri="{FF2B5EF4-FFF2-40B4-BE49-F238E27FC236}">
                <a16:creationId xmlns:a16="http://schemas.microsoft.com/office/drawing/2014/main" id="{3001EA16-A34B-4CCF-92F1-444C86A6BAD2}"/>
              </a:ext>
            </a:extLst>
          </p:cNvPr>
          <p:cNvSpPr>
            <a:spLocks xmlns:a="http://schemas.openxmlformats.org/drawingml/2006/main" noGrp="1"/>
          </p:cNvSpPr>
          <p:nvPr/>
        </p:nvSpPr>
        <p:spPr>
          <a:xfrm xmlns:a="http://schemas.openxmlformats.org/drawingml/2006/main">
            <a:off x="609600" y="3771900"/>
            <a:ext cx="723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B69AFF"/>
                </a:solidFill>
                <a:latin typeface="Arial"/>
                <a:ea typeface="Arial"/>
                <a:cs typeface="Arial"/>
              </a:defRPr>
            </a:defPPr>
          </a:lstStyle>
          <a:p xmlns:a="http://schemas.openxmlformats.org/drawingml/2006/main">
            <a:pPr algn="l">
              <a:defRPr sz="3225" b="1">
                <a:solidFill>
                  <a:srgbClr val="B69AFF"/>
                </a:solidFill>
                <a:latin typeface="Arial"/>
                <a:ea typeface="Arial"/>
                <a:cs typeface="Arial"/>
              </a:defRPr>
            </a:pPr>
            <a:r>
              <a:rPr sz="3225" b="1">
                <a:solidFill>
                  <a:srgbClr val="B69AFF"/>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DDBF1954-6544-4202-AE01-E0231DCC897B}"/>
              </a:ext>
            </a:extLst>
          </p:cNvPr>
          <p:cNvSpPr>
            <a:spLocks xmlns:a="http://schemas.openxmlformats.org/drawingml/2006/main" noGrp="1"/>
          </p:cNvSpPr>
          <p:nvPr/>
        </p:nvSpPr>
        <p:spPr>
          <a:xfrm xmlns:a="http://schemas.openxmlformats.org/drawingml/2006/main">
            <a:off x="1619250" y="3790950"/>
            <a:ext cx="9963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3F6FA"/>
                </a:solidFill>
                <a:latin typeface="Arial"/>
                <a:ea typeface="Arial"/>
                <a:cs typeface="Arial"/>
              </a:defRPr>
            </a:defPPr>
          </a:lstStyle>
          <a:p xmlns:a="http://schemas.openxmlformats.org/drawingml/2006/main">
            <a:pPr algn="l">
              <a:defRPr sz="2325" b="1">
                <a:solidFill>
                  <a:srgbClr val="F3F6FA"/>
                </a:solidFill>
                <a:latin typeface="Arial"/>
                <a:ea typeface="Arial"/>
                <a:cs typeface="Arial"/>
              </a:defRPr>
            </a:pPr>
            <a:r>
              <a:rPr sz="2325" b="1">
                <a:solidFill>
                  <a:srgbClr val="F3F6FA"/>
                </a:solidFill>
                <a:latin typeface="Arial"/>
                <a:ea typeface="Arial"/>
                <a:cs typeface="Arial"/>
              </a:rPr>
              <a:t>Calibration and physical timing</a:t>
            </a:r>
          </a:p>
        </p:txBody>
      </p:sp>
      <p:sp>
        <p:nvSpPr>
          <p:cNvPr id="11" name="">
            <a:extLst xmlns:a="http://schemas.openxmlformats.org/drawingml/2006/main">
              <a:ext uri="{FF2B5EF4-FFF2-40B4-BE49-F238E27FC236}">
                <a16:creationId xmlns:a16="http://schemas.microsoft.com/office/drawing/2014/main" id="{DDA3BBBA-11E2-44F1-88D4-1B38085152C7}"/>
              </a:ext>
            </a:extLst>
          </p:cNvPr>
          <p:cNvSpPr>
            <a:spLocks xmlns:a="http://schemas.openxmlformats.org/drawingml/2006/main" noGrp="1"/>
          </p:cNvSpPr>
          <p:nvPr/>
        </p:nvSpPr>
        <p:spPr>
          <a:xfrm xmlns:a="http://schemas.openxmlformats.org/drawingml/2006/main">
            <a:off x="1619250" y="4257675"/>
            <a:ext cx="9963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6C5D8"/>
                </a:solidFill>
                <a:latin typeface="Arial"/>
                <a:ea typeface="Arial"/>
                <a:cs typeface="Arial"/>
              </a:defRPr>
            </a:defPPr>
          </a:lstStyle>
          <a:p xmlns:a="http://schemas.openxmlformats.org/drawingml/2006/main">
            <a:pPr algn="l">
              <a:defRPr sz="1875" b="0">
                <a:solidFill>
                  <a:srgbClr val="B6C5D8"/>
                </a:solidFill>
                <a:latin typeface="Arial"/>
                <a:ea typeface="Arial"/>
                <a:cs typeface="Arial"/>
              </a:defRPr>
            </a:pPr>
            <a:r>
              <a:rPr sz="1875" b="0">
                <a:solidFill>
                  <a:srgbClr val="B6C5D8"/>
                </a:solidFill>
                <a:latin typeface="Arial"/>
                <a:ea typeface="Arial"/>
                <a:cs typeface="Arial"/>
              </a:rPr>
              <a:t>Verify fitted reach and measure sound with an external reference.</a:t>
            </a:r>
          </a:p>
        </p:txBody>
      </p:sp>
      <p:sp>
        <p:nvSpPr>
          <p:cNvPr id="12" name="">
            <a:extLst xmlns:a="http://schemas.openxmlformats.org/drawingml/2006/main">
              <a:ext uri="{FF2B5EF4-FFF2-40B4-BE49-F238E27FC236}">
                <a16:creationId xmlns:a16="http://schemas.microsoft.com/office/drawing/2014/main" id="{B87B44D2-17E4-4364-97D0-3D7BECE9B23A}"/>
              </a:ext>
            </a:extLst>
          </p:cNvPr>
          <p:cNvSpPr>
            <a:spLocks xmlns:a="http://schemas.openxmlformats.org/drawingml/2006/main" noGrp="1"/>
          </p:cNvSpPr>
          <p:nvPr/>
        </p:nvSpPr>
        <p:spPr>
          <a:xfrm xmlns:a="http://schemas.openxmlformats.org/drawingml/2006/main">
            <a:off x="609600" y="4895850"/>
            <a:ext cx="723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B69AFF"/>
                </a:solidFill>
                <a:latin typeface="Arial"/>
                <a:ea typeface="Arial"/>
                <a:cs typeface="Arial"/>
              </a:defRPr>
            </a:defPPr>
          </a:lstStyle>
          <a:p xmlns:a="http://schemas.openxmlformats.org/drawingml/2006/main">
            <a:pPr algn="l">
              <a:defRPr sz="3225" b="1">
                <a:solidFill>
                  <a:srgbClr val="B69AFF"/>
                </a:solidFill>
                <a:latin typeface="Arial"/>
                <a:ea typeface="Arial"/>
                <a:cs typeface="Arial"/>
              </a:defRPr>
            </a:pPr>
            <a:r>
              <a:rPr sz="3225" b="1">
                <a:solidFill>
                  <a:srgbClr val="B69AFF"/>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C786B400-FE62-4BA6-BF80-0833BE0AD810}"/>
              </a:ext>
            </a:extLst>
          </p:cNvPr>
          <p:cNvSpPr>
            <a:spLocks xmlns:a="http://schemas.openxmlformats.org/drawingml/2006/main" noGrp="1"/>
          </p:cNvSpPr>
          <p:nvPr/>
        </p:nvSpPr>
        <p:spPr>
          <a:xfrm xmlns:a="http://schemas.openxmlformats.org/drawingml/2006/main">
            <a:off x="1619250" y="4914900"/>
            <a:ext cx="9963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3F6FA"/>
                </a:solidFill>
                <a:latin typeface="Arial"/>
                <a:ea typeface="Arial"/>
                <a:cs typeface="Arial"/>
              </a:defRPr>
            </a:defPPr>
          </a:lstStyle>
          <a:p xmlns:a="http://schemas.openxmlformats.org/drawingml/2006/main">
            <a:pPr algn="l">
              <a:defRPr sz="2325" b="1">
                <a:solidFill>
                  <a:srgbClr val="F3F6FA"/>
                </a:solidFill>
                <a:latin typeface="Arial"/>
                <a:ea typeface="Arial"/>
                <a:cs typeface="Arial"/>
              </a:defRPr>
            </a:pPr>
            <a:r>
              <a:rPr sz="2325" b="1">
                <a:solidFill>
                  <a:srgbClr val="F3F6FA"/>
                </a:solidFill>
                <a:latin typeface="Arial"/>
                <a:ea typeface="Arial"/>
                <a:cs typeface="Arial"/>
              </a:rPr>
              <a:t>Integration and scope decisions</a:t>
            </a:r>
          </a:p>
        </p:txBody>
      </p:sp>
      <p:sp>
        <p:nvSpPr>
          <p:cNvPr id="14" name="">
            <a:extLst xmlns:a="http://schemas.openxmlformats.org/drawingml/2006/main">
              <a:ext uri="{FF2B5EF4-FFF2-40B4-BE49-F238E27FC236}">
                <a16:creationId xmlns:a16="http://schemas.microsoft.com/office/drawing/2014/main" id="{BE1EBD90-7432-4F5E-A094-6CDE72D6FEEC}"/>
              </a:ext>
            </a:extLst>
          </p:cNvPr>
          <p:cNvSpPr>
            <a:spLocks xmlns:a="http://schemas.openxmlformats.org/drawingml/2006/main" noGrp="1"/>
          </p:cNvSpPr>
          <p:nvPr/>
        </p:nvSpPr>
        <p:spPr>
          <a:xfrm xmlns:a="http://schemas.openxmlformats.org/drawingml/2006/main">
            <a:off x="1619250" y="5381625"/>
            <a:ext cx="9963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6C5D8"/>
                </a:solidFill>
                <a:latin typeface="Arial"/>
                <a:ea typeface="Arial"/>
                <a:cs typeface="Arial"/>
              </a:defRPr>
            </a:defPPr>
          </a:lstStyle>
          <a:p xmlns:a="http://schemas.openxmlformats.org/drawingml/2006/main">
            <a:pPr algn="l">
              <a:defRPr sz="1875" b="0">
                <a:solidFill>
                  <a:srgbClr val="B6C5D8"/>
                </a:solidFill>
                <a:latin typeface="Arial"/>
                <a:ea typeface="Arial"/>
                <a:cs typeface="Arial"/>
              </a:defRPr>
            </a:pPr>
            <a:r>
              <a:rPr sz="1875" b="0">
                <a:solidFill>
                  <a:srgbClr val="B6C5D8"/>
                </a:solidFill>
                <a:latin typeface="Arial"/>
                <a:ea typeface="Arial"/>
                <a:cs typeface="Arial"/>
              </a:rPr>
              <a:t>Run regressions, reconcile docs and decide mobile scope.</a:t>
            </a:r>
          </a:p>
        </p:txBody>
      </p:sp>
    </p:spTree>
    <p:extLst>
      <p:ext uri="{BB962C8B-B14F-4D97-AF65-F5344CB8AC3E}">
        <p14:creationId xmlns:p14="http://schemas.microsoft.com/office/powerpoint/2010/main" val="1080176787"/>
      </p:ext>
    </p:extLst>
  </p:cSld>
</p:sld>
</file>

<file path=ppt/slides/slide1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3C6CE6-51C0-434A-899D-A81D6D7BE043}"/>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6FA"/>
                </a:solidFill>
                <a:latin typeface="Arial"/>
                <a:ea typeface="Arial"/>
                <a:cs typeface="Arial"/>
              </a:defRPr>
            </a:defPPr>
          </a:lstStyle>
          <a:p xmlns:a="http://schemas.openxmlformats.org/drawingml/2006/main">
            <a:pPr algn="l">
              <a:defRPr sz="3450" b="1">
                <a:solidFill>
                  <a:srgbClr val="F3F6FA"/>
                </a:solidFill>
                <a:latin typeface="Arial"/>
                <a:ea typeface="Arial"/>
                <a:cs typeface="Arial"/>
              </a:defRPr>
            </a:pPr>
            <a:r>
              <a:rPr sz="3450" b="1">
                <a:solidFill>
                  <a:srgbClr val="F3F6FA"/>
                </a:solidFill>
                <a:latin typeface="Arial"/>
                <a:ea typeface="Arial"/>
                <a:cs typeface="Arial"/>
              </a:rPr>
              <a:t>Conclusion and Q&amp;A</a:t>
            </a:r>
          </a:p>
        </p:txBody>
      </p:sp>
      <p:sp>
        <p:nvSpPr>
          <p:cNvPr id="2" name="">
            <a:extLst xmlns:a="http://schemas.openxmlformats.org/drawingml/2006/main">
              <a:ext uri="{FF2B5EF4-FFF2-40B4-BE49-F238E27FC236}">
                <a16:creationId xmlns:a16="http://schemas.microsoft.com/office/drawing/2014/main" id="{4BF82DDC-2F5A-4010-A175-396715D60F15}"/>
              </a:ext>
            </a:extLst>
          </p:cNvPr>
          <p:cNvSpPr>
            <a:spLocks xmlns:a="http://schemas.openxmlformats.org/drawingml/2006/main" noGrp="1"/>
          </p:cNvSpPr>
          <p:nvPr/>
        </p:nvSpPr>
        <p:spPr>
          <a:xfrm xmlns:a="http://schemas.openxmlformats.org/drawingml/2006/main">
            <a:off x="1116330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B6C5D8"/>
                </a:solidFill>
                <a:latin typeface="Arial"/>
                <a:ea typeface="Arial"/>
                <a:cs typeface="Arial"/>
              </a:defRPr>
            </a:defPPr>
          </a:lstStyle>
          <a:p xmlns:a="http://schemas.openxmlformats.org/drawingml/2006/main">
            <a:pPr algn="r">
              <a:defRPr sz="1425" b="0">
                <a:solidFill>
                  <a:srgbClr val="B6C5D8"/>
                </a:solidFill>
                <a:latin typeface="Arial"/>
                <a:ea typeface="Arial"/>
                <a:cs typeface="Arial"/>
              </a:defRPr>
            </a:pPr>
            <a:r>
              <a:rPr sz="1425" b="0">
                <a:solidFill>
                  <a:srgbClr val="B6C5D8"/>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63402EFE-12D1-4D80-9A47-ECA656383F9E}"/>
              </a:ext>
            </a:extLst>
          </p:cNvPr>
          <p:cNvSpPr>
            <a:spLocks xmlns:a="http://schemas.openxmlformats.org/drawingml/2006/main" noGrp="1"/>
          </p:cNvSpPr>
          <p:nvPr/>
        </p:nvSpPr>
        <p:spPr>
          <a:xfrm xmlns:a="http://schemas.openxmlformats.org/drawingml/2006/main">
            <a:off x="609600" y="172402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F3F6FA"/>
                </a:solidFill>
                <a:latin typeface="Arial"/>
                <a:ea typeface="Arial"/>
                <a:cs typeface="Arial"/>
              </a:defRPr>
            </a:defPPr>
          </a:lstStyle>
          <a:p xmlns:a="http://schemas.openxmlformats.org/drawingml/2006/main">
            <a:pPr algn="l">
              <a:defRPr sz="3675" b="1">
                <a:solidFill>
                  <a:srgbClr val="F3F6FA"/>
                </a:solidFill>
                <a:latin typeface="Arial"/>
                <a:ea typeface="Arial"/>
                <a:cs typeface="Arial"/>
              </a:defRPr>
            </a:pPr>
            <a:r>
              <a:rPr sz="3675" b="1">
                <a:solidFill>
                  <a:srgbClr val="F3F6FA"/>
                </a:solidFill>
                <a:latin typeface="Arial"/>
                <a:ea typeface="Arial"/>
                <a:cs typeface="Arial"/>
              </a:rPr>
              <a:t>A connected camera-to-sound</a:t>
            </a:r>
          </a:p>
          <a:p xmlns:a="http://schemas.openxmlformats.org/drawingml/2006/main">
            <a:pPr algn="l">
              <a:defRPr sz="3675" b="1">
                <a:solidFill>
                  <a:srgbClr val="F3F6FA"/>
                </a:solidFill>
                <a:latin typeface="Arial"/>
                <a:ea typeface="Arial"/>
                <a:cs typeface="Arial"/>
              </a:defRPr>
            </a:pPr>
            <a:r>
              <a:rPr sz="3675" b="1">
                <a:solidFill>
                  <a:srgbClr val="F3F6FA"/>
                </a:solidFill>
                <a:latin typeface="Arial"/>
                <a:ea typeface="Arial"/>
                <a:cs typeface="Arial"/>
              </a:rPr>
              <a:t>software prototype</a:t>
            </a:r>
          </a:p>
        </p:txBody>
      </p:sp>
      <p:sp>
        <p:nvSpPr>
          <p:cNvPr id="4" name="">
            <a:extLst xmlns:a="http://schemas.openxmlformats.org/drawingml/2006/main">
              <a:ext uri="{FF2B5EF4-FFF2-40B4-BE49-F238E27FC236}">
                <a16:creationId xmlns:a16="http://schemas.microsoft.com/office/drawing/2014/main" id="{E8FEF255-EEF2-4F0E-8C85-4BA5210C2ADB}"/>
              </a:ext>
            </a:extLst>
          </p:cNvPr>
          <p:cNvSpPr>
            <a:spLocks xmlns:a="http://schemas.openxmlformats.org/drawingml/2006/main" noGrp="1"/>
          </p:cNvSpPr>
          <p:nvPr/>
        </p:nvSpPr>
        <p:spPr>
          <a:xfrm xmlns:a="http://schemas.openxmlformats.org/drawingml/2006/main">
            <a:off x="609600" y="3409950"/>
            <a:ext cx="108108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49DDEB"/>
                </a:solidFill>
                <a:latin typeface="Arial"/>
                <a:ea typeface="Arial"/>
                <a:cs typeface="Arial"/>
              </a:defRPr>
            </a:defPPr>
          </a:lstStyle>
          <a:p xmlns:a="http://schemas.openxmlformats.org/drawingml/2006/main">
            <a:pPr algn="l">
              <a:defRPr sz="2250" b="0">
                <a:solidFill>
                  <a:srgbClr val="49DDEB"/>
                </a:solidFill>
                <a:latin typeface="Arial"/>
                <a:ea typeface="Arial"/>
                <a:cs typeface="Arial"/>
              </a:defRPr>
            </a:pPr>
            <a:r>
              <a:rPr sz="2250" b="0">
                <a:solidFill>
                  <a:srgbClr val="49DDEB"/>
                </a:solidFill>
                <a:latin typeface="Arial"/>
                <a:ea typeface="Arial"/>
                <a:cs typeface="Arial"/>
              </a:rPr>
              <a:t>Implemented capture, perception, drum geometry,</a:t>
            </a:r>
          </a:p>
          <a:p xmlns:a="http://schemas.openxmlformats.org/drawingml/2006/main">
            <a:pPr algn="l">
              <a:defRPr sz="2250" b="0">
                <a:solidFill>
                  <a:srgbClr val="49DDEB"/>
                </a:solidFill>
                <a:latin typeface="Arial"/>
                <a:ea typeface="Arial"/>
                <a:cs typeface="Arial"/>
              </a:defRPr>
            </a:pPr>
            <a:r>
              <a:rPr sz="2250" b="0">
                <a:solidFill>
                  <a:srgbClr val="49DDEB"/>
                </a:solidFill>
                <a:latin typeface="Arial"/>
                <a:ea typeface="Arial"/>
                <a:cs typeface="Arial"/>
              </a:rPr>
              <a:t>commit rules, playback and desktop diagnostics.</a:t>
            </a:r>
          </a:p>
        </p:txBody>
      </p:sp>
      <p:sp>
        <p:nvSpPr>
          <p:cNvPr id="5" name="">
            <a:extLst xmlns:a="http://schemas.openxmlformats.org/drawingml/2006/main">
              <a:ext uri="{FF2B5EF4-FFF2-40B4-BE49-F238E27FC236}">
                <a16:creationId xmlns:a16="http://schemas.microsoft.com/office/drawing/2014/main" id="{198028ED-315B-4776-9109-6B448B5E23A1}"/>
              </a:ext>
            </a:extLst>
          </p:cNvPr>
          <p:cNvSpPr>
            <a:spLocks xmlns:a="http://schemas.openxmlformats.org/drawingml/2006/main" noGrp="1"/>
          </p:cNvSpPr>
          <p:nvPr/>
        </p:nvSpPr>
        <p:spPr>
          <a:xfrm xmlns:a="http://schemas.openxmlformats.org/drawingml/2006/main">
            <a:off x="609600" y="4857750"/>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B69AFF"/>
                </a:solidFill>
                <a:latin typeface="Arial"/>
                <a:ea typeface="Arial"/>
                <a:cs typeface="Arial"/>
              </a:defRPr>
            </a:defPPr>
          </a:lstStyle>
          <a:p xmlns:a="http://schemas.openxmlformats.org/drawingml/2006/main">
            <a:pPr algn="l">
              <a:defRPr sz="2400" b="0">
                <a:solidFill>
                  <a:srgbClr val="B69AFF"/>
                </a:solidFill>
                <a:latin typeface="Arial"/>
                <a:ea typeface="Arial"/>
                <a:cs typeface="Arial"/>
              </a:defRPr>
            </a:pPr>
            <a:r>
              <a:rPr sz="2400" b="0">
                <a:solidFill>
                  <a:srgbClr val="B69AFF"/>
                </a:solidFill>
                <a:latin typeface="Arial"/>
                <a:ea typeface="Arial"/>
                <a:cs typeface="Arial"/>
              </a:rPr>
              <a:t>Next milestone: reliable interaction supported</a:t>
            </a:r>
          </a:p>
          <a:p xmlns:a="http://schemas.openxmlformats.org/drawingml/2006/main">
            <a:pPr algn="l">
              <a:defRPr sz="2400" b="0">
                <a:solidFill>
                  <a:srgbClr val="B69AFF"/>
                </a:solidFill>
                <a:latin typeface="Arial"/>
                <a:ea typeface="Arial"/>
                <a:cs typeface="Arial"/>
              </a:defRPr>
            </a:pPr>
            <a:r>
              <a:rPr sz="2400" b="0">
                <a:solidFill>
                  <a:srgbClr val="B69AFF"/>
                </a:solidFill>
                <a:latin typeface="Arial"/>
                <a:ea typeface="Arial"/>
                <a:cs typeface="Arial"/>
              </a:rPr>
              <a:t>by independent measurements.</a:t>
            </a:r>
          </a:p>
        </p:txBody>
      </p:sp>
    </p:spTree>
    <p:extLst>
      <p:ext uri="{BB962C8B-B14F-4D97-AF65-F5344CB8AC3E}">
        <p14:creationId xmlns:p14="http://schemas.microsoft.com/office/powerpoint/2010/main" val="8467698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2026-10-16T22:37:47.1020000Z</dcterms:created>
  <dcterms:modified xsi:type="dcterms:W3CDTF">2026-10-16T22:37:47.1020000Z</dcterms:modified>
</coreProperties>
</file>